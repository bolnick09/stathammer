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73" r:id="rId12"/>
    <p:sldId id="266" r:id="rId13"/>
    <p:sldId id="267" r:id="rId14"/>
    <p:sldId id="268" r:id="rId15"/>
    <p:sldId id="269" r:id="rId16"/>
    <p:sldId id="270" r:id="rId17"/>
    <p:sldId id="271" r:id="rId18"/>
    <p:sldId id="272" r:id="rId19"/>
  </p:sldIdLst>
  <p:sldSz cx="12192000" cy="6858000"/>
  <p:notesSz cx="6858000" cy="12192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2" roundtripDataSignature="AMtx7mharbfQEYbbpYXAVs4aKxEcWf71R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0" d="100"/>
          <a:sy n="150" d="100"/>
        </p:scale>
        <p:origin x="570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customschemas.google.com/relationships/presentationmetadata" Target="meta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" name="Google Shape;13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7" name="Google Shape;27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6" name="Google Shape;66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67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p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2" name="Google Shape;112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" name="Google Shape;113;p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0" name="Google Shape;140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1" name="Google Shape;141;p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5" name="Google Shape;175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6" name="Google Shape;176;p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1" name="Google Shape;211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2" name="Google Shape;212;p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59" name="Google Shape;259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0" name="Google Shape;260;p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9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91" name="Google Shape;291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2" name="Google Shape;292;p1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10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22" name="Google Shape;322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3" name="Google Shape;323;p1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12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55" name="Google Shape;355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6" name="Google Shape;356;p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13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84" name="Google Shape;384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5" name="Google Shape;385;p1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14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01" name="Google Shape;401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2" name="Google Shape;402;p1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15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31" name="Google Shape;431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2" name="Google Shape;432;p1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16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59" name="Google Shape;459;p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0" name="Google Shape;460;p1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17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Google Shape;490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91" name="Google Shape;491;p1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2" name="Google Shape;492;p1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18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91B1B"/>
          </a:solidFill>
          <a:ln w="12700" cap="flat" cmpd="sng">
            <a:solidFill>
              <a:srgbClr val="991B1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1"/>
          <p:cNvSpPr/>
          <p:nvPr/>
        </p:nvSpPr>
        <p:spPr>
          <a:xfrm>
            <a:off x="713232" y="1051560"/>
            <a:ext cx="676656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600"/>
              <a:buFont typeface="Calibri"/>
              <a:buNone/>
            </a:pPr>
            <a:r>
              <a:rPr lang="en-US" sz="4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StatHammer</a:t>
            </a:r>
            <a:endParaRPr sz="4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1"/>
          <p:cNvSpPr/>
          <p:nvPr/>
        </p:nvSpPr>
        <p:spPr>
          <a:xfrm>
            <a:off x="749808" y="1901952"/>
            <a:ext cx="8686800" cy="1005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2200"/>
              <a:buFont typeface="Calibri"/>
              <a:buNone/>
            </a:pPr>
            <a:r>
              <a:rPr lang="en-US" sz="2200" b="0" i="0" u="none" strike="noStrike" cap="non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Разработка программной системы для статистического моделирования боевых сценариев настольной игры «Warhammer 40000» 10 </a:t>
            </a:r>
            <a:r>
              <a:rPr lang="en-US" sz="2200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редакции</a:t>
            </a: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1"/>
          <p:cNvSpPr/>
          <p:nvPr/>
        </p:nvSpPr>
        <p:spPr>
          <a:xfrm>
            <a:off x="768096" y="4709160"/>
            <a:ext cx="56692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600"/>
              <a:buFont typeface="Calibri"/>
              <a:buNone/>
            </a:pPr>
            <a:r>
              <a:rPr lang="en-US" sz="1600" b="0" i="0" u="none" strike="noStrike" cap="none">
                <a:solidFill>
                  <a:srgbClr val="D1D5DB"/>
                </a:solidFill>
                <a:latin typeface="Calibri"/>
                <a:ea typeface="Calibri"/>
                <a:cs typeface="Calibri"/>
                <a:sym typeface="Calibri"/>
              </a:rPr>
              <a:t>Дипломный проект по направлению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600"/>
              <a:buFont typeface="Calibri"/>
              <a:buNone/>
            </a:pPr>
            <a:r>
              <a:rPr lang="en-US" sz="1600" b="0" i="0" u="none" strike="noStrike" cap="none">
                <a:solidFill>
                  <a:srgbClr val="D1D5DB"/>
                </a:solidFill>
                <a:latin typeface="Calibri"/>
                <a:ea typeface="Calibri"/>
                <a:cs typeface="Calibri"/>
                <a:sym typeface="Calibri"/>
              </a:rPr>
              <a:t>«Разработка программного обеспечения»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1"/>
          <p:cNvSpPr/>
          <p:nvPr/>
        </p:nvSpPr>
        <p:spPr>
          <a:xfrm>
            <a:off x="7498080" y="4709160"/>
            <a:ext cx="347472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600"/>
              <a:buFont typeface="Calibri"/>
              <a:buNone/>
            </a:pPr>
            <a:r>
              <a:rPr lang="en-US" sz="1600" b="0" i="0" u="none" strike="noStrike" cap="none">
                <a:solidFill>
                  <a:srgbClr val="D1D5DB"/>
                </a:solidFill>
                <a:latin typeface="Calibri"/>
                <a:ea typeface="Calibri"/>
                <a:cs typeface="Calibri"/>
                <a:sym typeface="Calibri"/>
              </a:rPr>
              <a:t>Студент: Большаков Никита Андрееви</a:t>
            </a:r>
            <a:r>
              <a:rPr lang="en-US" sz="1600">
                <a:solidFill>
                  <a:srgbClr val="D1D5DB"/>
                </a:solidFill>
                <a:latin typeface="Calibri"/>
                <a:ea typeface="Calibri"/>
                <a:cs typeface="Calibri"/>
                <a:sym typeface="Calibri"/>
              </a:rPr>
              <a:t>ч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600"/>
              <a:buFont typeface="Calibri"/>
              <a:buNone/>
            </a:pPr>
            <a:r>
              <a:rPr lang="en-US" sz="1600">
                <a:solidFill>
                  <a:srgbClr val="D1D5DB"/>
                </a:solidFill>
                <a:latin typeface="Calibri"/>
                <a:ea typeface="Calibri"/>
                <a:cs typeface="Calibri"/>
                <a:sym typeface="Calibri"/>
              </a:rPr>
              <a:t>Группа</a:t>
            </a:r>
            <a:r>
              <a:rPr lang="en-US" sz="1600" b="0" i="0" u="none" strike="noStrike" cap="none">
                <a:solidFill>
                  <a:srgbClr val="D1D5DB"/>
                </a:solidFill>
                <a:latin typeface="Calibri"/>
                <a:ea typeface="Calibri"/>
                <a:cs typeface="Calibri"/>
                <a:sym typeface="Calibri"/>
              </a:rPr>
              <a:t>: </a:t>
            </a:r>
            <a:r>
              <a:rPr lang="en-US" sz="1600">
                <a:solidFill>
                  <a:srgbClr val="D1D5DB"/>
                </a:solidFill>
                <a:latin typeface="Calibri"/>
                <a:ea typeface="Calibri"/>
                <a:cs typeface="Calibri"/>
                <a:sym typeface="Calibri"/>
              </a:rPr>
              <a:t>ПВ311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1"/>
          <p:cNvSpPr/>
          <p:nvPr/>
        </p:nvSpPr>
        <p:spPr>
          <a:xfrm>
            <a:off x="768096" y="5897880"/>
            <a:ext cx="82296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C# • ASP.NET Core • EF Core • Razor Pages • WPF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1"/>
          <p:cNvSpPr/>
          <p:nvPr/>
        </p:nvSpPr>
        <p:spPr>
          <a:xfrm>
            <a:off x="11292840" y="6446520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32" tIns="0" rIns="27432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sz="900" b="0">
                <a:solidFill>
                  <a:srgbClr val="475569"/>
                </a:solidFill>
                <a:latin typeface="Calibri"/>
              </a:rPr>
              <a:t>1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AFB"/>
        </a:solidFill>
        <a:effectLst/>
      </p:bgPr>
    </p:bg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AFB"/>
          </a:solidFill>
          <a:ln w="12700" cap="flat" cmpd="sng">
            <a:solidFill>
              <a:srgbClr val="F9FAF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31;p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991B1B"/>
          </a:solidFill>
          <a:ln w="12700" cap="flat" cmpd="sng">
            <a:solidFill>
              <a:srgbClr val="991B1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2;p2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111827"/>
          </a:solidFill>
          <a:ln w="12700" cap="flat" cmpd="sng">
            <a:solidFill>
              <a:srgbClr val="1118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2"/>
          <p:cNvSpPr/>
          <p:nvPr/>
        </p:nvSpPr>
        <p:spPr>
          <a:xfrm>
            <a:off x="502920" y="320040"/>
            <a:ext cx="996696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2700"/>
              <a:buFont typeface="Calibri"/>
              <a:buNone/>
            </a:pPr>
            <a:r>
              <a:rPr lang="en-US" sz="2700" b="1" i="0" u="none" strike="noStrike" cap="non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Оглавление</a:t>
            </a:r>
            <a:endParaRPr sz="2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2"/>
          <p:cNvSpPr/>
          <p:nvPr/>
        </p:nvSpPr>
        <p:spPr>
          <a:xfrm>
            <a:off x="530352" y="841248"/>
            <a:ext cx="1069848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50"/>
              <a:buFont typeface="Calibri"/>
              <a:buNone/>
            </a:pPr>
            <a:r>
              <a:rPr lang="en-US" sz="1350" b="0" i="0" u="none" strike="noStrike" cap="none">
                <a:solidFill>
                  <a:srgbClr val="4B5563"/>
                </a:solidFill>
                <a:latin typeface="Calibri"/>
                <a:ea typeface="Calibri"/>
                <a:cs typeface="Calibri"/>
                <a:sym typeface="Calibri"/>
              </a:rPr>
              <a:t>Структура защиты проекта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" name="Google Shape;35;p2"/>
          <p:cNvSpPr/>
          <p:nvPr/>
        </p:nvSpPr>
        <p:spPr>
          <a:xfrm>
            <a:off x="685800" y="1417320"/>
            <a:ext cx="438912" cy="438912"/>
          </a:xfrm>
          <a:prstGeom prst="ellipse">
            <a:avLst/>
          </a:prstGeom>
          <a:solidFill>
            <a:srgbClr val="991B1B"/>
          </a:solidFill>
          <a:ln w="12700" cap="flat" cmpd="sng">
            <a:solidFill>
              <a:srgbClr val="991B1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" name="Google Shape;36;p2"/>
          <p:cNvSpPr/>
          <p:nvPr/>
        </p:nvSpPr>
        <p:spPr>
          <a:xfrm>
            <a:off x="685800" y="1527048"/>
            <a:ext cx="438912" cy="1645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lang="en-US" sz="9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01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2"/>
          <p:cNvSpPr/>
          <p:nvPr/>
        </p:nvSpPr>
        <p:spPr>
          <a:xfrm>
            <a:off x="1325880" y="1389888"/>
            <a:ext cx="384048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800"/>
              <a:buFont typeface="Calibri"/>
              <a:buNone/>
            </a:pPr>
            <a:r>
              <a:rPr lang="en-US" sz="1800" b="1" i="0" u="none" strike="noStrike" cap="non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Тема и обоснование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38;p2"/>
          <p:cNvSpPr/>
          <p:nvPr/>
        </p:nvSpPr>
        <p:spPr>
          <a:xfrm>
            <a:off x="1325880" y="1709928"/>
            <a:ext cx="5303520" cy="2103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250"/>
              <a:buFont typeface="Calibri"/>
              <a:buNone/>
            </a:pPr>
            <a:r>
              <a:rPr lang="en-US" sz="1250" b="0" i="0" u="none" strike="noStrike" cap="none">
                <a:solidFill>
                  <a:srgbClr val="4B5563"/>
                </a:solidFill>
                <a:latin typeface="Calibri"/>
                <a:ea typeface="Calibri"/>
                <a:cs typeface="Calibri"/>
                <a:sym typeface="Calibri"/>
              </a:rPr>
              <a:t>задача, актуальность, ценность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39;p2"/>
          <p:cNvSpPr/>
          <p:nvPr/>
        </p:nvSpPr>
        <p:spPr>
          <a:xfrm>
            <a:off x="685800" y="2167128"/>
            <a:ext cx="438912" cy="438912"/>
          </a:xfrm>
          <a:prstGeom prst="ellipse">
            <a:avLst/>
          </a:prstGeom>
          <a:solidFill>
            <a:srgbClr val="991B1B"/>
          </a:solidFill>
          <a:ln w="12700" cap="flat" cmpd="sng">
            <a:solidFill>
              <a:srgbClr val="991B1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2"/>
          <p:cNvSpPr/>
          <p:nvPr/>
        </p:nvSpPr>
        <p:spPr>
          <a:xfrm>
            <a:off x="685800" y="2276856"/>
            <a:ext cx="438912" cy="1645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lang="en-US" sz="9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41;p2"/>
          <p:cNvSpPr/>
          <p:nvPr/>
        </p:nvSpPr>
        <p:spPr>
          <a:xfrm>
            <a:off x="1325880" y="2139696"/>
            <a:ext cx="384048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800"/>
              <a:buFont typeface="Calibri"/>
              <a:buNone/>
            </a:pPr>
            <a:r>
              <a:rPr lang="en-US" sz="1800" b="1" i="0" u="none" strike="noStrike" cap="non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Технологии и ПО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42;p2"/>
          <p:cNvSpPr/>
          <p:nvPr/>
        </p:nvSpPr>
        <p:spPr>
          <a:xfrm>
            <a:off x="1325880" y="2459736"/>
            <a:ext cx="5303520" cy="2103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250"/>
              <a:buFont typeface="Calibri"/>
              <a:buNone/>
            </a:pPr>
            <a:r>
              <a:rPr lang="en-US" sz="1250" b="0" i="0" u="none" strike="noStrike" cap="none">
                <a:solidFill>
                  <a:srgbClr val="4B5563"/>
                </a:solidFill>
                <a:latin typeface="Calibri"/>
                <a:ea typeface="Calibri"/>
                <a:cs typeface="Calibri"/>
                <a:sym typeface="Calibri"/>
              </a:rPr>
              <a:t>стек разработки и инструменты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" name="Google Shape;43;p2"/>
          <p:cNvSpPr/>
          <p:nvPr/>
        </p:nvSpPr>
        <p:spPr>
          <a:xfrm>
            <a:off x="685800" y="2916936"/>
            <a:ext cx="438912" cy="438912"/>
          </a:xfrm>
          <a:prstGeom prst="ellipse">
            <a:avLst/>
          </a:prstGeom>
          <a:solidFill>
            <a:srgbClr val="991B1B"/>
          </a:solidFill>
          <a:ln w="12700" cap="flat" cmpd="sng">
            <a:solidFill>
              <a:srgbClr val="991B1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p2"/>
          <p:cNvSpPr/>
          <p:nvPr/>
        </p:nvSpPr>
        <p:spPr>
          <a:xfrm>
            <a:off x="685800" y="3026664"/>
            <a:ext cx="438912" cy="1645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lang="en-US" sz="9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03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" name="Google Shape;45;p2"/>
          <p:cNvSpPr/>
          <p:nvPr/>
        </p:nvSpPr>
        <p:spPr>
          <a:xfrm>
            <a:off x="1325880" y="2889504"/>
            <a:ext cx="384048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800"/>
              <a:buFont typeface="Calibri"/>
              <a:buNone/>
            </a:pPr>
            <a:r>
              <a:rPr lang="en-US" sz="1800" b="1" i="0" u="none" strike="noStrike" cap="non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Архитектура системы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" name="Google Shape;46;p2"/>
          <p:cNvSpPr/>
          <p:nvPr/>
        </p:nvSpPr>
        <p:spPr>
          <a:xfrm>
            <a:off x="1325880" y="3209544"/>
            <a:ext cx="5303520" cy="2103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250"/>
              <a:buFont typeface="Calibri"/>
              <a:buNone/>
            </a:pPr>
            <a:r>
              <a:rPr lang="en-US" sz="1250" b="0" i="0" u="none" strike="noStrike" cap="none">
                <a:solidFill>
                  <a:srgbClr val="4B5563"/>
                </a:solidFill>
                <a:latin typeface="Calibri"/>
                <a:ea typeface="Calibri"/>
                <a:cs typeface="Calibri"/>
                <a:sym typeface="Calibri"/>
              </a:rPr>
              <a:t>сервер, клиенты, БД, сервисы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" name="Google Shape;47;p2"/>
          <p:cNvSpPr/>
          <p:nvPr/>
        </p:nvSpPr>
        <p:spPr>
          <a:xfrm>
            <a:off x="685800" y="3666744"/>
            <a:ext cx="438912" cy="438912"/>
          </a:xfrm>
          <a:prstGeom prst="ellipse">
            <a:avLst/>
          </a:prstGeom>
          <a:solidFill>
            <a:srgbClr val="991B1B"/>
          </a:solidFill>
          <a:ln w="12700" cap="flat" cmpd="sng">
            <a:solidFill>
              <a:srgbClr val="991B1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2"/>
          <p:cNvSpPr/>
          <p:nvPr/>
        </p:nvSpPr>
        <p:spPr>
          <a:xfrm>
            <a:off x="685800" y="3776472"/>
            <a:ext cx="438912" cy="1645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lang="en-US" sz="9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04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" name="Google Shape;49;p2"/>
          <p:cNvSpPr/>
          <p:nvPr/>
        </p:nvSpPr>
        <p:spPr>
          <a:xfrm>
            <a:off x="1325880" y="3639312"/>
            <a:ext cx="384048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800"/>
              <a:buFont typeface="Calibri"/>
              <a:buNone/>
            </a:pPr>
            <a:r>
              <a:rPr lang="en-US" sz="1800" b="1" i="0" u="none" strike="noStrike" cap="non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Демонстрация работы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2"/>
          <p:cNvSpPr/>
          <p:nvPr/>
        </p:nvSpPr>
        <p:spPr>
          <a:xfrm>
            <a:off x="1325880" y="3959352"/>
            <a:ext cx="5303520" cy="2103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250"/>
              <a:buFont typeface="Calibri"/>
              <a:buNone/>
            </a:pPr>
            <a:r>
              <a:rPr lang="en-US" sz="1250" b="0" i="0" u="none" strike="noStrike" cap="none">
                <a:solidFill>
                  <a:srgbClr val="4B5563"/>
                </a:solidFill>
                <a:latin typeface="Calibri"/>
                <a:ea typeface="Calibri"/>
                <a:cs typeface="Calibri"/>
                <a:sym typeface="Calibri"/>
              </a:rPr>
              <a:t>web-клиент и WPF-клиент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"/>
          <p:cNvSpPr/>
          <p:nvPr/>
        </p:nvSpPr>
        <p:spPr>
          <a:xfrm>
            <a:off x="685800" y="4416552"/>
            <a:ext cx="438912" cy="438912"/>
          </a:xfrm>
          <a:prstGeom prst="ellipse">
            <a:avLst/>
          </a:prstGeom>
          <a:solidFill>
            <a:srgbClr val="991B1B"/>
          </a:solidFill>
          <a:ln w="12700" cap="flat" cmpd="sng">
            <a:solidFill>
              <a:srgbClr val="991B1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" name="Google Shape;52;p2"/>
          <p:cNvSpPr/>
          <p:nvPr/>
        </p:nvSpPr>
        <p:spPr>
          <a:xfrm>
            <a:off x="685800" y="4526280"/>
            <a:ext cx="438912" cy="1645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lang="en-US" sz="9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05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" name="Google Shape;53;p2"/>
          <p:cNvSpPr/>
          <p:nvPr/>
        </p:nvSpPr>
        <p:spPr>
          <a:xfrm>
            <a:off x="1325880" y="4389120"/>
            <a:ext cx="384048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800"/>
              <a:buFont typeface="Calibri"/>
              <a:buNone/>
            </a:pPr>
            <a:r>
              <a:rPr lang="en-US" sz="1800" b="1" i="0" u="none" strike="noStrike" cap="non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Диаграммы проекта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" name="Google Shape;54;p2"/>
          <p:cNvSpPr/>
          <p:nvPr/>
        </p:nvSpPr>
        <p:spPr>
          <a:xfrm>
            <a:off x="1325880" y="4709160"/>
            <a:ext cx="5303520" cy="2103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250"/>
              <a:buFont typeface="Calibri"/>
              <a:buNone/>
            </a:pPr>
            <a:r>
              <a:rPr lang="en-US" sz="1250" b="0" i="0" u="none" strike="noStrike" cap="none">
                <a:solidFill>
                  <a:srgbClr val="4B5563"/>
                </a:solidFill>
                <a:latin typeface="Calibri"/>
                <a:ea typeface="Calibri"/>
                <a:cs typeface="Calibri"/>
                <a:sym typeface="Calibri"/>
              </a:rPr>
              <a:t>прецеденты, классы, БД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2"/>
          <p:cNvSpPr/>
          <p:nvPr/>
        </p:nvSpPr>
        <p:spPr>
          <a:xfrm>
            <a:off x="685800" y="5166360"/>
            <a:ext cx="438912" cy="438912"/>
          </a:xfrm>
          <a:prstGeom prst="ellipse">
            <a:avLst/>
          </a:prstGeom>
          <a:solidFill>
            <a:srgbClr val="991B1B"/>
          </a:solidFill>
          <a:ln w="12700" cap="flat" cmpd="sng">
            <a:solidFill>
              <a:srgbClr val="991B1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" name="Google Shape;56;p2"/>
          <p:cNvSpPr/>
          <p:nvPr/>
        </p:nvSpPr>
        <p:spPr>
          <a:xfrm>
            <a:off x="685800" y="5276088"/>
            <a:ext cx="438912" cy="1645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lang="en-US" sz="9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06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p2"/>
          <p:cNvSpPr/>
          <p:nvPr/>
        </p:nvSpPr>
        <p:spPr>
          <a:xfrm>
            <a:off x="1325880" y="5138928"/>
            <a:ext cx="384048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800"/>
              <a:buFont typeface="Calibri"/>
              <a:buNone/>
            </a:pPr>
            <a:r>
              <a:rPr lang="en-US" sz="1800" b="1" i="0" u="none" strike="noStrike" cap="non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Результаты и контакты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2"/>
          <p:cNvSpPr/>
          <p:nvPr/>
        </p:nvSpPr>
        <p:spPr>
          <a:xfrm>
            <a:off x="1325880" y="5458968"/>
            <a:ext cx="5303520" cy="2103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250"/>
              <a:buFont typeface="Calibri"/>
              <a:buNone/>
            </a:pPr>
            <a:r>
              <a:rPr lang="en-US" sz="1250" b="0" i="0" u="none" strike="noStrike" cap="none">
                <a:solidFill>
                  <a:srgbClr val="4B5563"/>
                </a:solidFill>
                <a:latin typeface="Calibri"/>
                <a:ea typeface="Calibri"/>
                <a:cs typeface="Calibri"/>
                <a:sym typeface="Calibri"/>
              </a:rPr>
              <a:t>производительность и ссылка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2"/>
          <p:cNvSpPr/>
          <p:nvPr/>
        </p:nvSpPr>
        <p:spPr>
          <a:xfrm>
            <a:off x="6949440" y="1353312"/>
            <a:ext cx="4480560" cy="4389120"/>
          </a:xfrm>
          <a:prstGeom prst="roundRect">
            <a:avLst>
              <a:gd name="adj" fmla="val 1250"/>
            </a:avLst>
          </a:prstGeom>
          <a:solidFill>
            <a:srgbClr val="111827"/>
          </a:solidFill>
          <a:ln w="12700" cap="flat" cmpd="sng">
            <a:solidFill>
              <a:srgbClr val="E5E7E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" name="Google Shape;60;p2"/>
          <p:cNvSpPr/>
          <p:nvPr/>
        </p:nvSpPr>
        <p:spPr>
          <a:xfrm>
            <a:off x="7269480" y="1691640"/>
            <a:ext cx="347472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Calibri"/>
              <a:buNone/>
            </a:pPr>
            <a:r>
              <a:rPr lang="en-US" sz="20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Логика рассказа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61;p2"/>
          <p:cNvSpPr/>
          <p:nvPr/>
        </p:nvSpPr>
        <p:spPr>
          <a:xfrm>
            <a:off x="7269480" y="2240280"/>
            <a:ext cx="3703320" cy="2331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0" tIns="500" rIns="500" bIns="500" anchor="t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1500"/>
              <a:buFont typeface="Calibri"/>
              <a:buNone/>
            </a:pPr>
            <a:r>
              <a:rPr lang="en-US" sz="1500" b="0" i="0" u="none" strike="noStrike" cap="non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• почему система нужна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1500"/>
              <a:buFont typeface="Calibri"/>
              <a:buNone/>
            </a:pPr>
            <a:r>
              <a:rPr lang="en-US" sz="1500" b="0" i="0" u="none" strike="noStrike" cap="non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• как она устроена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1500"/>
              <a:buFont typeface="Calibri"/>
              <a:buNone/>
            </a:pPr>
            <a:r>
              <a:rPr lang="en-US" sz="1500" b="0" i="0" u="none" strike="noStrike" cap="non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• как работает расчёт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1500"/>
              <a:buFont typeface="Calibri"/>
              <a:buNone/>
            </a:pPr>
            <a:r>
              <a:rPr lang="en-US" sz="1500" b="0" i="0" u="none" strike="noStrike" cap="non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• что уже реализовано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1500"/>
              <a:buFont typeface="Calibri"/>
              <a:buNone/>
            </a:pPr>
            <a:r>
              <a:rPr lang="en-US" sz="1500" b="0" i="0" u="none" strike="noStrike" cap="non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• как подтверждена производительность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2"/>
          <p:cNvSpPr/>
          <p:nvPr/>
        </p:nvSpPr>
        <p:spPr>
          <a:xfrm>
            <a:off x="11292840" y="6446520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32" tIns="0" rIns="27432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sz="900" b="0">
                <a:solidFill>
                  <a:srgbClr val="475569"/>
                </a:solidFill>
                <a:latin typeface="Calibri"/>
              </a:rPr>
              <a:t>2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AFB"/>
        </a:solidFill>
        <a:effectLst/>
      </p:bgPr>
    </p:bg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3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991B1B"/>
          </a:solidFill>
          <a:ln w="12700" cap="flat" cmpd="sng">
            <a:solidFill>
              <a:srgbClr val="991B1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" name="Google Shape;71;p3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111827"/>
          </a:solidFill>
          <a:ln w="12700" cap="flat" cmpd="sng">
            <a:solidFill>
              <a:srgbClr val="1118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" name="Google Shape;72;p3"/>
          <p:cNvSpPr/>
          <p:nvPr/>
        </p:nvSpPr>
        <p:spPr>
          <a:xfrm>
            <a:off x="502920" y="320040"/>
            <a:ext cx="996696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2700"/>
              <a:buFont typeface="Calibri"/>
              <a:buNone/>
            </a:pPr>
            <a:r>
              <a:rPr lang="en-US" sz="2700" b="1" i="0" u="none" strike="noStrike" cap="non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Обоснование выбора темы</a:t>
            </a:r>
            <a:endParaRPr sz="2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3"/>
          <p:cNvSpPr/>
          <p:nvPr/>
        </p:nvSpPr>
        <p:spPr>
          <a:xfrm>
            <a:off x="530352" y="841248"/>
            <a:ext cx="1069848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50"/>
              <a:buFont typeface="Calibri"/>
              <a:buNone/>
            </a:pPr>
            <a:r>
              <a:rPr lang="en-US" sz="1350" b="0" i="0" u="none" strike="noStrike" cap="none">
                <a:solidFill>
                  <a:srgbClr val="4B5563"/>
                </a:solidFill>
                <a:latin typeface="Calibri"/>
                <a:ea typeface="Calibri"/>
                <a:cs typeface="Calibri"/>
                <a:sym typeface="Calibri"/>
              </a:rPr>
              <a:t>Задача, актуальность, ценность и целевая аудитория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3"/>
          <p:cNvSpPr/>
          <p:nvPr/>
        </p:nvSpPr>
        <p:spPr>
          <a:xfrm>
            <a:off x="685800" y="1417320"/>
            <a:ext cx="5074920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 cap="flat" cmpd="sng">
            <a:solidFill>
              <a:srgbClr val="E5E7E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" name="Google Shape;75;p3"/>
          <p:cNvSpPr/>
          <p:nvPr/>
        </p:nvSpPr>
        <p:spPr>
          <a:xfrm>
            <a:off x="914400" y="1618488"/>
            <a:ext cx="1508760" cy="310896"/>
          </a:xfrm>
          <a:prstGeom prst="roundRect">
            <a:avLst>
              <a:gd name="adj" fmla="val 23529"/>
            </a:avLst>
          </a:prstGeom>
          <a:solidFill>
            <a:srgbClr val="DBEAFE"/>
          </a:solidFill>
          <a:ln w="12700" cap="flat" cmpd="sng">
            <a:solidFill>
              <a:srgbClr val="DBEAF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" name="Google Shape;76;p3"/>
          <p:cNvSpPr/>
          <p:nvPr/>
        </p:nvSpPr>
        <p:spPr>
          <a:xfrm>
            <a:off x="987552" y="1677924"/>
            <a:ext cx="1362456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950"/>
              <a:buFont typeface="Calibri"/>
              <a:buNone/>
            </a:pPr>
            <a:r>
              <a:rPr lang="en-US" sz="950" b="1" i="0" u="none" strike="noStrike" cap="non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Задача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3"/>
          <p:cNvSpPr/>
          <p:nvPr/>
        </p:nvSpPr>
        <p:spPr>
          <a:xfrm>
            <a:off x="914400" y="2103120"/>
            <a:ext cx="45720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75" tIns="375" rIns="375" bIns="375" anchor="ctr" anchorCtr="0">
            <a:normAutofit lnSpcReduction="10000"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600"/>
              <a:buFont typeface="Calibri"/>
              <a:buNone/>
            </a:pPr>
            <a:r>
              <a:rPr lang="en-US" sz="160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Автоматизировать оценку исходов боевых столкновений двух игровых юнитов с учётом случайности бросков кубиков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3"/>
          <p:cNvSpPr/>
          <p:nvPr/>
        </p:nvSpPr>
        <p:spPr>
          <a:xfrm>
            <a:off x="6263640" y="1417320"/>
            <a:ext cx="5074920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 cap="flat" cmpd="sng">
            <a:solidFill>
              <a:srgbClr val="E5E7E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" name="Google Shape;79;p3"/>
          <p:cNvSpPr/>
          <p:nvPr/>
        </p:nvSpPr>
        <p:spPr>
          <a:xfrm>
            <a:off x="6492240" y="1618488"/>
            <a:ext cx="1508760" cy="310896"/>
          </a:xfrm>
          <a:prstGeom prst="roundRect">
            <a:avLst>
              <a:gd name="adj" fmla="val 23529"/>
            </a:avLst>
          </a:prstGeom>
          <a:solidFill>
            <a:srgbClr val="FEF3C7"/>
          </a:solidFill>
          <a:ln w="12700" cap="flat" cmpd="sng">
            <a:solidFill>
              <a:srgbClr val="FEF3C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" name="Google Shape;80;p3"/>
          <p:cNvSpPr/>
          <p:nvPr/>
        </p:nvSpPr>
        <p:spPr>
          <a:xfrm>
            <a:off x="6565392" y="1677924"/>
            <a:ext cx="1362456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950"/>
              <a:buFont typeface="Calibri"/>
              <a:buNone/>
            </a:pPr>
            <a:r>
              <a:rPr lang="en-US" sz="950" b="1" i="0" u="none" strike="noStrike" cap="non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Актуальность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3"/>
          <p:cNvSpPr/>
          <p:nvPr/>
        </p:nvSpPr>
        <p:spPr>
          <a:xfrm>
            <a:off x="6492240" y="2103120"/>
            <a:ext cx="45720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75" tIns="375" rIns="375" bIns="375" anchor="ctr" anchorCtr="0">
            <a:normAutofit lnSpcReduction="10000"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600"/>
              <a:buFont typeface="Calibri"/>
              <a:buNone/>
            </a:pPr>
            <a:r>
              <a:rPr lang="ru-RU" sz="1600" b="0" i="0" u="none" strike="noStrike" cap="none" dirty="0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Наглядные результаты работы теории вероятностей помогут лучше ориентироваться в эффективности игровых юнитов</a:t>
            </a:r>
            <a:endParaRPr sz="16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3"/>
          <p:cNvSpPr/>
          <p:nvPr/>
        </p:nvSpPr>
        <p:spPr>
          <a:xfrm>
            <a:off x="685800" y="3794760"/>
            <a:ext cx="5074920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 cap="flat" cmpd="sng">
            <a:solidFill>
              <a:srgbClr val="E5E7E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" name="Google Shape;83;p3"/>
          <p:cNvSpPr/>
          <p:nvPr/>
        </p:nvSpPr>
        <p:spPr>
          <a:xfrm>
            <a:off x="914400" y="3995928"/>
            <a:ext cx="1508760" cy="310896"/>
          </a:xfrm>
          <a:prstGeom prst="roundRect">
            <a:avLst>
              <a:gd name="adj" fmla="val 23529"/>
            </a:avLst>
          </a:prstGeom>
          <a:solidFill>
            <a:srgbClr val="DBEAFE"/>
          </a:solidFill>
          <a:ln w="12700" cap="flat" cmpd="sng">
            <a:solidFill>
              <a:srgbClr val="DBEAF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" name="Google Shape;84;p3"/>
          <p:cNvSpPr/>
          <p:nvPr/>
        </p:nvSpPr>
        <p:spPr>
          <a:xfrm>
            <a:off x="987552" y="4055364"/>
            <a:ext cx="1362456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950"/>
              <a:buFont typeface="Calibri"/>
              <a:buNone/>
            </a:pPr>
            <a:r>
              <a:rPr lang="en-US" sz="950" b="1" i="0" u="none" strike="noStrike" cap="non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Ценность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3"/>
          <p:cNvSpPr/>
          <p:nvPr/>
        </p:nvSpPr>
        <p:spPr>
          <a:xfrm>
            <a:off x="914400" y="4480560"/>
            <a:ext cx="45720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75" tIns="375" rIns="375" bIns="375" anchor="ctr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600"/>
              <a:buFont typeface="Calibri"/>
              <a:buNone/>
            </a:pPr>
            <a:r>
              <a:rPr lang="en-US" sz="160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Система быстро выдаёт статистику: средний урон, выживаемость, победы, вклад оружия по ходам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3"/>
          <p:cNvSpPr/>
          <p:nvPr/>
        </p:nvSpPr>
        <p:spPr>
          <a:xfrm>
            <a:off x="6263640" y="3794760"/>
            <a:ext cx="5074920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 cap="flat" cmpd="sng">
            <a:solidFill>
              <a:srgbClr val="E5E7E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3"/>
          <p:cNvSpPr/>
          <p:nvPr/>
        </p:nvSpPr>
        <p:spPr>
          <a:xfrm>
            <a:off x="6492240" y="3995928"/>
            <a:ext cx="1508760" cy="310896"/>
          </a:xfrm>
          <a:prstGeom prst="roundRect">
            <a:avLst>
              <a:gd name="adj" fmla="val 23529"/>
            </a:avLst>
          </a:prstGeom>
          <a:solidFill>
            <a:srgbClr val="FEF3C7"/>
          </a:solidFill>
          <a:ln w="12700" cap="flat" cmpd="sng">
            <a:solidFill>
              <a:srgbClr val="FEF3C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3"/>
          <p:cNvSpPr/>
          <p:nvPr/>
        </p:nvSpPr>
        <p:spPr>
          <a:xfrm>
            <a:off x="6565392" y="4055364"/>
            <a:ext cx="1362456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950"/>
              <a:buFont typeface="Calibri"/>
              <a:buNone/>
            </a:pPr>
            <a:r>
              <a:rPr lang="en-US" sz="950" b="1" i="0" u="none" strike="noStrike" cap="non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Аудитория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3"/>
          <p:cNvSpPr/>
          <p:nvPr/>
        </p:nvSpPr>
        <p:spPr>
          <a:xfrm>
            <a:off x="6492240" y="4480560"/>
            <a:ext cx="45720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75" tIns="375" rIns="375" bIns="375" anchor="ctr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600"/>
              <a:buFont typeface="Calibri"/>
              <a:buNone/>
            </a:pPr>
            <a:r>
              <a:rPr lang="en-US" sz="160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Игроки Warhammer 40000, разработчики ростеров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3"/>
          <p:cNvSpPr/>
          <p:nvPr/>
        </p:nvSpPr>
        <p:spPr>
          <a:xfrm>
            <a:off x="11292840" y="6446520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32" tIns="0" rIns="27432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sz="900" b="0">
                <a:solidFill>
                  <a:srgbClr val="475569"/>
                </a:solidFill>
                <a:latin typeface="Calibri"/>
              </a:rPr>
              <a:t>3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AFB"/>
        </a:solidFill>
        <a:effectLst/>
      </p:bgPr>
    </p:bg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AFB"/>
          </a:solidFill>
          <a:ln w="12700" cap="flat" cmpd="sng">
            <a:solidFill>
              <a:srgbClr val="F9FAF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" name="Google Shape;98;p4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991B1B"/>
          </a:solidFill>
          <a:ln w="12700" cap="flat" cmpd="sng">
            <a:solidFill>
              <a:srgbClr val="991B1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" name="Google Shape;99;p4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111827"/>
          </a:solidFill>
          <a:ln w="12700" cap="flat" cmpd="sng">
            <a:solidFill>
              <a:srgbClr val="1118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0" name="Google Shape;100;p4"/>
          <p:cNvSpPr/>
          <p:nvPr/>
        </p:nvSpPr>
        <p:spPr>
          <a:xfrm>
            <a:off x="502920" y="320040"/>
            <a:ext cx="996696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2700"/>
              <a:buFont typeface="Calibri"/>
              <a:buNone/>
            </a:pPr>
            <a:r>
              <a:rPr lang="en-US" sz="2700" b="1" i="0" u="none" strike="noStrike" cap="non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Цель и задачи проекта</a:t>
            </a:r>
            <a:endParaRPr sz="2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4"/>
          <p:cNvSpPr/>
          <p:nvPr/>
        </p:nvSpPr>
        <p:spPr>
          <a:xfrm>
            <a:off x="530352" y="841248"/>
            <a:ext cx="1069848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50"/>
              <a:buFont typeface="Calibri"/>
              <a:buNone/>
            </a:pPr>
            <a:r>
              <a:rPr lang="en-US" sz="1350" b="0" i="0" u="none" strike="noStrike" cap="none">
                <a:solidFill>
                  <a:srgbClr val="4B5563"/>
                </a:solidFill>
                <a:latin typeface="Calibri"/>
                <a:ea typeface="Calibri"/>
                <a:cs typeface="Calibri"/>
                <a:sym typeface="Calibri"/>
              </a:rPr>
              <a:t>Что должна делать система StatHammer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4"/>
          <p:cNvSpPr/>
          <p:nvPr/>
        </p:nvSpPr>
        <p:spPr>
          <a:xfrm>
            <a:off x="685800" y="1298448"/>
            <a:ext cx="4937760" cy="4480560"/>
          </a:xfrm>
          <a:prstGeom prst="roundRect">
            <a:avLst>
              <a:gd name="adj" fmla="val 1224"/>
            </a:avLst>
          </a:prstGeom>
          <a:solidFill>
            <a:srgbClr val="111827"/>
          </a:solidFill>
          <a:ln w="12700" cap="flat" cmpd="sng">
            <a:solidFill>
              <a:srgbClr val="E5E7E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3" name="Google Shape;103;p4"/>
          <p:cNvSpPr/>
          <p:nvPr/>
        </p:nvSpPr>
        <p:spPr>
          <a:xfrm>
            <a:off x="1005840" y="1645920"/>
            <a:ext cx="384048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Calibri"/>
              <a:buNone/>
            </a:pPr>
            <a:r>
              <a:rPr lang="en-US" sz="24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Цель</a:t>
            </a:r>
            <a:endParaRPr sz="2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4"/>
          <p:cNvSpPr/>
          <p:nvPr/>
        </p:nvSpPr>
        <p:spPr>
          <a:xfrm>
            <a:off x="1005840" y="2148840"/>
            <a:ext cx="4251960" cy="1417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0" tIns="250" rIns="250" bIns="250" anchor="ctr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1800"/>
              <a:buFont typeface="Calibri"/>
              <a:buNone/>
            </a:pPr>
            <a:r>
              <a:rPr lang="en-US" sz="1800" b="0" i="0" u="none" strike="noStrike" cap="none" dirty="0" err="1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Создать</a:t>
            </a:r>
            <a:r>
              <a:rPr lang="en-US" sz="1800" b="0" i="0" u="none" strike="noStrike" cap="none" dirty="0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800" b="0" i="0" u="none" strike="noStrike" cap="none" dirty="0" err="1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программную</a:t>
            </a:r>
            <a:r>
              <a:rPr lang="en-US" sz="1800" b="0" i="0" u="none" strike="noStrike" cap="none" dirty="0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800" b="0" i="0" u="none" strike="noStrike" cap="none" dirty="0" err="1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систему</a:t>
            </a:r>
            <a:r>
              <a:rPr lang="en-US" sz="1800" b="0" i="0" u="none" strike="noStrike" cap="none" dirty="0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800" b="0" i="0" u="none" strike="noStrike" cap="none" dirty="0" err="1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для</a:t>
            </a:r>
            <a:r>
              <a:rPr lang="en-US" sz="1800" b="0" i="0" u="none" strike="noStrike" cap="none" dirty="0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800" b="0" i="0" u="none" strike="noStrike" cap="none" dirty="0" err="1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многократного</a:t>
            </a:r>
            <a:r>
              <a:rPr lang="en-US" sz="1800" b="0" i="0" u="none" strike="noStrike" cap="none" dirty="0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800" b="0" i="0" u="none" strike="noStrike" cap="none" dirty="0" err="1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статистического</a:t>
            </a:r>
            <a:r>
              <a:rPr lang="en-US" sz="1800" b="0" i="0" u="none" strike="noStrike" cap="none" dirty="0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800" b="0" i="0" u="none" strike="noStrike" cap="none" dirty="0" err="1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моделирования</a:t>
            </a:r>
            <a:r>
              <a:rPr lang="en-US" sz="1800" b="0" i="0" u="none" strike="noStrike" cap="none" dirty="0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800" b="0" i="0" u="none" strike="noStrike" cap="none" dirty="0" err="1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боевых</a:t>
            </a:r>
            <a:r>
              <a:rPr lang="en-US" sz="1800" b="0" i="0" u="none" strike="noStrike" cap="none" dirty="0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800" b="0" i="0" u="none" strike="noStrike" cap="none" dirty="0" err="1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сценариев</a:t>
            </a:r>
            <a:r>
              <a:rPr lang="en-US" sz="1800" b="0" i="0" u="none" strike="noStrike" cap="none" dirty="0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 с </a:t>
            </a:r>
            <a:r>
              <a:rPr lang="en-US" sz="1800" b="0" i="0" u="none" strike="noStrike" cap="none" dirty="0" err="1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хранением</a:t>
            </a:r>
            <a:r>
              <a:rPr lang="en-US" sz="1800" b="0" i="0" u="none" strike="noStrike" cap="none" dirty="0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800" b="0" i="0" u="none" strike="noStrike" cap="none" dirty="0" err="1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игровых</a:t>
            </a:r>
            <a:r>
              <a:rPr lang="en-US" sz="1800" b="0" i="0" u="none" strike="noStrike" cap="none" dirty="0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800" b="0" i="0" u="none" strike="noStrike" cap="none" dirty="0" err="1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данных</a:t>
            </a:r>
            <a:r>
              <a:rPr lang="en-US" sz="1800" b="0" i="0" u="none" strike="noStrike" cap="none" dirty="0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 и </a:t>
            </a:r>
            <a:r>
              <a:rPr lang="en-US" sz="1800" b="0" i="0" u="none" strike="noStrike" cap="none" dirty="0" err="1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выводом</a:t>
            </a:r>
            <a:r>
              <a:rPr lang="en-US" sz="1800" b="0" i="0" u="none" strike="noStrike" cap="none" dirty="0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800" b="0" i="0" u="none" strike="noStrike" cap="none" dirty="0" err="1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усреднённых</a:t>
            </a:r>
            <a:r>
              <a:rPr lang="en-US" sz="1800" b="0" i="0" u="none" strike="noStrike" cap="none" dirty="0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800" b="0" i="0" u="none" strike="noStrike" cap="none" dirty="0" err="1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результатов</a:t>
            </a: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05" name="Google Shape;105;p4"/>
          <p:cNvCxnSpPr/>
          <p:nvPr/>
        </p:nvCxnSpPr>
        <p:spPr>
          <a:xfrm>
            <a:off x="1005840" y="3886200"/>
            <a:ext cx="4114800" cy="0"/>
          </a:xfrm>
          <a:prstGeom prst="straightConnector1">
            <a:avLst/>
          </a:prstGeom>
          <a:noFill/>
          <a:ln w="25400" cap="flat" cmpd="sng">
            <a:solidFill>
              <a:srgbClr val="991B1B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06" name="Google Shape;106;p4"/>
          <p:cNvSpPr/>
          <p:nvPr/>
        </p:nvSpPr>
        <p:spPr>
          <a:xfrm>
            <a:off x="1005840" y="4160520"/>
            <a:ext cx="420624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0" tIns="250" rIns="250" bIns="25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libri"/>
              <a:buNone/>
            </a:pPr>
            <a:r>
              <a:rPr lang="en-US" sz="1600" b="1" i="0" u="none" strike="noStrike" cap="none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Ключев</a:t>
            </a:r>
            <a:r>
              <a:rPr lang="ru-RU" sz="1600" b="1" i="0" u="none" strike="noStrike" cap="none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ая</a:t>
            </a:r>
            <a:r>
              <a:rPr lang="en-US" sz="1600" b="1" i="0" u="none" strike="noStrike" cap="none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ru-RU" sz="1600" b="1" i="0" u="none" strike="noStrike" cap="none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технология</a:t>
            </a:r>
            <a:r>
              <a:rPr lang="en-US" sz="1600" b="1" i="0" u="none" strike="noStrike" cap="none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: </a:t>
            </a:r>
            <a:r>
              <a:rPr lang="en-US" sz="1600" b="1" i="0" u="none" strike="noStrike" cap="none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многопоточный</a:t>
            </a:r>
            <a:r>
              <a:rPr lang="en-US" sz="1600" b="1" i="0" u="none" strike="noStrike" cap="none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600" b="1" i="0" u="none" strike="noStrike" cap="none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режим</a:t>
            </a:r>
            <a:r>
              <a:rPr lang="en-US" sz="1600" b="1" i="0" u="none" strike="noStrike" cap="none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600" b="1" i="0" u="none" strike="noStrike" cap="none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расчёта</a:t>
            </a:r>
            <a:endParaRPr sz="16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4"/>
          <p:cNvSpPr/>
          <p:nvPr/>
        </p:nvSpPr>
        <p:spPr>
          <a:xfrm>
            <a:off x="6172200" y="1417320"/>
            <a:ext cx="5166360" cy="4389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0" tIns="500" rIns="500" bIns="500" anchor="t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600"/>
              <a:buFont typeface="Calibri"/>
              <a:buNone/>
            </a:pPr>
            <a:r>
              <a:rPr lang="en-US" sz="160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• проектирование базы данных игровых сущностей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600"/>
              <a:buFont typeface="Calibri"/>
              <a:buNone/>
            </a:pPr>
            <a:r>
              <a:rPr lang="en-US" sz="160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• реализация API и серверной бизнес-логики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600"/>
              <a:buFont typeface="Calibri"/>
              <a:buNone/>
            </a:pPr>
            <a:r>
              <a:rPr lang="en-US" sz="160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• создание симуляционного ядра и агрегатора статистики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600"/>
              <a:buFont typeface="Calibri"/>
              <a:buNone/>
            </a:pPr>
            <a:r>
              <a:rPr lang="en-US" sz="160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• реализация web-интерфейса администратора и пользователя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600"/>
              <a:buFont typeface="Calibri"/>
              <a:buNone/>
            </a:pPr>
            <a:r>
              <a:rPr lang="en-US" sz="160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• создание WPF-клиента для запуска симуляций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600"/>
              <a:buFont typeface="Calibri"/>
              <a:buNone/>
            </a:pPr>
            <a:r>
              <a:rPr lang="en-US" sz="160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• замеры и оптимизация производительности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4"/>
          <p:cNvSpPr/>
          <p:nvPr/>
        </p:nvSpPr>
        <p:spPr>
          <a:xfrm>
            <a:off x="11292840" y="6446520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32" tIns="0" rIns="27432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sz="900" b="0">
                <a:solidFill>
                  <a:srgbClr val="475569"/>
                </a:solidFill>
                <a:latin typeface="Calibri"/>
              </a:rPr>
              <a:t>4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AFB"/>
        </a:solidFill>
        <a:effectLst/>
      </p:bgPr>
    </p:bg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5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AFB"/>
          </a:solidFill>
          <a:ln w="12700" cap="flat" cmpd="sng">
            <a:solidFill>
              <a:srgbClr val="F9FAF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p5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991B1B"/>
          </a:solidFill>
          <a:ln w="12700" cap="flat" cmpd="sng">
            <a:solidFill>
              <a:srgbClr val="991B1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" name="Google Shape;117;p5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111827"/>
          </a:solidFill>
          <a:ln w="12700" cap="flat" cmpd="sng">
            <a:solidFill>
              <a:srgbClr val="1118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8" name="Google Shape;118;p5"/>
          <p:cNvSpPr/>
          <p:nvPr/>
        </p:nvSpPr>
        <p:spPr>
          <a:xfrm>
            <a:off x="502920" y="320040"/>
            <a:ext cx="996696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2700"/>
              <a:buFont typeface="Calibri"/>
              <a:buNone/>
            </a:pPr>
            <a:r>
              <a:rPr lang="en-US" sz="2700" b="1" i="0" u="none" strike="noStrike" cap="non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Технологии, сервисы и ПО</a:t>
            </a:r>
            <a:endParaRPr sz="2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5"/>
          <p:cNvSpPr/>
          <p:nvPr/>
        </p:nvSpPr>
        <p:spPr>
          <a:xfrm>
            <a:off x="530352" y="841248"/>
            <a:ext cx="1069848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50"/>
              <a:buFont typeface="Calibri"/>
              <a:buNone/>
            </a:pPr>
            <a:r>
              <a:rPr lang="en-US" sz="1350" b="0" i="0" u="none" strike="noStrike" cap="none">
                <a:solidFill>
                  <a:srgbClr val="4B5563"/>
                </a:solidFill>
                <a:latin typeface="Calibri"/>
                <a:ea typeface="Calibri"/>
                <a:cs typeface="Calibri"/>
                <a:sym typeface="Calibri"/>
              </a:rPr>
              <a:t>Стек выбран с упором на C#, серверную архитектуру и быстрый MVP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5"/>
          <p:cNvSpPr/>
          <p:nvPr/>
        </p:nvSpPr>
        <p:spPr>
          <a:xfrm>
            <a:off x="621792" y="1371600"/>
            <a:ext cx="2578608" cy="438912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 w="12700" cap="flat" cmpd="sng">
            <a:solidFill>
              <a:srgbClr val="E5E7E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1" name="Google Shape;121;p5"/>
          <p:cNvSpPr/>
          <p:nvPr/>
        </p:nvSpPr>
        <p:spPr>
          <a:xfrm>
            <a:off x="877824" y="1627632"/>
            <a:ext cx="2057400" cy="310896"/>
          </a:xfrm>
          <a:prstGeom prst="roundRect">
            <a:avLst>
              <a:gd name="adj" fmla="val 23529"/>
            </a:avLst>
          </a:prstGeom>
          <a:solidFill>
            <a:srgbClr val="DBEAFE"/>
          </a:solidFill>
          <a:ln w="12700" cap="flat" cmpd="sng">
            <a:solidFill>
              <a:srgbClr val="DBEAF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2" name="Google Shape;122;p5"/>
          <p:cNvSpPr/>
          <p:nvPr/>
        </p:nvSpPr>
        <p:spPr>
          <a:xfrm>
            <a:off x="950976" y="1687068"/>
            <a:ext cx="1911096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950"/>
              <a:buFont typeface="Calibri"/>
              <a:buNone/>
            </a:pPr>
            <a:r>
              <a:rPr lang="en-US" sz="950" b="1" i="0" u="none" strike="noStrike" cap="non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Backend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5"/>
          <p:cNvSpPr/>
          <p:nvPr/>
        </p:nvSpPr>
        <p:spPr>
          <a:xfrm>
            <a:off x="877824" y="2148840"/>
            <a:ext cx="2066544" cy="2926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0" tIns="500" rIns="500" bIns="500" anchor="t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70"/>
              <a:buFont typeface="Calibri"/>
              <a:buNone/>
            </a:pPr>
            <a:r>
              <a:rPr lang="en-US" sz="127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• ASP.NET Core Web API</a:t>
            </a:r>
            <a:endParaRPr sz="127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70"/>
              <a:buFont typeface="Calibri"/>
              <a:buNone/>
            </a:pPr>
            <a:r>
              <a:rPr lang="en-US" sz="127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• REST-контроллеры</a:t>
            </a:r>
            <a:endParaRPr sz="127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70"/>
              <a:buFont typeface="Calibri"/>
              <a:buNone/>
            </a:pPr>
            <a:r>
              <a:rPr lang="en-US" sz="127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• Swagger / OpenAPI</a:t>
            </a:r>
            <a:endParaRPr sz="127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70"/>
              <a:buFont typeface="Calibri"/>
              <a:buNone/>
            </a:pPr>
            <a:r>
              <a:rPr lang="en-US" sz="127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• ILogger</a:t>
            </a:r>
            <a:endParaRPr sz="127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5"/>
          <p:cNvSpPr/>
          <p:nvPr/>
        </p:nvSpPr>
        <p:spPr>
          <a:xfrm>
            <a:off x="3502152" y="1371600"/>
            <a:ext cx="2578608" cy="438912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 w="12700" cap="flat" cmpd="sng">
            <a:solidFill>
              <a:srgbClr val="E5E7E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5" name="Google Shape;125;p5"/>
          <p:cNvSpPr/>
          <p:nvPr/>
        </p:nvSpPr>
        <p:spPr>
          <a:xfrm>
            <a:off x="3758184" y="1627632"/>
            <a:ext cx="2057400" cy="310896"/>
          </a:xfrm>
          <a:prstGeom prst="roundRect">
            <a:avLst>
              <a:gd name="adj" fmla="val 23529"/>
            </a:avLst>
          </a:prstGeom>
          <a:solidFill>
            <a:srgbClr val="D1FAE5"/>
          </a:solidFill>
          <a:ln w="12700" cap="flat" cmpd="sng">
            <a:solidFill>
              <a:srgbClr val="D1FAE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6" name="Google Shape;126;p5"/>
          <p:cNvSpPr/>
          <p:nvPr/>
        </p:nvSpPr>
        <p:spPr>
          <a:xfrm>
            <a:off x="3831336" y="1687068"/>
            <a:ext cx="1911096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950"/>
              <a:buFont typeface="Calibri"/>
              <a:buNone/>
            </a:pPr>
            <a:r>
              <a:rPr lang="en-US" sz="950" b="1" i="0" u="none" strike="noStrike" cap="non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Данные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5"/>
          <p:cNvSpPr/>
          <p:nvPr/>
        </p:nvSpPr>
        <p:spPr>
          <a:xfrm>
            <a:off x="3758184" y="2148840"/>
            <a:ext cx="2066544" cy="2926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0" tIns="500" rIns="500" bIns="500" anchor="t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70"/>
              <a:buFont typeface="Calibri"/>
              <a:buNone/>
            </a:pPr>
            <a:r>
              <a:rPr lang="en-US" sz="127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• Entity Framework Core</a:t>
            </a:r>
            <a:endParaRPr sz="127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70"/>
              <a:buFont typeface="Calibri"/>
              <a:buNone/>
            </a:pPr>
            <a:r>
              <a:rPr lang="en-US" sz="127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• SQLite (на этапе отладки)</a:t>
            </a:r>
            <a:endParaRPr sz="127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70"/>
              <a:buFont typeface="Calibri"/>
              <a:buNone/>
            </a:pPr>
            <a:r>
              <a:rPr lang="en-US" sz="127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• миграции EF Core</a:t>
            </a:r>
            <a:endParaRPr sz="127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5"/>
          <p:cNvSpPr/>
          <p:nvPr/>
        </p:nvSpPr>
        <p:spPr>
          <a:xfrm>
            <a:off x="6382512" y="1371600"/>
            <a:ext cx="2578608" cy="438912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 w="12700" cap="flat" cmpd="sng">
            <a:solidFill>
              <a:srgbClr val="E5E7E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9" name="Google Shape;129;p5"/>
          <p:cNvSpPr/>
          <p:nvPr/>
        </p:nvSpPr>
        <p:spPr>
          <a:xfrm>
            <a:off x="6638544" y="1627632"/>
            <a:ext cx="2057400" cy="310896"/>
          </a:xfrm>
          <a:prstGeom prst="roundRect">
            <a:avLst>
              <a:gd name="adj" fmla="val 23529"/>
            </a:avLst>
          </a:prstGeom>
          <a:solidFill>
            <a:srgbClr val="EDE9FE"/>
          </a:solidFill>
          <a:ln w="12700" cap="flat" cmpd="sng">
            <a:solidFill>
              <a:srgbClr val="EDE9F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0" name="Google Shape;130;p5"/>
          <p:cNvSpPr/>
          <p:nvPr/>
        </p:nvSpPr>
        <p:spPr>
          <a:xfrm>
            <a:off x="6711696" y="1687068"/>
            <a:ext cx="1911096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950"/>
              <a:buFont typeface="Calibri"/>
              <a:buNone/>
            </a:pPr>
            <a:r>
              <a:rPr lang="en-US" sz="950" b="1" i="0" u="none" strike="noStrike" cap="non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Клиенты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5"/>
          <p:cNvSpPr/>
          <p:nvPr/>
        </p:nvSpPr>
        <p:spPr>
          <a:xfrm>
            <a:off x="6638544" y="2148840"/>
            <a:ext cx="2066544" cy="2926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0" tIns="500" rIns="500" bIns="500" anchor="t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70"/>
              <a:buFont typeface="Calibri"/>
              <a:buNone/>
            </a:pPr>
            <a:r>
              <a:rPr lang="en-US" sz="127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• Razor Pages web-клиент</a:t>
            </a:r>
            <a:endParaRPr sz="127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70"/>
              <a:buFont typeface="Calibri"/>
              <a:buNone/>
            </a:pPr>
            <a:r>
              <a:rPr lang="en-US" sz="127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• WPF desktop-клиент</a:t>
            </a:r>
            <a:endParaRPr sz="127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70"/>
              <a:buFont typeface="Calibri"/>
              <a:buNone/>
            </a:pPr>
            <a:r>
              <a:rPr lang="en-US" sz="127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• MVVM в WPF</a:t>
            </a:r>
            <a:endParaRPr sz="127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70"/>
              <a:buFont typeface="Calibri"/>
              <a:buNone/>
            </a:pPr>
            <a:r>
              <a:rPr lang="en-US" sz="127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• JWT для desktop</a:t>
            </a:r>
            <a:endParaRPr sz="127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5"/>
          <p:cNvSpPr/>
          <p:nvPr/>
        </p:nvSpPr>
        <p:spPr>
          <a:xfrm>
            <a:off x="9262872" y="1371600"/>
            <a:ext cx="2578608" cy="438912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 w="12700" cap="flat" cmpd="sng">
            <a:solidFill>
              <a:srgbClr val="E5E7E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" name="Google Shape;133;p5"/>
          <p:cNvSpPr/>
          <p:nvPr/>
        </p:nvSpPr>
        <p:spPr>
          <a:xfrm>
            <a:off x="9518904" y="1627632"/>
            <a:ext cx="2057400" cy="310896"/>
          </a:xfrm>
          <a:prstGeom prst="roundRect">
            <a:avLst>
              <a:gd name="adj" fmla="val 23529"/>
            </a:avLst>
          </a:prstGeom>
          <a:solidFill>
            <a:srgbClr val="FEF3C7"/>
          </a:solidFill>
          <a:ln w="12700" cap="flat" cmpd="sng">
            <a:solidFill>
              <a:srgbClr val="FEF3C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4" name="Google Shape;134;p5"/>
          <p:cNvSpPr/>
          <p:nvPr/>
        </p:nvSpPr>
        <p:spPr>
          <a:xfrm>
            <a:off x="9592056" y="1687068"/>
            <a:ext cx="1911096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950"/>
              <a:buFont typeface="Calibri"/>
              <a:buNone/>
            </a:pPr>
            <a:r>
              <a:rPr lang="en-US" sz="950" b="1" i="0" u="none" strike="noStrike" cap="non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Безопасность и ПО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5"/>
          <p:cNvSpPr/>
          <p:nvPr/>
        </p:nvSpPr>
        <p:spPr>
          <a:xfrm>
            <a:off x="9518904" y="2148840"/>
            <a:ext cx="2066544" cy="2926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0" tIns="500" rIns="500" bIns="500" anchor="t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70"/>
              <a:buFont typeface="Calibri"/>
              <a:buNone/>
            </a:pPr>
            <a:r>
              <a:rPr lang="en-US" sz="127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• ASP.NET Core Identity</a:t>
            </a:r>
            <a:endParaRPr sz="127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70"/>
              <a:buFont typeface="Calibri"/>
              <a:buNone/>
            </a:pPr>
            <a:r>
              <a:rPr lang="en-US" sz="127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• роли Admin/User</a:t>
            </a:r>
            <a:endParaRPr sz="127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70"/>
              <a:buFont typeface="Calibri"/>
              <a:buNone/>
            </a:pPr>
            <a:r>
              <a:rPr lang="en-US" sz="127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• Visual Studio 2022</a:t>
            </a:r>
            <a:endParaRPr sz="127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70"/>
              <a:buFont typeface="Calibri"/>
              <a:buNone/>
            </a:pPr>
            <a:r>
              <a:rPr lang="en-US" sz="127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• DB Browser for SQLite</a:t>
            </a:r>
            <a:endParaRPr sz="127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5"/>
          <p:cNvSpPr/>
          <p:nvPr/>
        </p:nvSpPr>
        <p:spPr>
          <a:xfrm>
            <a:off x="11292840" y="6446520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32" tIns="0" rIns="27432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sz="900" b="0">
                <a:solidFill>
                  <a:srgbClr val="475569"/>
                </a:solidFill>
                <a:latin typeface="Calibri"/>
              </a:rPr>
              <a:t>5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AFB"/>
        </a:solidFill>
        <a:effectLst/>
      </p:bgPr>
    </p:bg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6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AFB"/>
          </a:solidFill>
          <a:ln w="12700" cap="flat" cmpd="sng">
            <a:solidFill>
              <a:srgbClr val="F9FAF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4" name="Google Shape;144;p6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991B1B"/>
          </a:solidFill>
          <a:ln w="12700" cap="flat" cmpd="sng">
            <a:solidFill>
              <a:srgbClr val="991B1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5" name="Google Shape;145;p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111827"/>
          </a:solidFill>
          <a:ln w="12700" cap="flat" cmpd="sng">
            <a:solidFill>
              <a:srgbClr val="1118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6" name="Google Shape;146;p6"/>
          <p:cNvSpPr/>
          <p:nvPr/>
        </p:nvSpPr>
        <p:spPr>
          <a:xfrm>
            <a:off x="502920" y="320040"/>
            <a:ext cx="996696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2700"/>
              <a:buFont typeface="Calibri"/>
              <a:buNone/>
            </a:pPr>
            <a:r>
              <a:rPr lang="en-US" sz="2700" b="1" i="0" u="none" strike="noStrike" cap="non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Общая архитектура системы</a:t>
            </a:r>
            <a:endParaRPr sz="2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6"/>
          <p:cNvSpPr/>
          <p:nvPr/>
        </p:nvSpPr>
        <p:spPr>
          <a:xfrm>
            <a:off x="530352" y="841248"/>
            <a:ext cx="1069848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50"/>
              <a:buFont typeface="Calibri"/>
              <a:buNone/>
            </a:pPr>
            <a:r>
              <a:rPr lang="en-US" sz="1350" b="0" i="0" u="none" strike="noStrike" cap="none">
                <a:solidFill>
                  <a:srgbClr val="4B5563"/>
                </a:solidFill>
                <a:latin typeface="Calibri"/>
                <a:ea typeface="Calibri"/>
                <a:cs typeface="Calibri"/>
                <a:sym typeface="Calibri"/>
              </a:rPr>
              <a:t>Клиенты обращаются к серверу; сервер управляет БД и запускает симуляции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48" name="Google Shape;148;p6"/>
          <p:cNvCxnSpPr/>
          <p:nvPr/>
        </p:nvCxnSpPr>
        <p:spPr>
          <a:xfrm>
            <a:off x="2834640" y="1874520"/>
            <a:ext cx="1737360" cy="594360"/>
          </a:xfrm>
          <a:prstGeom prst="straightConnector1">
            <a:avLst/>
          </a:prstGeom>
          <a:noFill/>
          <a:ln w="15225" cap="flat" cmpd="sng">
            <a:solidFill>
              <a:srgbClr val="6B7280"/>
            </a:solidFill>
            <a:prstDash val="solid"/>
            <a:round/>
            <a:headEnd type="none" w="sm" len="sm"/>
            <a:tailEnd type="triangle" w="med" len="med"/>
          </a:ln>
        </p:spPr>
      </p:cxnSp>
      <p:cxnSp>
        <p:nvCxnSpPr>
          <p:cNvPr id="149" name="Google Shape;149;p6"/>
          <p:cNvCxnSpPr/>
          <p:nvPr/>
        </p:nvCxnSpPr>
        <p:spPr>
          <a:xfrm rot="10800000" flipH="1">
            <a:off x="2834640" y="2834640"/>
            <a:ext cx="1737360" cy="137160"/>
          </a:xfrm>
          <a:prstGeom prst="straightConnector1">
            <a:avLst/>
          </a:prstGeom>
          <a:noFill/>
          <a:ln w="15225" cap="flat" cmpd="sng">
            <a:solidFill>
              <a:srgbClr val="6B7280"/>
            </a:solidFill>
            <a:prstDash val="solid"/>
            <a:round/>
            <a:headEnd type="none" w="sm" len="sm"/>
            <a:tailEnd type="triangle" w="med" len="med"/>
          </a:ln>
        </p:spPr>
      </p:cxnSp>
      <p:cxnSp>
        <p:nvCxnSpPr>
          <p:cNvPr id="150" name="Google Shape;150;p6"/>
          <p:cNvCxnSpPr/>
          <p:nvPr/>
        </p:nvCxnSpPr>
        <p:spPr>
          <a:xfrm rot="10800000" flipH="1">
            <a:off x="2834640" y="3200400"/>
            <a:ext cx="1737360" cy="868680"/>
          </a:xfrm>
          <a:prstGeom prst="straightConnector1">
            <a:avLst/>
          </a:prstGeom>
          <a:noFill/>
          <a:ln w="15225" cap="flat" cmpd="sng">
            <a:solidFill>
              <a:srgbClr val="6B7280"/>
            </a:solidFill>
            <a:prstDash val="solid"/>
            <a:round/>
            <a:headEnd type="none" w="sm" len="sm"/>
            <a:tailEnd type="triangle" w="med" len="med"/>
          </a:ln>
        </p:spPr>
      </p:cxnSp>
      <p:cxnSp>
        <p:nvCxnSpPr>
          <p:cNvPr id="151" name="Google Shape;151;p6"/>
          <p:cNvCxnSpPr/>
          <p:nvPr/>
        </p:nvCxnSpPr>
        <p:spPr>
          <a:xfrm rot="10800000" flipH="1">
            <a:off x="6629400" y="2148840"/>
            <a:ext cx="1280160" cy="685800"/>
          </a:xfrm>
          <a:prstGeom prst="straightConnector1">
            <a:avLst/>
          </a:prstGeom>
          <a:noFill/>
          <a:ln w="15225" cap="flat" cmpd="sng">
            <a:solidFill>
              <a:srgbClr val="6B7280"/>
            </a:solidFill>
            <a:prstDash val="solid"/>
            <a:round/>
            <a:headEnd type="none" w="sm" len="sm"/>
            <a:tailEnd type="triangle" w="med" len="med"/>
          </a:ln>
        </p:spPr>
      </p:cxnSp>
      <p:cxnSp>
        <p:nvCxnSpPr>
          <p:cNvPr id="152" name="Google Shape;152;p6"/>
          <p:cNvCxnSpPr/>
          <p:nvPr/>
        </p:nvCxnSpPr>
        <p:spPr>
          <a:xfrm>
            <a:off x="6629400" y="2834640"/>
            <a:ext cx="1280160" cy="411480"/>
          </a:xfrm>
          <a:prstGeom prst="straightConnector1">
            <a:avLst/>
          </a:prstGeom>
          <a:noFill/>
          <a:ln w="15225" cap="flat" cmpd="sng">
            <a:solidFill>
              <a:srgbClr val="6B7280"/>
            </a:solidFill>
            <a:prstDash val="solid"/>
            <a:round/>
            <a:headEnd type="none" w="sm" len="sm"/>
            <a:tailEnd type="triangle" w="med" len="med"/>
          </a:ln>
        </p:spPr>
      </p:cxnSp>
      <p:cxnSp>
        <p:nvCxnSpPr>
          <p:cNvPr id="153" name="Google Shape;153;p6"/>
          <p:cNvCxnSpPr/>
          <p:nvPr/>
        </p:nvCxnSpPr>
        <p:spPr>
          <a:xfrm>
            <a:off x="6629400" y="2834640"/>
            <a:ext cx="1280160" cy="1508760"/>
          </a:xfrm>
          <a:prstGeom prst="straightConnector1">
            <a:avLst/>
          </a:prstGeom>
          <a:noFill/>
          <a:ln w="15225" cap="flat" cmpd="sng">
            <a:solidFill>
              <a:srgbClr val="6B7280"/>
            </a:solidFill>
            <a:prstDash val="solid"/>
            <a:round/>
            <a:headEnd type="none" w="sm" len="sm"/>
            <a:tailEnd type="triangle" w="med" len="med"/>
          </a:ln>
        </p:spPr>
      </p:cxnSp>
      <p:cxnSp>
        <p:nvCxnSpPr>
          <p:cNvPr id="154" name="Google Shape;154;p6"/>
          <p:cNvCxnSpPr/>
          <p:nvPr/>
        </p:nvCxnSpPr>
        <p:spPr>
          <a:xfrm>
            <a:off x="10012680" y="3246120"/>
            <a:ext cx="731520" cy="0"/>
          </a:xfrm>
          <a:prstGeom prst="straightConnector1">
            <a:avLst/>
          </a:prstGeom>
          <a:noFill/>
          <a:ln w="15225" cap="flat" cmpd="sng">
            <a:solidFill>
              <a:srgbClr val="6B7280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155" name="Google Shape;155;p6"/>
          <p:cNvSpPr/>
          <p:nvPr/>
        </p:nvSpPr>
        <p:spPr>
          <a:xfrm>
            <a:off x="777240" y="1417320"/>
            <a:ext cx="2057400" cy="731520"/>
          </a:xfrm>
          <a:prstGeom prst="roundRect">
            <a:avLst>
              <a:gd name="adj" fmla="val 7500"/>
            </a:avLst>
          </a:prstGeom>
          <a:solidFill>
            <a:srgbClr val="DBEAFE"/>
          </a:solidFill>
          <a:ln w="12700" cap="flat" cmpd="sng">
            <a:solidFill>
              <a:srgbClr val="E5E7E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6" name="Google Shape;156;p6"/>
          <p:cNvSpPr/>
          <p:nvPr/>
        </p:nvSpPr>
        <p:spPr>
          <a:xfrm>
            <a:off x="832104" y="1472184"/>
            <a:ext cx="1947672" cy="621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0" tIns="250" rIns="250" bIns="250" anchor="ctr" anchorCtr="0">
            <a:norm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Web-клиент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Razor Pages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6"/>
          <p:cNvSpPr/>
          <p:nvPr/>
        </p:nvSpPr>
        <p:spPr>
          <a:xfrm>
            <a:off x="777240" y="2514600"/>
            <a:ext cx="2057400" cy="731520"/>
          </a:xfrm>
          <a:prstGeom prst="roundRect">
            <a:avLst>
              <a:gd name="adj" fmla="val 7500"/>
            </a:avLst>
          </a:prstGeom>
          <a:solidFill>
            <a:srgbClr val="D1FAE5"/>
          </a:solidFill>
          <a:ln w="12700" cap="flat" cmpd="sng">
            <a:solidFill>
              <a:srgbClr val="E5E7E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8" name="Google Shape;158;p6"/>
          <p:cNvSpPr/>
          <p:nvPr/>
        </p:nvSpPr>
        <p:spPr>
          <a:xfrm>
            <a:off x="832104" y="2569464"/>
            <a:ext cx="1947672" cy="621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0" tIns="250" rIns="250" bIns="250" anchor="ctr" anchorCtr="0">
            <a:norm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WPF-клиент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JWT + API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6"/>
          <p:cNvSpPr/>
          <p:nvPr/>
        </p:nvSpPr>
        <p:spPr>
          <a:xfrm>
            <a:off x="777240" y="3611880"/>
            <a:ext cx="2057400" cy="731520"/>
          </a:xfrm>
          <a:prstGeom prst="roundRect">
            <a:avLst>
              <a:gd name="adj" fmla="val 7500"/>
            </a:avLst>
          </a:prstGeom>
          <a:solidFill>
            <a:srgbClr val="FEF3C7"/>
          </a:solidFill>
          <a:ln w="12700" cap="flat" cmpd="sng">
            <a:solidFill>
              <a:srgbClr val="E5E7E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0" name="Google Shape;160;p6"/>
          <p:cNvSpPr/>
          <p:nvPr/>
        </p:nvSpPr>
        <p:spPr>
          <a:xfrm>
            <a:off x="832104" y="3666744"/>
            <a:ext cx="1947672" cy="621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0" tIns="250" rIns="250" bIns="250" anchor="ctr" anchorCtr="0">
            <a:norm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Swagger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тестирование API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6"/>
          <p:cNvSpPr/>
          <p:nvPr/>
        </p:nvSpPr>
        <p:spPr>
          <a:xfrm>
            <a:off x="4572000" y="2240280"/>
            <a:ext cx="2057400" cy="1097280"/>
          </a:xfrm>
          <a:prstGeom prst="roundRect">
            <a:avLst>
              <a:gd name="adj" fmla="val 5000"/>
            </a:avLst>
          </a:prstGeom>
          <a:solidFill>
            <a:srgbClr val="111827"/>
          </a:solidFill>
          <a:ln w="12700" cap="flat" cmpd="sng">
            <a:solidFill>
              <a:srgbClr val="1118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2" name="Google Shape;162;p6"/>
          <p:cNvSpPr/>
          <p:nvPr/>
        </p:nvSpPr>
        <p:spPr>
          <a:xfrm>
            <a:off x="4626864" y="2295144"/>
            <a:ext cx="1947672" cy="9875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0" tIns="250" rIns="250" bIns="250" anchor="ctr" anchorCtr="0">
            <a:norm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ASP.NET Core Server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Controllers + PageServices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6"/>
          <p:cNvSpPr/>
          <p:nvPr/>
        </p:nvSpPr>
        <p:spPr>
          <a:xfrm>
            <a:off x="7909560" y="1783080"/>
            <a:ext cx="2103120" cy="685800"/>
          </a:xfrm>
          <a:prstGeom prst="roundRect">
            <a:avLst>
              <a:gd name="adj" fmla="val 8000"/>
            </a:avLst>
          </a:prstGeom>
          <a:solidFill>
            <a:srgbClr val="EDE9FE"/>
          </a:solidFill>
          <a:ln w="12700" cap="flat" cmpd="sng">
            <a:solidFill>
              <a:srgbClr val="E5E7E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" name="Google Shape;164;p6"/>
          <p:cNvSpPr/>
          <p:nvPr/>
        </p:nvSpPr>
        <p:spPr>
          <a:xfrm>
            <a:off x="7964424" y="1837944"/>
            <a:ext cx="1993392" cy="576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0" tIns="250" rIns="250" bIns="250" anchor="ctr" anchorCtr="0">
            <a:norm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Identity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роли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6"/>
          <p:cNvSpPr/>
          <p:nvPr/>
        </p:nvSpPr>
        <p:spPr>
          <a:xfrm>
            <a:off x="7909560" y="2880360"/>
            <a:ext cx="2103120" cy="685800"/>
          </a:xfrm>
          <a:prstGeom prst="roundRect">
            <a:avLst>
              <a:gd name="adj" fmla="val 8000"/>
            </a:avLst>
          </a:prstGeom>
          <a:solidFill>
            <a:srgbClr val="FEE2E2"/>
          </a:solidFill>
          <a:ln w="12700" cap="flat" cmpd="sng">
            <a:solidFill>
              <a:srgbClr val="E5E7E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6" name="Google Shape;166;p6"/>
          <p:cNvSpPr/>
          <p:nvPr/>
        </p:nvSpPr>
        <p:spPr>
          <a:xfrm>
            <a:off x="7964424" y="2935224"/>
            <a:ext cx="1993392" cy="576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0" tIns="250" rIns="250" bIns="250" anchor="ctr" anchorCtr="0">
            <a:norm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Simulation Engine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многопоточный расчёт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6"/>
          <p:cNvSpPr/>
          <p:nvPr/>
        </p:nvSpPr>
        <p:spPr>
          <a:xfrm>
            <a:off x="7909560" y="3977640"/>
            <a:ext cx="2103120" cy="685800"/>
          </a:xfrm>
          <a:prstGeom prst="roundRect">
            <a:avLst>
              <a:gd name="adj" fmla="val 8000"/>
            </a:avLst>
          </a:prstGeom>
          <a:solidFill>
            <a:srgbClr val="DBEAFE"/>
          </a:solidFill>
          <a:ln w="12700" cap="flat" cmpd="sng">
            <a:solidFill>
              <a:srgbClr val="E5E7E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8" name="Google Shape;168;p6"/>
          <p:cNvSpPr/>
          <p:nvPr/>
        </p:nvSpPr>
        <p:spPr>
          <a:xfrm>
            <a:off x="7964424" y="4032504"/>
            <a:ext cx="1993392" cy="576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0" tIns="250" rIns="250" bIns="250" anchor="ctr" anchorCtr="0">
            <a:norm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EF Core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6"/>
          <p:cNvSpPr/>
          <p:nvPr/>
        </p:nvSpPr>
        <p:spPr>
          <a:xfrm>
            <a:off x="10744200" y="2834640"/>
            <a:ext cx="1143000" cy="822960"/>
          </a:xfrm>
          <a:prstGeom prst="roundRect">
            <a:avLst>
              <a:gd name="adj" fmla="val 6667"/>
            </a:avLst>
          </a:prstGeom>
          <a:solidFill>
            <a:srgbClr val="E5E7EB"/>
          </a:solidFill>
          <a:ln w="12700" cap="flat" cmpd="sng">
            <a:solidFill>
              <a:srgbClr val="E5E7E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0" name="Google Shape;170;p6"/>
          <p:cNvSpPr/>
          <p:nvPr/>
        </p:nvSpPr>
        <p:spPr>
          <a:xfrm>
            <a:off x="10799064" y="2889504"/>
            <a:ext cx="1033272" cy="713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0" tIns="250" rIns="250" bIns="250" anchor="ctr" anchorCtr="0">
            <a:normAutofit fontScale="92500" lnSpcReduction="10000"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300"/>
              <a:buFont typeface="Calibri"/>
              <a:buNone/>
            </a:pPr>
            <a:r>
              <a:rPr lang="en-US" sz="1300" b="1" i="0" u="none" strike="noStrike" cap="none" dirty="0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SQLite DB</a:t>
            </a:r>
            <a:endParaRPr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300"/>
              <a:buFont typeface="Calibri"/>
              <a:buNone/>
            </a:pPr>
            <a:r>
              <a:rPr lang="en-US" sz="1300" b="1" i="0" u="none" strike="noStrike" cap="none" dirty="0" err="1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игровые</a:t>
            </a:r>
            <a:r>
              <a:rPr lang="en-US" sz="1300" b="1" i="0" u="none" strike="noStrike" cap="none" dirty="0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300" b="1" i="0" u="none" strike="noStrike" cap="none" dirty="0" err="1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данные</a:t>
            </a:r>
            <a:r>
              <a:rPr lang="en-US" sz="1300" b="1" i="0" u="none" strike="noStrike" cap="none" dirty="0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 и </a:t>
            </a:r>
            <a:r>
              <a:rPr lang="en-US" sz="1300" b="1" i="0" u="none" strike="noStrike" cap="none" dirty="0" err="1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результаты</a:t>
            </a:r>
            <a:endParaRPr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6"/>
          <p:cNvSpPr/>
          <p:nvPr/>
        </p:nvSpPr>
        <p:spPr>
          <a:xfrm>
            <a:off x="11292840" y="6446520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32" tIns="0" rIns="27432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sz="900" b="0">
                <a:solidFill>
                  <a:srgbClr val="475569"/>
                </a:solidFill>
                <a:latin typeface="Calibri"/>
              </a:rPr>
              <a:t>6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AFB"/>
        </a:solidFill>
        <a:effectLst/>
      </p:bgPr>
    </p:bg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7"/>
          <p:cNvSpPr/>
          <p:nvPr/>
        </p:nvSpPr>
        <p:spPr>
          <a:xfrm>
            <a:off x="0" y="0"/>
            <a:ext cx="12191700" cy="6858000"/>
          </a:xfrm>
          <a:prstGeom prst="rect">
            <a:avLst/>
          </a:prstGeom>
          <a:solidFill>
            <a:srgbClr val="F9FAFB"/>
          </a:solidFill>
          <a:ln w="12700" cap="flat" cmpd="sng">
            <a:solidFill>
              <a:srgbClr val="F9FAF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9" name="Google Shape;179;p7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991B1B"/>
          </a:solidFill>
          <a:ln w="12700" cap="flat" cmpd="sng">
            <a:solidFill>
              <a:srgbClr val="991B1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0" name="Google Shape;180;p7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111827"/>
          </a:solidFill>
          <a:ln w="12700" cap="flat" cmpd="sng">
            <a:solidFill>
              <a:srgbClr val="1118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1" name="Google Shape;181;p7"/>
          <p:cNvSpPr/>
          <p:nvPr/>
        </p:nvSpPr>
        <p:spPr>
          <a:xfrm>
            <a:off x="502920" y="320040"/>
            <a:ext cx="996696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2700"/>
              <a:buFont typeface="Calibri"/>
              <a:buNone/>
            </a:pPr>
            <a:r>
              <a:rPr lang="en-US" sz="2700" b="1" i="0" u="none" strike="noStrike" cap="non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Диаграмма прецедентов</a:t>
            </a:r>
            <a:endParaRPr sz="2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7"/>
          <p:cNvSpPr/>
          <p:nvPr/>
        </p:nvSpPr>
        <p:spPr>
          <a:xfrm>
            <a:off x="530352" y="841248"/>
            <a:ext cx="1069848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50"/>
              <a:buFont typeface="Calibri"/>
              <a:buNone/>
            </a:pPr>
            <a:r>
              <a:rPr lang="en-US" sz="1350" b="0" i="0" u="none" strike="noStrike" cap="none">
                <a:solidFill>
                  <a:srgbClr val="4B5563"/>
                </a:solidFill>
                <a:latin typeface="Calibri"/>
                <a:ea typeface="Calibri"/>
                <a:cs typeface="Calibri"/>
                <a:sym typeface="Calibri"/>
              </a:rPr>
              <a:t>Основные сценарии использования системы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7"/>
          <p:cNvSpPr/>
          <p:nvPr/>
        </p:nvSpPr>
        <p:spPr>
          <a:xfrm>
            <a:off x="5497625" y="2473840"/>
            <a:ext cx="1508700" cy="594300"/>
          </a:xfrm>
          <a:prstGeom prst="roundRect">
            <a:avLst>
              <a:gd name="adj" fmla="val 9231"/>
            </a:avLst>
          </a:prstGeom>
          <a:solidFill>
            <a:srgbClr val="111827"/>
          </a:solidFill>
          <a:ln w="12700" cap="flat" cmpd="sng">
            <a:solidFill>
              <a:srgbClr val="1118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4" name="Google Shape;184;p7"/>
          <p:cNvSpPr/>
          <p:nvPr/>
        </p:nvSpPr>
        <p:spPr>
          <a:xfrm>
            <a:off x="5552489" y="2528704"/>
            <a:ext cx="1398900" cy="48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0" tIns="250" rIns="250" bIns="250" anchor="ctr" anchorCtr="0">
            <a:norm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Администратор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7"/>
          <p:cNvSpPr/>
          <p:nvPr/>
        </p:nvSpPr>
        <p:spPr>
          <a:xfrm>
            <a:off x="5470163" y="3401993"/>
            <a:ext cx="1508700" cy="594300"/>
          </a:xfrm>
          <a:prstGeom prst="roundRect">
            <a:avLst>
              <a:gd name="adj" fmla="val 9231"/>
            </a:avLst>
          </a:prstGeom>
          <a:solidFill>
            <a:srgbClr val="111827"/>
          </a:solidFill>
          <a:ln w="12700" cap="flat" cmpd="sng">
            <a:solidFill>
              <a:srgbClr val="1118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6" name="Google Shape;186;p7"/>
          <p:cNvSpPr/>
          <p:nvPr/>
        </p:nvSpPr>
        <p:spPr>
          <a:xfrm>
            <a:off x="5525052" y="3456894"/>
            <a:ext cx="1398900" cy="48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0" tIns="250" rIns="250" bIns="250" anchor="ctr" anchorCtr="0">
            <a:norm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1" i="0" u="none" strike="noStrike" cap="none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Пользователь</a:t>
            </a:r>
            <a:endParaRPr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7"/>
          <p:cNvSpPr/>
          <p:nvPr/>
        </p:nvSpPr>
        <p:spPr>
          <a:xfrm>
            <a:off x="8527270" y="2245433"/>
            <a:ext cx="2423100" cy="502800"/>
          </a:xfrm>
          <a:prstGeom prst="roundRect">
            <a:avLst>
              <a:gd name="adj" fmla="val 10909"/>
            </a:avLst>
          </a:prstGeom>
          <a:solidFill>
            <a:srgbClr val="D1FAE5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8" name="Google Shape;188;p7"/>
          <p:cNvSpPr/>
          <p:nvPr/>
        </p:nvSpPr>
        <p:spPr>
          <a:xfrm>
            <a:off x="8582134" y="2300297"/>
            <a:ext cx="2313300" cy="39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0" tIns="250" rIns="250" bIns="250" anchor="ctr" anchorCtr="0">
            <a:norm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Вход / регистрация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7"/>
          <p:cNvSpPr/>
          <p:nvPr/>
        </p:nvSpPr>
        <p:spPr>
          <a:xfrm>
            <a:off x="8527270" y="3251273"/>
            <a:ext cx="2423100" cy="502800"/>
          </a:xfrm>
          <a:prstGeom prst="roundRect">
            <a:avLst>
              <a:gd name="adj" fmla="val 10909"/>
            </a:avLst>
          </a:prstGeom>
          <a:solidFill>
            <a:srgbClr val="D1FAE5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0" name="Google Shape;190;p7"/>
          <p:cNvSpPr/>
          <p:nvPr/>
        </p:nvSpPr>
        <p:spPr>
          <a:xfrm>
            <a:off x="8582134" y="3306137"/>
            <a:ext cx="2313300" cy="39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0" tIns="250" rIns="250" bIns="250" anchor="ctr" anchorCtr="0">
            <a:norm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Запуск симуляции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7"/>
          <p:cNvSpPr/>
          <p:nvPr/>
        </p:nvSpPr>
        <p:spPr>
          <a:xfrm>
            <a:off x="8527270" y="4257113"/>
            <a:ext cx="2423100" cy="502800"/>
          </a:xfrm>
          <a:prstGeom prst="roundRect">
            <a:avLst>
              <a:gd name="adj" fmla="val 10909"/>
            </a:avLst>
          </a:prstGeom>
          <a:solidFill>
            <a:srgbClr val="D1FAE5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2" name="Google Shape;192;p7"/>
          <p:cNvSpPr/>
          <p:nvPr/>
        </p:nvSpPr>
        <p:spPr>
          <a:xfrm>
            <a:off x="8582134" y="4311977"/>
            <a:ext cx="2313300" cy="39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0" tIns="250" rIns="250" bIns="250" anchor="ctr" anchorCtr="0">
            <a:norm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Выбор потоков и сохранения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7"/>
          <p:cNvSpPr/>
          <p:nvPr/>
        </p:nvSpPr>
        <p:spPr>
          <a:xfrm>
            <a:off x="8527270" y="5262953"/>
            <a:ext cx="2423100" cy="502800"/>
          </a:xfrm>
          <a:prstGeom prst="roundRect">
            <a:avLst>
              <a:gd name="adj" fmla="val 10909"/>
            </a:avLst>
          </a:prstGeom>
          <a:solidFill>
            <a:srgbClr val="D1FAE5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4" name="Google Shape;194;p7"/>
          <p:cNvSpPr/>
          <p:nvPr/>
        </p:nvSpPr>
        <p:spPr>
          <a:xfrm>
            <a:off x="8582134" y="5317817"/>
            <a:ext cx="2313300" cy="39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0" tIns="250" rIns="250" bIns="250" anchor="ctr" anchorCtr="0">
            <a:norm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Просмотр статистики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7"/>
          <p:cNvSpPr/>
          <p:nvPr/>
        </p:nvSpPr>
        <p:spPr>
          <a:xfrm>
            <a:off x="3429000" y="5212080"/>
            <a:ext cx="530352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500"/>
              <a:buFont typeface="Calibri"/>
              <a:buNone/>
            </a:pPr>
            <a:r>
              <a:rPr lang="en-US" sz="1500" b="0" i="0" u="none" strike="noStrike" cap="none">
                <a:solidFill>
                  <a:srgbClr val="4B5563"/>
                </a:solidFill>
                <a:latin typeface="Calibri"/>
                <a:ea typeface="Calibri"/>
                <a:cs typeface="Calibri"/>
                <a:sym typeface="Calibri"/>
              </a:rPr>
              <a:t>Web: админка + </a:t>
            </a:r>
            <a:r>
              <a:rPr lang="en-US" sz="1500">
                <a:solidFill>
                  <a:srgbClr val="4B5563"/>
                </a:solidFill>
                <a:latin typeface="Calibri"/>
                <a:ea typeface="Calibri"/>
                <a:cs typeface="Calibri"/>
                <a:sym typeface="Calibri"/>
              </a:rPr>
              <a:t>симуляции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500"/>
              <a:buFont typeface="Calibri"/>
              <a:buNone/>
            </a:pPr>
            <a:r>
              <a:rPr lang="en-US" sz="1500" b="0" i="0" u="none" strike="noStrike" cap="none">
                <a:solidFill>
                  <a:srgbClr val="4B5563"/>
                </a:solidFill>
                <a:latin typeface="Calibri"/>
                <a:ea typeface="Calibri"/>
                <a:cs typeface="Calibri"/>
                <a:sym typeface="Calibri"/>
              </a:rPr>
              <a:t>WPF: симуляци</a:t>
            </a:r>
            <a:r>
              <a:rPr lang="en-US" sz="1500">
                <a:solidFill>
                  <a:srgbClr val="4B5563"/>
                </a:solidFill>
                <a:latin typeface="Calibri"/>
                <a:ea typeface="Calibri"/>
                <a:cs typeface="Calibri"/>
                <a:sym typeface="Calibri"/>
              </a:rPr>
              <a:t>и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7"/>
          <p:cNvSpPr/>
          <p:nvPr/>
        </p:nvSpPr>
        <p:spPr>
          <a:xfrm>
            <a:off x="11292840" y="6446520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32" tIns="0" rIns="27432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sz="900" b="0">
                <a:solidFill>
                  <a:srgbClr val="475569"/>
                </a:solidFill>
                <a:latin typeface="Calibri"/>
              </a:rPr>
              <a:t>7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7"/>
          <p:cNvSpPr/>
          <p:nvPr/>
        </p:nvSpPr>
        <p:spPr>
          <a:xfrm>
            <a:off x="1553588" y="1713645"/>
            <a:ext cx="2423100" cy="502800"/>
          </a:xfrm>
          <a:prstGeom prst="roundRect">
            <a:avLst>
              <a:gd name="adj" fmla="val 10909"/>
            </a:avLst>
          </a:prstGeom>
          <a:solidFill>
            <a:srgbClr val="DBEAFE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" name="Google Shape;199;p7"/>
          <p:cNvSpPr/>
          <p:nvPr/>
        </p:nvSpPr>
        <p:spPr>
          <a:xfrm>
            <a:off x="1608452" y="1768509"/>
            <a:ext cx="2313300" cy="39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0" tIns="250" rIns="250" bIns="25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CRUD оружия, правил, варгира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7"/>
          <p:cNvSpPr/>
          <p:nvPr/>
        </p:nvSpPr>
        <p:spPr>
          <a:xfrm>
            <a:off x="1553588" y="2536605"/>
            <a:ext cx="2423100" cy="502800"/>
          </a:xfrm>
          <a:prstGeom prst="roundRect">
            <a:avLst>
              <a:gd name="adj" fmla="val 10909"/>
            </a:avLst>
          </a:prstGeom>
          <a:solidFill>
            <a:srgbClr val="DBEAFE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1" name="Google Shape;201;p7"/>
          <p:cNvSpPr/>
          <p:nvPr/>
        </p:nvSpPr>
        <p:spPr>
          <a:xfrm>
            <a:off x="1608452" y="2591469"/>
            <a:ext cx="2313300" cy="39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0" tIns="250" rIns="250" bIns="25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CRUD моделей и юнитов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7"/>
          <p:cNvSpPr/>
          <p:nvPr/>
        </p:nvSpPr>
        <p:spPr>
          <a:xfrm>
            <a:off x="1553563" y="3300128"/>
            <a:ext cx="2423100" cy="502800"/>
          </a:xfrm>
          <a:prstGeom prst="roundRect">
            <a:avLst>
              <a:gd name="adj" fmla="val 10909"/>
            </a:avLst>
          </a:prstGeom>
          <a:solidFill>
            <a:srgbClr val="DBEAFE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3" name="Google Shape;203;p7"/>
          <p:cNvSpPr/>
          <p:nvPr/>
        </p:nvSpPr>
        <p:spPr>
          <a:xfrm>
            <a:off x="1608452" y="3354879"/>
            <a:ext cx="2313300" cy="39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0" tIns="250" rIns="250" bIns="25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Просмотр результатов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7"/>
          <p:cNvSpPr/>
          <p:nvPr/>
        </p:nvSpPr>
        <p:spPr>
          <a:xfrm>
            <a:off x="1386625" y="1472175"/>
            <a:ext cx="2757000" cy="2594400"/>
          </a:xfrm>
          <a:prstGeom prst="roundRect">
            <a:avLst>
              <a:gd name="adj" fmla="val 16667"/>
            </a:avLst>
          </a:prstGeom>
          <a:noFill/>
          <a:ln w="12700" cap="flat" cmpd="sng">
            <a:solidFill>
              <a:srgbClr val="DBEAF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5" name="Google Shape;205;p7"/>
          <p:cNvSpPr/>
          <p:nvPr/>
        </p:nvSpPr>
        <p:spPr>
          <a:xfrm>
            <a:off x="8360338" y="1996838"/>
            <a:ext cx="2757000" cy="4017600"/>
          </a:xfrm>
          <a:prstGeom prst="roundRect">
            <a:avLst>
              <a:gd name="adj" fmla="val 16667"/>
            </a:avLst>
          </a:prstGeom>
          <a:noFill/>
          <a:ln w="12700" cap="flat" cmpd="sng">
            <a:solidFill>
              <a:srgbClr val="D1FAE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206" name="Google Shape;206;p7"/>
          <p:cNvCxnSpPr>
            <a:cxnSpLocks/>
            <a:stCxn id="183" idx="1"/>
            <a:endCxn id="204" idx="3"/>
          </p:cNvCxnSpPr>
          <p:nvPr/>
        </p:nvCxnSpPr>
        <p:spPr>
          <a:xfrm flipH="1" flipV="1">
            <a:off x="4143625" y="2769375"/>
            <a:ext cx="1354000" cy="1615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07" name="Google Shape;207;p7"/>
          <p:cNvCxnSpPr>
            <a:cxnSpLocks/>
            <a:stCxn id="183" idx="3"/>
          </p:cNvCxnSpPr>
          <p:nvPr/>
        </p:nvCxnSpPr>
        <p:spPr>
          <a:xfrm>
            <a:off x="7006325" y="2770990"/>
            <a:ext cx="1354013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08" name="Google Shape;208;p7"/>
          <p:cNvCxnSpPr>
            <a:cxnSpLocks/>
            <a:stCxn id="185" idx="3"/>
          </p:cNvCxnSpPr>
          <p:nvPr/>
        </p:nvCxnSpPr>
        <p:spPr>
          <a:xfrm>
            <a:off x="6978863" y="3699143"/>
            <a:ext cx="1400989" cy="1501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AFB"/>
        </a:solidFill>
        <a:effectLst/>
      </p:bgPr>
    </p:bg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8"/>
          <p:cNvSpPr/>
          <p:nvPr/>
        </p:nvSpPr>
        <p:spPr>
          <a:xfrm>
            <a:off x="502920" y="320040"/>
            <a:ext cx="996696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2700"/>
              <a:buFont typeface="Calibri"/>
              <a:buNone/>
            </a:pPr>
            <a:r>
              <a:rPr lang="en-US" sz="2700" b="1" i="0" u="none" strike="noStrike" cap="non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Диаграмма базы данных</a:t>
            </a:r>
            <a:endParaRPr sz="2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8"/>
          <p:cNvSpPr/>
          <p:nvPr/>
        </p:nvSpPr>
        <p:spPr>
          <a:xfrm>
            <a:off x="530352" y="841248"/>
            <a:ext cx="1069848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6576" tIns="18288" rIns="36576" bIns="18288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50"/>
              <a:buFont typeface="Calibri"/>
              <a:buNone/>
            </a:pPr>
            <a:r>
              <a:rPr sz="1200" b="0">
                <a:solidFill>
                  <a:srgbClr val="475569"/>
                </a:solidFill>
                <a:latin typeface="Calibri"/>
              </a:rPr>
              <a:t>Все таблицы БД и основные связи между ними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8"/>
          <p:cNvSpPr/>
          <p:nvPr/>
        </p:nvSpPr>
        <p:spPr>
          <a:xfrm>
            <a:off x="11292840" y="6446520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32" tIns="0" rIns="27432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sz="900" b="0">
                <a:solidFill>
                  <a:srgbClr val="475569"/>
                </a:solidFill>
                <a:latin typeface="Calibri"/>
              </a:rPr>
              <a:t>8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TextBox 256"/>
          <p:cNvSpPr txBox="1"/>
          <p:nvPr/>
        </p:nvSpPr>
        <p:spPr>
          <a:xfrm>
            <a:off x="594360" y="1051560"/>
            <a:ext cx="10972800" cy="201168"/>
          </a:xfrm>
          <a:prstGeom prst="rect">
            <a:avLst/>
          </a:prstGeom>
          <a:noFill/>
        </p:spPr>
        <p:txBody>
          <a:bodyPr wrap="none" lIns="36576" tIns="18288" rIns="36576" bIns="18288">
            <a:spAutoFit/>
          </a:bodyPr>
          <a:lstStyle/>
          <a:p>
            <a:pPr algn="l"/>
            <a:r>
              <a:rPr sz="800" b="0">
                <a:solidFill>
                  <a:srgbClr val="475569"/>
                </a:solidFill>
                <a:latin typeface="Calibri"/>
              </a:rPr>
              <a:t>Все таблицы показаны отдельно; типы связей указаны в виде: Таблица —1:N→ Таблица.</a:t>
            </a:r>
          </a:p>
        </p:txBody>
      </p:sp>
      <p:sp>
        <p:nvSpPr>
          <p:cNvPr id="258" name="Rounded Rectangle 257"/>
          <p:cNvSpPr/>
          <p:nvPr/>
        </p:nvSpPr>
        <p:spPr>
          <a:xfrm>
            <a:off x="548640" y="1325880"/>
            <a:ext cx="5623560" cy="1965960"/>
          </a:xfrm>
          <a:prstGeom prst="roundRect">
            <a:avLst/>
          </a:prstGeom>
          <a:solidFill>
            <a:srgbClr val="F8FAFC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9" name="TextBox 258"/>
          <p:cNvSpPr txBox="1"/>
          <p:nvPr/>
        </p:nvSpPr>
        <p:spPr>
          <a:xfrm>
            <a:off x="658368" y="1389888"/>
            <a:ext cx="5404104" cy="182880"/>
          </a:xfrm>
          <a:prstGeom prst="rect">
            <a:avLst/>
          </a:prstGeom>
          <a:noFill/>
        </p:spPr>
        <p:txBody>
          <a:bodyPr wrap="none" lIns="36576" tIns="18288" rIns="36576" bIns="18288">
            <a:spAutoFit/>
          </a:bodyPr>
          <a:lstStyle/>
          <a:p>
            <a:pPr algn="l"/>
            <a:r>
              <a:rPr sz="850" b="1">
                <a:solidFill>
                  <a:srgbClr val="047857"/>
                </a:solidFill>
                <a:latin typeface="Calibri"/>
              </a:rPr>
              <a:t>Предметные таблицы</a:t>
            </a:r>
          </a:p>
        </p:txBody>
      </p:sp>
      <p:sp>
        <p:nvSpPr>
          <p:cNvPr id="260" name="Rounded Rectangle 259"/>
          <p:cNvSpPr/>
          <p:nvPr/>
        </p:nvSpPr>
        <p:spPr>
          <a:xfrm>
            <a:off x="6355080" y="1325880"/>
            <a:ext cx="1874519" cy="1965960"/>
          </a:xfrm>
          <a:prstGeom prst="roundRect">
            <a:avLst/>
          </a:prstGeom>
          <a:solidFill>
            <a:srgbClr val="F8FAFC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1" name="TextBox 260"/>
          <p:cNvSpPr txBox="1"/>
          <p:nvPr/>
        </p:nvSpPr>
        <p:spPr>
          <a:xfrm>
            <a:off x="6464808" y="1389888"/>
            <a:ext cx="1655063" cy="182880"/>
          </a:xfrm>
          <a:prstGeom prst="rect">
            <a:avLst/>
          </a:prstGeom>
          <a:noFill/>
        </p:spPr>
        <p:txBody>
          <a:bodyPr wrap="none" lIns="36576" tIns="18288" rIns="36576" bIns="18288">
            <a:spAutoFit/>
          </a:bodyPr>
          <a:lstStyle/>
          <a:p>
            <a:pPr algn="l"/>
            <a:r>
              <a:rPr sz="850" b="1">
                <a:solidFill>
                  <a:srgbClr val="B91C1C"/>
                </a:solidFill>
                <a:latin typeface="Calibri"/>
              </a:rPr>
              <a:t>Результаты расчётов</a:t>
            </a:r>
          </a:p>
        </p:txBody>
      </p:sp>
      <p:sp>
        <p:nvSpPr>
          <p:cNvPr id="262" name="Rounded Rectangle 261"/>
          <p:cNvSpPr/>
          <p:nvPr/>
        </p:nvSpPr>
        <p:spPr>
          <a:xfrm>
            <a:off x="8458200" y="1325880"/>
            <a:ext cx="3063240" cy="1965960"/>
          </a:xfrm>
          <a:prstGeom prst="roundRect">
            <a:avLst/>
          </a:prstGeom>
          <a:solidFill>
            <a:srgbClr val="F8FAFC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3" name="TextBox 262"/>
          <p:cNvSpPr txBox="1"/>
          <p:nvPr/>
        </p:nvSpPr>
        <p:spPr>
          <a:xfrm>
            <a:off x="8567928" y="1389888"/>
            <a:ext cx="2843784" cy="182880"/>
          </a:xfrm>
          <a:prstGeom prst="rect">
            <a:avLst/>
          </a:prstGeom>
          <a:noFill/>
        </p:spPr>
        <p:txBody>
          <a:bodyPr wrap="none" lIns="36576" tIns="18288" rIns="36576" bIns="18288">
            <a:spAutoFit/>
          </a:bodyPr>
          <a:lstStyle/>
          <a:p>
            <a:pPr algn="l"/>
            <a:r>
              <a:rPr sz="850" b="1">
                <a:solidFill>
                  <a:srgbClr val="2563EB"/>
                </a:solidFill>
                <a:latin typeface="Calibri"/>
              </a:rPr>
              <a:t>Identity</a:t>
            </a:r>
          </a:p>
        </p:txBody>
      </p:sp>
      <p:sp>
        <p:nvSpPr>
          <p:cNvPr id="264" name="Rounded Rectangle 263"/>
          <p:cNvSpPr/>
          <p:nvPr/>
        </p:nvSpPr>
        <p:spPr>
          <a:xfrm>
            <a:off x="548640" y="3520440"/>
            <a:ext cx="2788920" cy="1051560"/>
          </a:xfrm>
          <a:prstGeom prst="roundRect">
            <a:avLst/>
          </a:prstGeom>
          <a:solidFill>
            <a:srgbClr val="F8FAFC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5" name="TextBox 264"/>
          <p:cNvSpPr txBox="1"/>
          <p:nvPr/>
        </p:nvSpPr>
        <p:spPr>
          <a:xfrm>
            <a:off x="658368" y="3584448"/>
            <a:ext cx="2569463" cy="182880"/>
          </a:xfrm>
          <a:prstGeom prst="rect">
            <a:avLst/>
          </a:prstGeom>
          <a:noFill/>
        </p:spPr>
        <p:txBody>
          <a:bodyPr wrap="none" lIns="36576" tIns="18288" rIns="36576" bIns="18288">
            <a:spAutoFit/>
          </a:bodyPr>
          <a:lstStyle/>
          <a:p>
            <a:pPr algn="l"/>
            <a:r>
              <a:rPr sz="850" b="1">
                <a:solidFill>
                  <a:srgbClr val="475569"/>
                </a:solidFill>
                <a:latin typeface="Calibri"/>
              </a:rPr>
              <a:t>EF Core / SQLite</a:t>
            </a:r>
          </a:p>
        </p:txBody>
      </p:sp>
      <p:sp>
        <p:nvSpPr>
          <p:cNvPr id="266" name="Rounded Rectangle 265"/>
          <p:cNvSpPr/>
          <p:nvPr/>
        </p:nvSpPr>
        <p:spPr>
          <a:xfrm>
            <a:off x="3520440" y="3520440"/>
            <a:ext cx="8001000" cy="2670048"/>
          </a:xfrm>
          <a:prstGeom prst="roundRect">
            <a:avLst/>
          </a:prstGeom>
          <a:solidFill>
            <a:srgbClr val="F8FAFC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7" name="TextBox 266"/>
          <p:cNvSpPr txBox="1"/>
          <p:nvPr/>
        </p:nvSpPr>
        <p:spPr>
          <a:xfrm>
            <a:off x="3703320" y="3584448"/>
            <a:ext cx="7708392" cy="167738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850" b="1" dirty="0" err="1">
                <a:solidFill>
                  <a:srgbClr val="111827"/>
                </a:solidFill>
                <a:latin typeface="Calibri"/>
              </a:rPr>
              <a:t>Основные</a:t>
            </a:r>
            <a:r>
              <a:rPr sz="850" b="1" dirty="0">
                <a:solidFill>
                  <a:srgbClr val="111827"/>
                </a:solidFill>
                <a:latin typeface="Calibri"/>
              </a:rPr>
              <a:t> </a:t>
            </a:r>
            <a:r>
              <a:rPr sz="850" b="1" dirty="0" err="1">
                <a:solidFill>
                  <a:srgbClr val="111827"/>
                </a:solidFill>
                <a:latin typeface="Calibri"/>
              </a:rPr>
              <a:t>связи</a:t>
            </a:r>
            <a:endParaRPr sz="850" b="1" dirty="0">
              <a:solidFill>
                <a:srgbClr val="111827"/>
              </a:solidFill>
              <a:latin typeface="Calibri"/>
            </a:endParaRPr>
          </a:p>
        </p:txBody>
      </p:sp>
      <p:sp>
        <p:nvSpPr>
          <p:cNvPr id="268" name="Rounded Rectangle 267"/>
          <p:cNvSpPr/>
          <p:nvPr/>
        </p:nvSpPr>
        <p:spPr>
          <a:xfrm>
            <a:off x="713232" y="1664208"/>
            <a:ext cx="1216152" cy="274320"/>
          </a:xfrm>
          <a:prstGeom prst="roundRect">
            <a:avLst/>
          </a:prstGeom>
          <a:solidFill>
            <a:srgbClr val="ECFDF5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18288" rIns="36576" bIns="18288" rtlCol="0" anchor="ctr"/>
          <a:lstStyle/>
          <a:p>
            <a:pPr algn="ctr"/>
            <a:r>
              <a:rPr sz="680" b="1">
                <a:solidFill>
                  <a:srgbClr val="0F172A"/>
                </a:solidFill>
                <a:latin typeface="Calibri"/>
              </a:rPr>
              <a:t>Units</a:t>
            </a:r>
          </a:p>
        </p:txBody>
      </p:sp>
      <p:sp>
        <p:nvSpPr>
          <p:cNvPr id="269" name="Rounded Rectangle 268"/>
          <p:cNvSpPr/>
          <p:nvPr/>
        </p:nvSpPr>
        <p:spPr>
          <a:xfrm>
            <a:off x="2039112" y="1664208"/>
            <a:ext cx="1216152" cy="274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18288" rIns="36576" bIns="18288" rtlCol="0" anchor="ctr"/>
          <a:lstStyle/>
          <a:p>
            <a:pPr algn="ctr"/>
            <a:r>
              <a:rPr sz="680" b="0">
                <a:solidFill>
                  <a:srgbClr val="0F172A"/>
                </a:solidFill>
                <a:latin typeface="Calibri"/>
              </a:rPr>
              <a:t>UnitModels</a:t>
            </a:r>
          </a:p>
        </p:txBody>
      </p:sp>
      <p:sp>
        <p:nvSpPr>
          <p:cNvPr id="270" name="Rounded Rectangle 269"/>
          <p:cNvSpPr/>
          <p:nvPr/>
        </p:nvSpPr>
        <p:spPr>
          <a:xfrm>
            <a:off x="3364991" y="1664208"/>
            <a:ext cx="1216152" cy="274320"/>
          </a:xfrm>
          <a:prstGeom prst="roundRect">
            <a:avLst/>
          </a:prstGeom>
          <a:solidFill>
            <a:srgbClr val="ECFDF5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18288" rIns="36576" bIns="18288" rtlCol="0" anchor="ctr"/>
          <a:lstStyle/>
          <a:p>
            <a:pPr algn="ctr"/>
            <a:r>
              <a:rPr sz="680" b="1">
                <a:solidFill>
                  <a:srgbClr val="0F172A"/>
                </a:solidFill>
                <a:latin typeface="Calibri"/>
              </a:rPr>
              <a:t>Models</a:t>
            </a:r>
          </a:p>
        </p:txBody>
      </p:sp>
      <p:sp>
        <p:nvSpPr>
          <p:cNvPr id="271" name="Rounded Rectangle 270"/>
          <p:cNvSpPr/>
          <p:nvPr/>
        </p:nvSpPr>
        <p:spPr>
          <a:xfrm>
            <a:off x="4690872" y="1664208"/>
            <a:ext cx="1216152" cy="274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18288" rIns="36576" bIns="18288" rtlCol="0" anchor="ctr"/>
          <a:lstStyle/>
          <a:p>
            <a:pPr algn="ctr"/>
            <a:r>
              <a:rPr sz="680" b="0">
                <a:solidFill>
                  <a:srgbClr val="0F172A"/>
                </a:solidFill>
                <a:latin typeface="Calibri"/>
              </a:rPr>
              <a:t>ModelWeapons</a:t>
            </a:r>
          </a:p>
        </p:txBody>
      </p:sp>
      <p:sp>
        <p:nvSpPr>
          <p:cNvPr id="274" name="Rounded Rectangle 273"/>
          <p:cNvSpPr/>
          <p:nvPr/>
        </p:nvSpPr>
        <p:spPr>
          <a:xfrm>
            <a:off x="3364991" y="2029968"/>
            <a:ext cx="1216152" cy="274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18288" rIns="36576" bIns="18288" rtlCol="0" anchor="ctr"/>
          <a:lstStyle/>
          <a:p>
            <a:pPr algn="ctr"/>
            <a:r>
              <a:rPr sz="580" b="0">
                <a:solidFill>
                  <a:srgbClr val="0F172A"/>
                </a:solidFill>
                <a:latin typeface="Calibri"/>
              </a:rPr>
              <a:t>WeaponProfileAbilities</a:t>
            </a:r>
          </a:p>
        </p:txBody>
      </p:sp>
      <p:sp>
        <p:nvSpPr>
          <p:cNvPr id="275" name="Rounded Rectangle 274"/>
          <p:cNvSpPr/>
          <p:nvPr/>
        </p:nvSpPr>
        <p:spPr>
          <a:xfrm>
            <a:off x="4690872" y="2029968"/>
            <a:ext cx="1216152" cy="27432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18288" rIns="36576" bIns="18288" rtlCol="0" anchor="ctr"/>
          <a:lstStyle/>
          <a:p>
            <a:pPr algn="ctr"/>
            <a:r>
              <a:rPr sz="680" b="1">
                <a:solidFill>
                  <a:srgbClr val="0F172A"/>
                </a:solidFill>
                <a:latin typeface="Calibri"/>
              </a:rPr>
              <a:t>Abilities</a:t>
            </a:r>
          </a:p>
        </p:txBody>
      </p:sp>
      <p:sp>
        <p:nvSpPr>
          <p:cNvPr id="276" name="Rounded Rectangle 275"/>
          <p:cNvSpPr/>
          <p:nvPr/>
        </p:nvSpPr>
        <p:spPr>
          <a:xfrm>
            <a:off x="713232" y="2395728"/>
            <a:ext cx="1216152" cy="274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18288" rIns="36576" bIns="18288" rtlCol="0" anchor="ctr"/>
          <a:lstStyle/>
          <a:p>
            <a:pPr algn="ctr"/>
            <a:r>
              <a:rPr sz="680" b="0">
                <a:solidFill>
                  <a:srgbClr val="0F172A"/>
                </a:solidFill>
                <a:latin typeface="Calibri"/>
              </a:rPr>
              <a:t>UnitKeywords</a:t>
            </a:r>
          </a:p>
        </p:txBody>
      </p:sp>
      <p:sp>
        <p:nvSpPr>
          <p:cNvPr id="277" name="Rounded Rectangle 276"/>
          <p:cNvSpPr/>
          <p:nvPr/>
        </p:nvSpPr>
        <p:spPr>
          <a:xfrm>
            <a:off x="2039112" y="2395728"/>
            <a:ext cx="1216152" cy="27432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18288" rIns="36576" bIns="18288" rtlCol="0" anchor="ctr"/>
          <a:lstStyle/>
          <a:p>
            <a:pPr algn="ctr"/>
            <a:r>
              <a:rPr sz="680" b="1" dirty="0">
                <a:solidFill>
                  <a:srgbClr val="0F172A"/>
                </a:solidFill>
                <a:latin typeface="Calibri"/>
              </a:rPr>
              <a:t>Keywords</a:t>
            </a:r>
          </a:p>
        </p:txBody>
      </p:sp>
      <p:sp>
        <p:nvSpPr>
          <p:cNvPr id="278" name="Rounded Rectangle 277"/>
          <p:cNvSpPr/>
          <p:nvPr/>
        </p:nvSpPr>
        <p:spPr>
          <a:xfrm>
            <a:off x="3364991" y="2395728"/>
            <a:ext cx="1216152" cy="274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18288" rIns="36576" bIns="18288" rtlCol="0" anchor="ctr"/>
          <a:lstStyle/>
          <a:p>
            <a:pPr algn="ctr"/>
            <a:r>
              <a:rPr sz="680" b="0">
                <a:solidFill>
                  <a:srgbClr val="0F172A"/>
                </a:solidFill>
                <a:latin typeface="Calibri"/>
              </a:rPr>
              <a:t>UnitAbilities</a:t>
            </a:r>
          </a:p>
        </p:txBody>
      </p:sp>
      <p:sp>
        <p:nvSpPr>
          <p:cNvPr id="279" name="Rounded Rectangle 278"/>
          <p:cNvSpPr/>
          <p:nvPr/>
        </p:nvSpPr>
        <p:spPr>
          <a:xfrm>
            <a:off x="4690872" y="2395728"/>
            <a:ext cx="1216152" cy="274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18288" rIns="36576" bIns="18288" rtlCol="0" anchor="ctr"/>
          <a:lstStyle/>
          <a:p>
            <a:pPr algn="ctr"/>
            <a:r>
              <a:rPr sz="680" b="0">
                <a:solidFill>
                  <a:srgbClr val="0F172A"/>
                </a:solidFill>
                <a:latin typeface="Calibri"/>
              </a:rPr>
              <a:t>UnitOptions</a:t>
            </a:r>
          </a:p>
        </p:txBody>
      </p:sp>
      <p:sp>
        <p:nvSpPr>
          <p:cNvPr id="280" name="Rounded Rectangle 279"/>
          <p:cNvSpPr/>
          <p:nvPr/>
        </p:nvSpPr>
        <p:spPr>
          <a:xfrm>
            <a:off x="713232" y="2761488"/>
            <a:ext cx="1216152" cy="274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18288" rIns="36576" bIns="18288" rtlCol="0" anchor="ctr"/>
          <a:lstStyle/>
          <a:p>
            <a:pPr algn="ctr"/>
            <a:r>
              <a:rPr sz="680" b="0">
                <a:solidFill>
                  <a:srgbClr val="0F172A"/>
                </a:solidFill>
                <a:latin typeface="Calibri"/>
              </a:rPr>
              <a:t>OptionItems</a:t>
            </a:r>
          </a:p>
        </p:txBody>
      </p:sp>
      <p:sp>
        <p:nvSpPr>
          <p:cNvPr id="282" name="Rounded Rectangle 281"/>
          <p:cNvSpPr/>
          <p:nvPr/>
        </p:nvSpPr>
        <p:spPr>
          <a:xfrm>
            <a:off x="3364991" y="2761488"/>
            <a:ext cx="1216152" cy="274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18288" rIns="36576" bIns="18288" rtlCol="0" anchor="ctr"/>
          <a:lstStyle/>
          <a:p>
            <a:pPr algn="ctr"/>
            <a:r>
              <a:rPr sz="680" b="0">
                <a:solidFill>
                  <a:srgbClr val="0F172A"/>
                </a:solidFill>
                <a:latin typeface="Calibri"/>
              </a:rPr>
              <a:t>ModelWargears</a:t>
            </a:r>
          </a:p>
        </p:txBody>
      </p:sp>
      <p:sp>
        <p:nvSpPr>
          <p:cNvPr id="283" name="Rounded Rectangle 282"/>
          <p:cNvSpPr/>
          <p:nvPr/>
        </p:nvSpPr>
        <p:spPr>
          <a:xfrm>
            <a:off x="4690872" y="2761488"/>
            <a:ext cx="1216152" cy="274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18288" rIns="36576" bIns="18288" rtlCol="0" anchor="ctr"/>
          <a:lstStyle/>
          <a:p>
            <a:pPr algn="ctr"/>
            <a:r>
              <a:rPr sz="680" b="0">
                <a:solidFill>
                  <a:srgbClr val="0F172A"/>
                </a:solidFill>
                <a:latin typeface="Calibri"/>
              </a:rPr>
              <a:t>ModelAbilities</a:t>
            </a:r>
          </a:p>
        </p:txBody>
      </p:sp>
      <p:sp>
        <p:nvSpPr>
          <p:cNvPr id="284" name="Rounded Rectangle 283"/>
          <p:cNvSpPr/>
          <p:nvPr/>
        </p:nvSpPr>
        <p:spPr>
          <a:xfrm>
            <a:off x="6556248" y="1691640"/>
            <a:ext cx="1417320" cy="310896"/>
          </a:xfrm>
          <a:prstGeom prst="roundRect">
            <a:avLst/>
          </a:prstGeom>
          <a:solidFill>
            <a:srgbClr val="FEF2F2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18288" rIns="36576" bIns="18288" rtlCol="0" anchor="ctr"/>
          <a:lstStyle/>
          <a:p>
            <a:pPr algn="ctr"/>
            <a:r>
              <a:rPr sz="720" b="1">
                <a:solidFill>
                  <a:srgbClr val="0F172A"/>
                </a:solidFill>
                <a:latin typeface="Calibri"/>
              </a:rPr>
              <a:t>SimulationResults</a:t>
            </a:r>
          </a:p>
        </p:txBody>
      </p:sp>
      <p:sp>
        <p:nvSpPr>
          <p:cNvPr id="286" name="Rounded Rectangle 285"/>
          <p:cNvSpPr/>
          <p:nvPr/>
        </p:nvSpPr>
        <p:spPr>
          <a:xfrm>
            <a:off x="6556248" y="2194560"/>
            <a:ext cx="1417320" cy="31089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18288" rIns="36576" bIns="18288" rtlCol="0" anchor="ctr"/>
          <a:lstStyle/>
          <a:p>
            <a:pPr algn="ctr"/>
            <a:r>
              <a:rPr sz="720" b="0">
                <a:solidFill>
                  <a:srgbClr val="0F172A"/>
                </a:solidFill>
                <a:latin typeface="Calibri"/>
              </a:rPr>
              <a:t>TurnStats</a:t>
            </a:r>
          </a:p>
        </p:txBody>
      </p:sp>
      <p:sp>
        <p:nvSpPr>
          <p:cNvPr id="288" name="Rounded Rectangle 287"/>
          <p:cNvSpPr/>
          <p:nvPr/>
        </p:nvSpPr>
        <p:spPr>
          <a:xfrm>
            <a:off x="6556248" y="2697480"/>
            <a:ext cx="1417320" cy="31089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18288" rIns="36576" bIns="18288" rtlCol="0" anchor="ctr"/>
          <a:lstStyle/>
          <a:p>
            <a:pPr algn="ctr"/>
            <a:r>
              <a:rPr sz="720" b="0">
                <a:solidFill>
                  <a:srgbClr val="0F172A"/>
                </a:solidFill>
                <a:latin typeface="Calibri"/>
              </a:rPr>
              <a:t>WeaponStats</a:t>
            </a:r>
          </a:p>
        </p:txBody>
      </p:sp>
      <p:sp>
        <p:nvSpPr>
          <p:cNvPr id="290" name="Rounded Rectangle 289"/>
          <p:cNvSpPr/>
          <p:nvPr/>
        </p:nvSpPr>
        <p:spPr>
          <a:xfrm>
            <a:off x="8613648" y="1664208"/>
            <a:ext cx="1243584" cy="274320"/>
          </a:xfrm>
          <a:prstGeom prst="roundRect">
            <a:avLst/>
          </a:prstGeom>
          <a:solidFill>
            <a:srgbClr val="EFF6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18288" rIns="36576" bIns="18288" rtlCol="0" anchor="ctr"/>
          <a:lstStyle/>
          <a:p>
            <a:pPr algn="ctr"/>
            <a:r>
              <a:rPr sz="650" b="1" dirty="0" err="1">
                <a:solidFill>
                  <a:srgbClr val="0F172A"/>
                </a:solidFill>
                <a:latin typeface="Calibri"/>
              </a:rPr>
              <a:t>AspNetUsers</a:t>
            </a:r>
            <a:endParaRPr sz="650" b="1" dirty="0">
              <a:solidFill>
                <a:srgbClr val="0F172A"/>
              </a:solidFill>
              <a:latin typeface="Calibri"/>
            </a:endParaRPr>
          </a:p>
        </p:txBody>
      </p:sp>
      <p:sp>
        <p:nvSpPr>
          <p:cNvPr id="291" name="Rounded Rectangle 290"/>
          <p:cNvSpPr/>
          <p:nvPr/>
        </p:nvSpPr>
        <p:spPr>
          <a:xfrm>
            <a:off x="9985248" y="1664208"/>
            <a:ext cx="1243584" cy="274320"/>
          </a:xfrm>
          <a:prstGeom prst="roundRect">
            <a:avLst/>
          </a:prstGeom>
          <a:solidFill>
            <a:srgbClr val="EFF6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18288" rIns="36576" bIns="18288" rtlCol="0" anchor="ctr"/>
          <a:lstStyle/>
          <a:p>
            <a:pPr algn="ctr"/>
            <a:r>
              <a:rPr sz="650" b="1">
                <a:solidFill>
                  <a:srgbClr val="0F172A"/>
                </a:solidFill>
                <a:latin typeface="Calibri"/>
              </a:rPr>
              <a:t>AspNetRoles</a:t>
            </a:r>
          </a:p>
        </p:txBody>
      </p:sp>
      <p:sp>
        <p:nvSpPr>
          <p:cNvPr id="292" name="Rounded Rectangle 291"/>
          <p:cNvSpPr/>
          <p:nvPr/>
        </p:nvSpPr>
        <p:spPr>
          <a:xfrm>
            <a:off x="8613648" y="2029968"/>
            <a:ext cx="1243584" cy="274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18288" rIns="36576" bIns="18288" rtlCol="0" anchor="ctr"/>
          <a:lstStyle/>
          <a:p>
            <a:pPr algn="ctr"/>
            <a:r>
              <a:rPr sz="650" b="0">
                <a:solidFill>
                  <a:srgbClr val="0F172A"/>
                </a:solidFill>
                <a:latin typeface="Calibri"/>
              </a:rPr>
              <a:t>AspNetUserRoles</a:t>
            </a:r>
          </a:p>
        </p:txBody>
      </p:sp>
      <p:sp>
        <p:nvSpPr>
          <p:cNvPr id="293" name="Rounded Rectangle 292"/>
          <p:cNvSpPr/>
          <p:nvPr/>
        </p:nvSpPr>
        <p:spPr>
          <a:xfrm>
            <a:off x="9985248" y="2029968"/>
            <a:ext cx="1243584" cy="274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18288" rIns="36576" bIns="18288" rtlCol="0" anchor="ctr"/>
          <a:lstStyle/>
          <a:p>
            <a:pPr algn="ctr"/>
            <a:r>
              <a:rPr sz="650" b="0">
                <a:solidFill>
                  <a:srgbClr val="0F172A"/>
                </a:solidFill>
                <a:latin typeface="Calibri"/>
              </a:rPr>
              <a:t>AspNetUserClaims</a:t>
            </a:r>
          </a:p>
        </p:txBody>
      </p:sp>
      <p:sp>
        <p:nvSpPr>
          <p:cNvPr id="294" name="Rounded Rectangle 293"/>
          <p:cNvSpPr/>
          <p:nvPr/>
        </p:nvSpPr>
        <p:spPr>
          <a:xfrm>
            <a:off x="8613648" y="2395728"/>
            <a:ext cx="1243584" cy="274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18288" rIns="36576" bIns="18288" rtlCol="0" anchor="ctr"/>
          <a:lstStyle/>
          <a:p>
            <a:pPr algn="ctr"/>
            <a:r>
              <a:rPr sz="650" b="0">
                <a:solidFill>
                  <a:srgbClr val="0F172A"/>
                </a:solidFill>
                <a:latin typeface="Calibri"/>
              </a:rPr>
              <a:t>AspNetUserLogins</a:t>
            </a:r>
          </a:p>
        </p:txBody>
      </p:sp>
      <p:sp>
        <p:nvSpPr>
          <p:cNvPr id="295" name="Rounded Rectangle 294"/>
          <p:cNvSpPr/>
          <p:nvPr/>
        </p:nvSpPr>
        <p:spPr>
          <a:xfrm>
            <a:off x="9985248" y="2395728"/>
            <a:ext cx="1243584" cy="274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18288" rIns="36576" bIns="18288" rtlCol="0" anchor="ctr"/>
          <a:lstStyle/>
          <a:p>
            <a:pPr algn="ctr"/>
            <a:r>
              <a:rPr sz="650" b="0">
                <a:solidFill>
                  <a:srgbClr val="0F172A"/>
                </a:solidFill>
                <a:latin typeface="Calibri"/>
              </a:rPr>
              <a:t>AspNetUserTokens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8613648" y="2761488"/>
            <a:ext cx="1243584" cy="274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18288" rIns="36576" bIns="18288" rtlCol="0" anchor="ctr"/>
          <a:lstStyle/>
          <a:p>
            <a:pPr algn="ctr"/>
            <a:r>
              <a:rPr sz="650" b="0">
                <a:solidFill>
                  <a:srgbClr val="0F172A"/>
                </a:solidFill>
                <a:latin typeface="Calibri"/>
              </a:rPr>
              <a:t>AspNetRoleClaims</a:t>
            </a:r>
          </a:p>
        </p:txBody>
      </p:sp>
      <p:sp>
        <p:nvSpPr>
          <p:cNvPr id="297" name="Rounded Rectangle 296"/>
          <p:cNvSpPr/>
          <p:nvPr/>
        </p:nvSpPr>
        <p:spPr>
          <a:xfrm>
            <a:off x="713232" y="3913632"/>
            <a:ext cx="804672" cy="274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18288" rIns="36576" bIns="18288" rtlCol="0" anchor="ctr"/>
          <a:lstStyle/>
          <a:p>
            <a:pPr algn="ctr"/>
            <a:r>
              <a:rPr sz="520" b="0">
                <a:solidFill>
                  <a:srgbClr val="0F172A"/>
                </a:solidFill>
                <a:latin typeface="Calibri"/>
              </a:rPr>
              <a:t>__EFMigrationsHistory</a:t>
            </a:r>
          </a:p>
        </p:txBody>
      </p:sp>
      <p:sp>
        <p:nvSpPr>
          <p:cNvPr id="298" name="Rounded Rectangle 297"/>
          <p:cNvSpPr/>
          <p:nvPr/>
        </p:nvSpPr>
        <p:spPr>
          <a:xfrm>
            <a:off x="1545336" y="3913632"/>
            <a:ext cx="804672" cy="274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18288" rIns="36576" bIns="18288" rtlCol="0" anchor="ctr"/>
          <a:lstStyle/>
          <a:p>
            <a:pPr algn="ctr"/>
            <a:r>
              <a:rPr sz="520" b="0">
                <a:solidFill>
                  <a:srgbClr val="0F172A"/>
                </a:solidFill>
                <a:latin typeface="Calibri"/>
              </a:rPr>
              <a:t>__EFMigrationsLock</a:t>
            </a:r>
          </a:p>
        </p:txBody>
      </p:sp>
      <p:sp>
        <p:nvSpPr>
          <p:cNvPr id="299" name="Rounded Rectangle 298"/>
          <p:cNvSpPr/>
          <p:nvPr/>
        </p:nvSpPr>
        <p:spPr>
          <a:xfrm>
            <a:off x="2377440" y="3913632"/>
            <a:ext cx="749808" cy="274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18288" rIns="36576" bIns="18288" rtlCol="0" anchor="ctr"/>
          <a:lstStyle/>
          <a:p>
            <a:pPr algn="ctr"/>
            <a:r>
              <a:rPr sz="580" b="0">
                <a:solidFill>
                  <a:srgbClr val="0F172A"/>
                </a:solidFill>
                <a:latin typeface="Calibri"/>
              </a:rPr>
              <a:t>sqlite_sequence</a:t>
            </a:r>
          </a:p>
        </p:txBody>
      </p:sp>
      <p:sp>
        <p:nvSpPr>
          <p:cNvPr id="300" name="TextBox 299"/>
          <p:cNvSpPr txBox="1"/>
          <p:nvPr/>
        </p:nvSpPr>
        <p:spPr>
          <a:xfrm>
            <a:off x="713232" y="4279392"/>
            <a:ext cx="1973425" cy="243143"/>
          </a:xfrm>
          <a:prstGeom prst="rect">
            <a:avLst/>
          </a:prstGeom>
          <a:noFill/>
        </p:spPr>
        <p:txBody>
          <a:bodyPr wrap="none" lIns="36576" tIns="18288" rIns="36576" bIns="18288">
            <a:spAutoFit/>
          </a:bodyPr>
          <a:lstStyle/>
          <a:p>
            <a:pPr algn="l"/>
            <a:r>
              <a:rPr sz="670" b="0" dirty="0" err="1">
                <a:solidFill>
                  <a:srgbClr val="475569"/>
                </a:solidFill>
                <a:latin typeface="Calibri"/>
              </a:rPr>
              <a:t>Служебные</a:t>
            </a:r>
            <a:r>
              <a:rPr sz="670" b="0" dirty="0">
                <a:solidFill>
                  <a:srgbClr val="475569"/>
                </a:solidFill>
                <a:latin typeface="Calibri"/>
              </a:rPr>
              <a:t> </a:t>
            </a:r>
            <a:r>
              <a:rPr sz="670" b="0" dirty="0" err="1">
                <a:solidFill>
                  <a:srgbClr val="475569"/>
                </a:solidFill>
                <a:latin typeface="Calibri"/>
              </a:rPr>
              <a:t>таблицы</a:t>
            </a:r>
            <a:r>
              <a:rPr sz="670" b="0" dirty="0">
                <a:solidFill>
                  <a:srgbClr val="475569"/>
                </a:solidFill>
                <a:latin typeface="Calibri"/>
              </a:rPr>
              <a:t> </a:t>
            </a:r>
            <a:r>
              <a:rPr sz="670" b="0" dirty="0" err="1">
                <a:solidFill>
                  <a:srgbClr val="475569"/>
                </a:solidFill>
                <a:latin typeface="Calibri"/>
              </a:rPr>
              <a:t>миграций</a:t>
            </a:r>
            <a:r>
              <a:rPr sz="670" b="0" dirty="0">
                <a:solidFill>
                  <a:srgbClr val="475569"/>
                </a:solidFill>
                <a:latin typeface="Calibri"/>
              </a:rPr>
              <a:t> и SQLite не </a:t>
            </a:r>
            <a:r>
              <a:rPr sz="670" b="0" dirty="0" err="1">
                <a:solidFill>
                  <a:srgbClr val="475569"/>
                </a:solidFill>
                <a:latin typeface="Calibri"/>
              </a:rPr>
              <a:t>связаны</a:t>
            </a:r>
            <a:r>
              <a:rPr sz="670" b="0" dirty="0">
                <a:solidFill>
                  <a:srgbClr val="475569"/>
                </a:solidFill>
                <a:latin typeface="Calibri"/>
              </a:rPr>
              <a:t> </a:t>
            </a:r>
            <a:endParaRPr lang="en-US" sz="670" b="0" dirty="0">
              <a:solidFill>
                <a:srgbClr val="475569"/>
              </a:solidFill>
              <a:latin typeface="Calibri"/>
            </a:endParaRPr>
          </a:p>
          <a:p>
            <a:pPr algn="l"/>
            <a:r>
              <a:rPr sz="670" b="0" dirty="0">
                <a:solidFill>
                  <a:srgbClr val="475569"/>
                </a:solidFill>
                <a:latin typeface="Calibri"/>
              </a:rPr>
              <a:t>с </a:t>
            </a:r>
            <a:r>
              <a:rPr sz="670" b="0" dirty="0" err="1">
                <a:solidFill>
                  <a:srgbClr val="475569"/>
                </a:solidFill>
                <a:latin typeface="Calibri"/>
              </a:rPr>
              <a:t>предметной</a:t>
            </a:r>
            <a:r>
              <a:rPr sz="670" b="0" dirty="0">
                <a:solidFill>
                  <a:srgbClr val="475569"/>
                </a:solidFill>
                <a:latin typeface="Calibri"/>
              </a:rPr>
              <a:t> </a:t>
            </a:r>
            <a:r>
              <a:rPr sz="670" b="0" dirty="0" err="1">
                <a:solidFill>
                  <a:srgbClr val="475569"/>
                </a:solidFill>
                <a:latin typeface="Calibri"/>
              </a:rPr>
              <a:t>областью</a:t>
            </a:r>
            <a:r>
              <a:rPr sz="670" b="0" dirty="0">
                <a:solidFill>
                  <a:srgbClr val="475569"/>
                </a:solidFill>
                <a:latin typeface="Calibri"/>
              </a:rPr>
              <a:t>.</a:t>
            </a:r>
          </a:p>
        </p:txBody>
      </p:sp>
      <p:sp>
        <p:nvSpPr>
          <p:cNvPr id="301" name="TextBox 300"/>
          <p:cNvSpPr txBox="1"/>
          <p:nvPr/>
        </p:nvSpPr>
        <p:spPr>
          <a:xfrm>
            <a:off x="3703320" y="3913632"/>
            <a:ext cx="3611880" cy="1371600"/>
          </a:xfrm>
          <a:prstGeom prst="rect">
            <a:avLst/>
          </a:prstGeom>
          <a:noFill/>
        </p:spPr>
        <p:txBody>
          <a:bodyPr wrap="none" lIns="36576" tIns="18288" rIns="36576" bIns="18288">
            <a:spAutoFit/>
          </a:bodyPr>
          <a:lstStyle/>
          <a:p>
            <a:pPr algn="l"/>
            <a:r>
              <a:rPr sz="710" b="0" dirty="0">
                <a:solidFill>
                  <a:srgbClr val="0F172A"/>
                </a:solidFill>
                <a:latin typeface="Calibri"/>
              </a:rPr>
              <a:t>• Units —1:N→ </a:t>
            </a:r>
            <a:r>
              <a:rPr sz="710" b="0" dirty="0" err="1">
                <a:solidFill>
                  <a:srgbClr val="0F172A"/>
                </a:solidFill>
                <a:latin typeface="Calibri"/>
              </a:rPr>
              <a:t>UnitModels</a:t>
            </a:r>
            <a:r>
              <a:rPr sz="710" b="0" dirty="0">
                <a:solidFill>
                  <a:srgbClr val="0F172A"/>
                </a:solidFill>
                <a:latin typeface="Calibri"/>
              </a:rPr>
              <a:t> —N:1→ Models
• Units —1:N→ </a:t>
            </a:r>
            <a:r>
              <a:rPr sz="710" b="0" dirty="0" err="1">
                <a:solidFill>
                  <a:srgbClr val="0F172A"/>
                </a:solidFill>
                <a:latin typeface="Calibri"/>
              </a:rPr>
              <a:t>UnitKeywords</a:t>
            </a:r>
            <a:r>
              <a:rPr sz="710" b="0" dirty="0">
                <a:solidFill>
                  <a:srgbClr val="0F172A"/>
                </a:solidFill>
                <a:latin typeface="Calibri"/>
              </a:rPr>
              <a:t> —N:1→ Keywords
• Units —1:N→ </a:t>
            </a:r>
            <a:r>
              <a:rPr sz="710" b="0" dirty="0" err="1">
                <a:solidFill>
                  <a:srgbClr val="0F172A"/>
                </a:solidFill>
                <a:latin typeface="Calibri"/>
              </a:rPr>
              <a:t>UnitAbilities</a:t>
            </a:r>
            <a:r>
              <a:rPr sz="710" b="0" dirty="0">
                <a:solidFill>
                  <a:srgbClr val="0F172A"/>
                </a:solidFill>
                <a:latin typeface="Calibri"/>
              </a:rPr>
              <a:t> —N:1→ Abilities
• Units —1:N→ </a:t>
            </a:r>
            <a:r>
              <a:rPr sz="710" b="0" dirty="0" err="1">
                <a:solidFill>
                  <a:srgbClr val="0F172A"/>
                </a:solidFill>
                <a:latin typeface="Calibri"/>
              </a:rPr>
              <a:t>UnitOptions</a:t>
            </a:r>
            <a:r>
              <a:rPr sz="710" b="0" dirty="0">
                <a:solidFill>
                  <a:srgbClr val="0F172A"/>
                </a:solidFill>
                <a:latin typeface="Calibri"/>
              </a:rPr>
              <a:t> —1:N→ </a:t>
            </a:r>
            <a:r>
              <a:rPr sz="710" b="0" dirty="0" err="1">
                <a:solidFill>
                  <a:srgbClr val="0F172A"/>
                </a:solidFill>
                <a:latin typeface="Calibri"/>
              </a:rPr>
              <a:t>OptionItems</a:t>
            </a:r>
            <a:r>
              <a:rPr sz="710" b="0" dirty="0">
                <a:solidFill>
                  <a:srgbClr val="0F172A"/>
                </a:solidFill>
                <a:latin typeface="Calibri"/>
              </a:rPr>
              <a:t>
• </a:t>
            </a:r>
            <a:r>
              <a:rPr sz="710" b="0" dirty="0" err="1">
                <a:solidFill>
                  <a:srgbClr val="0F172A"/>
                </a:solidFill>
                <a:latin typeface="Calibri"/>
              </a:rPr>
              <a:t>OptionItems</a:t>
            </a:r>
            <a:r>
              <a:rPr sz="710" b="0" dirty="0">
                <a:solidFill>
                  <a:srgbClr val="0F172A"/>
                </a:solidFill>
                <a:latin typeface="Calibri"/>
              </a:rPr>
              <a:t> —N:1→ Weapons / </a:t>
            </a:r>
            <a:r>
              <a:rPr sz="710" b="0" dirty="0" err="1">
                <a:solidFill>
                  <a:srgbClr val="0F172A"/>
                </a:solidFill>
                <a:latin typeface="Calibri"/>
              </a:rPr>
              <a:t>Wargears</a:t>
            </a:r>
            <a:endParaRPr sz="710" b="0" dirty="0">
              <a:solidFill>
                <a:srgbClr val="0F172A"/>
              </a:solidFill>
              <a:latin typeface="Calibri"/>
            </a:endParaRPr>
          </a:p>
        </p:txBody>
      </p:sp>
      <p:sp>
        <p:nvSpPr>
          <p:cNvPr id="302" name="TextBox 301"/>
          <p:cNvSpPr txBox="1"/>
          <p:nvPr/>
        </p:nvSpPr>
        <p:spPr>
          <a:xfrm>
            <a:off x="7360920" y="3913632"/>
            <a:ext cx="3886200" cy="1481328"/>
          </a:xfrm>
          <a:prstGeom prst="rect">
            <a:avLst/>
          </a:prstGeom>
          <a:noFill/>
        </p:spPr>
        <p:txBody>
          <a:bodyPr wrap="none" lIns="36576" tIns="18288" rIns="36576" bIns="18288">
            <a:spAutoFit/>
          </a:bodyPr>
          <a:lstStyle/>
          <a:p>
            <a:pPr algn="l"/>
            <a:r>
              <a:rPr sz="710" b="0">
                <a:solidFill>
                  <a:srgbClr val="0F172A"/>
                </a:solidFill>
                <a:latin typeface="Calibri"/>
              </a:rPr>
              <a:t>• Models —1:N→ ModelWeapons —N:1→ Weapons
• Models —1:N→ ModelWargears —N:1→ Wargears
• Weapons —1:N→ WeaponProfiles —1:N→ WeaponProfileAbilities —N:1→ Abilities
• SimulationResults —1:N→ TurnStats —1:N→ WeaponStats
• AspNetUsers / AspNetRoles —1:N→ claims, tokens, roles</a:t>
            </a:r>
          </a:p>
        </p:txBody>
      </p:sp>
      <p:sp>
        <p:nvSpPr>
          <p:cNvPr id="303" name="Rounded Rectangle 302"/>
          <p:cNvSpPr/>
          <p:nvPr/>
        </p:nvSpPr>
        <p:spPr>
          <a:xfrm>
            <a:off x="3703320" y="5577840"/>
            <a:ext cx="7498079" cy="320040"/>
          </a:xfrm>
          <a:prstGeom prst="roundRect">
            <a:avLst/>
          </a:prstGeom>
          <a:solidFill>
            <a:srgbClr val="EFF6FF"/>
          </a:solidFill>
          <a:ln w="9525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18288" rIns="36576" bIns="18288" rtlCol="0" anchor="ctr"/>
          <a:lstStyle/>
          <a:p>
            <a:pPr algn="ctr"/>
            <a:r>
              <a:rPr sz="780" b="1" dirty="0">
                <a:solidFill>
                  <a:srgbClr val="111827"/>
                </a:solidFill>
                <a:latin typeface="Calibri"/>
              </a:rPr>
              <a:t>M:N </a:t>
            </a:r>
            <a:r>
              <a:rPr sz="780" b="1" dirty="0" err="1">
                <a:solidFill>
                  <a:srgbClr val="111827"/>
                </a:solidFill>
                <a:latin typeface="Calibri"/>
              </a:rPr>
              <a:t>связи</a:t>
            </a:r>
            <a:r>
              <a:rPr sz="780" b="1" dirty="0">
                <a:solidFill>
                  <a:srgbClr val="111827"/>
                </a:solidFill>
                <a:latin typeface="Calibri"/>
              </a:rPr>
              <a:t> </a:t>
            </a:r>
            <a:r>
              <a:rPr sz="780" b="1" dirty="0" err="1">
                <a:solidFill>
                  <a:srgbClr val="111827"/>
                </a:solidFill>
                <a:latin typeface="Calibri"/>
              </a:rPr>
              <a:t>реализованы</a:t>
            </a:r>
            <a:r>
              <a:rPr sz="780" b="1" dirty="0">
                <a:solidFill>
                  <a:srgbClr val="111827"/>
                </a:solidFill>
                <a:latin typeface="Calibri"/>
              </a:rPr>
              <a:t> </a:t>
            </a:r>
            <a:r>
              <a:rPr sz="780" b="1" dirty="0" err="1">
                <a:solidFill>
                  <a:srgbClr val="111827"/>
                </a:solidFill>
                <a:latin typeface="Calibri"/>
              </a:rPr>
              <a:t>через</a:t>
            </a:r>
            <a:r>
              <a:rPr sz="780" b="1" dirty="0">
                <a:solidFill>
                  <a:srgbClr val="111827"/>
                </a:solidFill>
                <a:latin typeface="Calibri"/>
              </a:rPr>
              <a:t> </a:t>
            </a:r>
            <a:r>
              <a:rPr lang="ru-RU" sz="780" b="1" dirty="0">
                <a:solidFill>
                  <a:srgbClr val="111827"/>
                </a:solidFill>
                <a:latin typeface="Calibri"/>
              </a:rPr>
              <a:t>ассоциативные</a:t>
            </a:r>
            <a:r>
              <a:rPr sz="780" b="1" dirty="0">
                <a:solidFill>
                  <a:srgbClr val="111827"/>
                </a:solidFill>
                <a:latin typeface="Calibri"/>
              </a:rPr>
              <a:t> </a:t>
            </a:r>
            <a:r>
              <a:rPr sz="780" b="1" dirty="0" err="1">
                <a:solidFill>
                  <a:srgbClr val="111827"/>
                </a:solidFill>
                <a:latin typeface="Calibri"/>
              </a:rPr>
              <a:t>таблицы</a:t>
            </a:r>
            <a:r>
              <a:rPr sz="780" b="1" dirty="0">
                <a:solidFill>
                  <a:srgbClr val="111827"/>
                </a:solidFill>
                <a:latin typeface="Calibri"/>
              </a:rPr>
              <a:t>: </a:t>
            </a:r>
            <a:r>
              <a:rPr sz="780" b="1" dirty="0" err="1">
                <a:solidFill>
                  <a:srgbClr val="111827"/>
                </a:solidFill>
                <a:latin typeface="Calibri"/>
              </a:rPr>
              <a:t>UnitModels</a:t>
            </a:r>
            <a:r>
              <a:rPr sz="780" b="1" dirty="0">
                <a:solidFill>
                  <a:srgbClr val="111827"/>
                </a:solidFill>
                <a:latin typeface="Calibri"/>
              </a:rPr>
              <a:t>, </a:t>
            </a:r>
            <a:r>
              <a:rPr sz="780" b="1" dirty="0" err="1">
                <a:solidFill>
                  <a:srgbClr val="111827"/>
                </a:solidFill>
                <a:latin typeface="Calibri"/>
              </a:rPr>
              <a:t>ModelWeapons</a:t>
            </a:r>
            <a:r>
              <a:rPr sz="780" b="1" dirty="0">
                <a:solidFill>
                  <a:srgbClr val="111827"/>
                </a:solidFill>
                <a:latin typeface="Calibri"/>
              </a:rPr>
              <a:t>, </a:t>
            </a:r>
            <a:r>
              <a:rPr sz="780" b="1" dirty="0" err="1">
                <a:solidFill>
                  <a:srgbClr val="111827"/>
                </a:solidFill>
                <a:latin typeface="Calibri"/>
              </a:rPr>
              <a:t>UnitKeywords</a:t>
            </a:r>
            <a:r>
              <a:rPr sz="780" b="1" dirty="0">
                <a:solidFill>
                  <a:srgbClr val="111827"/>
                </a:solidFill>
                <a:latin typeface="Calibri"/>
              </a:rPr>
              <a:t>, </a:t>
            </a:r>
            <a:r>
              <a:rPr sz="780" b="1" dirty="0" err="1">
                <a:solidFill>
                  <a:srgbClr val="111827"/>
                </a:solidFill>
                <a:latin typeface="Calibri"/>
              </a:rPr>
              <a:t>UnitAbilities</a:t>
            </a:r>
            <a:r>
              <a:rPr sz="780" b="1" dirty="0">
                <a:solidFill>
                  <a:srgbClr val="111827"/>
                </a:solidFill>
                <a:latin typeface="Calibri"/>
              </a:rPr>
              <a:t>, </a:t>
            </a:r>
            <a:r>
              <a:rPr sz="780" b="1" dirty="0" err="1">
                <a:solidFill>
                  <a:srgbClr val="111827"/>
                </a:solidFill>
                <a:latin typeface="Calibri"/>
              </a:rPr>
              <a:t>ModelAbilities</a:t>
            </a:r>
            <a:r>
              <a:rPr sz="780" b="1" dirty="0">
                <a:solidFill>
                  <a:srgbClr val="111827"/>
                </a:solidFill>
                <a:latin typeface="Calibri"/>
              </a:rPr>
              <a:t>, </a:t>
            </a:r>
            <a:r>
              <a:rPr sz="780" b="1" dirty="0" err="1">
                <a:solidFill>
                  <a:srgbClr val="111827"/>
                </a:solidFill>
                <a:latin typeface="Calibri"/>
              </a:rPr>
              <a:t>WeaponProfileAbilities</a:t>
            </a:r>
            <a:r>
              <a:rPr sz="780" b="1" dirty="0">
                <a:solidFill>
                  <a:srgbClr val="111827"/>
                </a:solidFill>
                <a:latin typeface="Calibri"/>
              </a:rPr>
              <a:t> и </a:t>
            </a:r>
            <a:r>
              <a:rPr sz="780" b="1" dirty="0" err="1">
                <a:solidFill>
                  <a:srgbClr val="111827"/>
                </a:solidFill>
                <a:latin typeface="Calibri"/>
              </a:rPr>
              <a:t>др</a:t>
            </a:r>
            <a:r>
              <a:rPr sz="780" b="1" dirty="0">
                <a:solidFill>
                  <a:srgbClr val="111827"/>
                </a:solidFill>
                <a:latin typeface="Calibri"/>
              </a:rPr>
              <a:t>.</a:t>
            </a:r>
          </a:p>
        </p:txBody>
      </p:sp>
      <p:sp>
        <p:nvSpPr>
          <p:cNvPr id="55" name="Rounded Rectangle 267">
            <a:extLst>
              <a:ext uri="{FF2B5EF4-FFF2-40B4-BE49-F238E27FC236}">
                <a16:creationId xmlns:a16="http://schemas.microsoft.com/office/drawing/2014/main" id="{4F8C3C9B-FBFE-49CF-9BC3-3689E659767F}"/>
              </a:ext>
            </a:extLst>
          </p:cNvPr>
          <p:cNvSpPr/>
          <p:nvPr/>
        </p:nvSpPr>
        <p:spPr>
          <a:xfrm>
            <a:off x="708660" y="2032254"/>
            <a:ext cx="1216152" cy="274320"/>
          </a:xfrm>
          <a:prstGeom prst="roundRect">
            <a:avLst/>
          </a:prstGeom>
          <a:solidFill>
            <a:srgbClr val="ECFDF5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18288" rIns="36576" bIns="18288" rtlCol="0" anchor="ctr"/>
          <a:lstStyle/>
          <a:p>
            <a:pPr algn="ctr"/>
            <a:r>
              <a:rPr lang="en-US" sz="680" b="1" dirty="0">
                <a:solidFill>
                  <a:srgbClr val="0F172A"/>
                </a:solidFill>
                <a:latin typeface="Calibri"/>
              </a:rPr>
              <a:t>Weapons</a:t>
            </a:r>
            <a:endParaRPr sz="680" b="1" dirty="0">
              <a:solidFill>
                <a:srgbClr val="0F172A"/>
              </a:solidFill>
              <a:latin typeface="Calibri"/>
            </a:endParaRPr>
          </a:p>
        </p:txBody>
      </p:sp>
      <p:sp>
        <p:nvSpPr>
          <p:cNvPr id="56" name="Rounded Rectangle 276">
            <a:extLst>
              <a:ext uri="{FF2B5EF4-FFF2-40B4-BE49-F238E27FC236}">
                <a16:creationId xmlns:a16="http://schemas.microsoft.com/office/drawing/2014/main" id="{BC8343A3-1966-4556-AA7B-A547C9C468E3}"/>
              </a:ext>
            </a:extLst>
          </p:cNvPr>
          <p:cNvSpPr/>
          <p:nvPr/>
        </p:nvSpPr>
        <p:spPr>
          <a:xfrm>
            <a:off x="2034539" y="2762061"/>
            <a:ext cx="1216152" cy="27432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18288" rIns="36576" bIns="18288" rtlCol="0" anchor="ctr"/>
          <a:lstStyle/>
          <a:p>
            <a:pPr algn="ctr"/>
            <a:r>
              <a:rPr lang="en-US" sz="680" b="1" dirty="0" err="1">
                <a:solidFill>
                  <a:srgbClr val="0F172A"/>
                </a:solidFill>
                <a:latin typeface="Calibri"/>
              </a:rPr>
              <a:t>Wargears</a:t>
            </a:r>
            <a:endParaRPr sz="680" b="1" dirty="0">
              <a:solidFill>
                <a:srgbClr val="0F172A"/>
              </a:solidFill>
              <a:latin typeface="Calibri"/>
            </a:endParaRPr>
          </a:p>
        </p:txBody>
      </p:sp>
      <p:sp>
        <p:nvSpPr>
          <p:cNvPr id="57" name="Rounded Rectangle 267">
            <a:extLst>
              <a:ext uri="{FF2B5EF4-FFF2-40B4-BE49-F238E27FC236}">
                <a16:creationId xmlns:a16="http://schemas.microsoft.com/office/drawing/2014/main" id="{4AE7707F-D41A-44DE-A194-AF52020C048B}"/>
              </a:ext>
            </a:extLst>
          </p:cNvPr>
          <p:cNvSpPr/>
          <p:nvPr/>
        </p:nvSpPr>
        <p:spPr>
          <a:xfrm>
            <a:off x="2034539" y="2029968"/>
            <a:ext cx="1216152" cy="274320"/>
          </a:xfrm>
          <a:prstGeom prst="roundRect">
            <a:avLst/>
          </a:prstGeom>
          <a:solidFill>
            <a:srgbClr val="ECFDF5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18288" rIns="36576" bIns="18288" rtlCol="0" anchor="ctr"/>
          <a:lstStyle/>
          <a:p>
            <a:pPr algn="ctr"/>
            <a:r>
              <a:rPr lang="en-US" sz="680" b="1" dirty="0" err="1">
                <a:solidFill>
                  <a:srgbClr val="0F172A"/>
                </a:solidFill>
                <a:latin typeface="Calibri"/>
              </a:rPr>
              <a:t>WeaponProfiles</a:t>
            </a:r>
            <a:endParaRPr sz="680" b="1" dirty="0">
              <a:solidFill>
                <a:srgbClr val="0F172A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AFB"/>
        </a:solidFill>
        <a:effectLst/>
      </p:bgPr>
    </p:bg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9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991B1B"/>
          </a:solidFill>
          <a:ln w="12700" cap="flat" cmpd="sng">
            <a:solidFill>
              <a:srgbClr val="991B1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4" name="Google Shape;264;p9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111827"/>
          </a:solidFill>
          <a:ln w="12700" cap="flat" cmpd="sng">
            <a:solidFill>
              <a:srgbClr val="1118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5" name="Google Shape;265;p9"/>
          <p:cNvSpPr/>
          <p:nvPr/>
        </p:nvSpPr>
        <p:spPr>
          <a:xfrm>
            <a:off x="502920" y="320040"/>
            <a:ext cx="996696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2700"/>
              <a:buFont typeface="Calibri"/>
              <a:buNone/>
            </a:pPr>
            <a:r>
              <a:rPr lang="en-US" sz="2700" b="1" i="0" u="none" strike="noStrike" cap="non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UML: основные классы и модули</a:t>
            </a:r>
            <a:endParaRPr sz="2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9"/>
          <p:cNvSpPr/>
          <p:nvPr/>
        </p:nvSpPr>
        <p:spPr>
          <a:xfrm>
            <a:off x="530352" y="841248"/>
            <a:ext cx="1069848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50"/>
              <a:buFont typeface="Calibri"/>
              <a:buNone/>
            </a:pPr>
            <a:r>
              <a:rPr lang="en-US" sz="1350" b="0" i="0" u="none" strike="noStrike" cap="none">
                <a:solidFill>
                  <a:srgbClr val="4B5563"/>
                </a:solidFill>
                <a:latin typeface="Calibri"/>
                <a:ea typeface="Calibri"/>
                <a:cs typeface="Calibri"/>
                <a:sym typeface="Calibri"/>
              </a:rPr>
              <a:t>Серверная логика разделена на API, сервисы, runtime-модели и агрегаторы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67" name="Google Shape;267;p9"/>
          <p:cNvCxnSpPr/>
          <p:nvPr/>
        </p:nvCxnSpPr>
        <p:spPr>
          <a:xfrm>
            <a:off x="2331720" y="2057400"/>
            <a:ext cx="822960" cy="0"/>
          </a:xfrm>
          <a:prstGeom prst="straightConnector1">
            <a:avLst/>
          </a:prstGeom>
          <a:noFill/>
          <a:ln w="15225" cap="flat" cmpd="sng">
            <a:solidFill>
              <a:srgbClr val="6B7280"/>
            </a:solidFill>
            <a:prstDash val="solid"/>
            <a:round/>
            <a:headEnd type="none" w="sm" len="sm"/>
            <a:tailEnd type="triangle" w="med" len="med"/>
          </a:ln>
        </p:spPr>
      </p:cxnSp>
      <p:cxnSp>
        <p:nvCxnSpPr>
          <p:cNvPr id="268" name="Google Shape;268;p9"/>
          <p:cNvCxnSpPr/>
          <p:nvPr/>
        </p:nvCxnSpPr>
        <p:spPr>
          <a:xfrm>
            <a:off x="5349240" y="2057400"/>
            <a:ext cx="914400" cy="0"/>
          </a:xfrm>
          <a:prstGeom prst="straightConnector1">
            <a:avLst/>
          </a:prstGeom>
          <a:noFill/>
          <a:ln w="15225" cap="flat" cmpd="sng">
            <a:solidFill>
              <a:srgbClr val="6B7280"/>
            </a:solidFill>
            <a:prstDash val="solid"/>
            <a:round/>
            <a:headEnd type="none" w="sm" len="sm"/>
            <a:tailEnd type="triangle" w="med" len="med"/>
          </a:ln>
        </p:spPr>
      </p:cxnSp>
      <p:cxnSp>
        <p:nvCxnSpPr>
          <p:cNvPr id="269" name="Google Shape;269;p9"/>
          <p:cNvCxnSpPr/>
          <p:nvPr/>
        </p:nvCxnSpPr>
        <p:spPr>
          <a:xfrm>
            <a:off x="8458200" y="2057400"/>
            <a:ext cx="822960" cy="0"/>
          </a:xfrm>
          <a:prstGeom prst="straightConnector1">
            <a:avLst/>
          </a:prstGeom>
          <a:noFill/>
          <a:ln w="15225" cap="flat" cmpd="sng">
            <a:solidFill>
              <a:srgbClr val="6B7280"/>
            </a:solidFill>
            <a:prstDash val="solid"/>
            <a:round/>
            <a:headEnd type="none" w="sm" len="sm"/>
            <a:tailEnd type="triangle" w="med" len="med"/>
          </a:ln>
        </p:spPr>
      </p:cxnSp>
      <p:cxnSp>
        <p:nvCxnSpPr>
          <p:cNvPr id="270" name="Google Shape;270;p9"/>
          <p:cNvCxnSpPr/>
          <p:nvPr/>
        </p:nvCxnSpPr>
        <p:spPr>
          <a:xfrm>
            <a:off x="5349240" y="4160520"/>
            <a:ext cx="914400" cy="0"/>
          </a:xfrm>
          <a:prstGeom prst="straightConnector1">
            <a:avLst/>
          </a:prstGeom>
          <a:noFill/>
          <a:ln w="15225" cap="flat" cmpd="sng">
            <a:solidFill>
              <a:srgbClr val="6B7280"/>
            </a:solidFill>
            <a:prstDash val="solid"/>
            <a:round/>
            <a:headEnd type="none" w="sm" len="sm"/>
            <a:tailEnd type="triangle" w="med" len="med"/>
          </a:ln>
        </p:spPr>
      </p:cxnSp>
      <p:cxnSp>
        <p:nvCxnSpPr>
          <p:cNvPr id="271" name="Google Shape;271;p9"/>
          <p:cNvCxnSpPr/>
          <p:nvPr/>
        </p:nvCxnSpPr>
        <p:spPr>
          <a:xfrm>
            <a:off x="8458200" y="4160520"/>
            <a:ext cx="822960" cy="0"/>
          </a:xfrm>
          <a:prstGeom prst="straightConnector1">
            <a:avLst/>
          </a:prstGeom>
          <a:noFill/>
          <a:ln w="15225" cap="flat" cmpd="sng">
            <a:solidFill>
              <a:srgbClr val="6B7280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272" name="Google Shape;272;p9"/>
          <p:cNvSpPr/>
          <p:nvPr/>
        </p:nvSpPr>
        <p:spPr>
          <a:xfrm>
            <a:off x="685800" y="1600200"/>
            <a:ext cx="1645920" cy="868680"/>
          </a:xfrm>
          <a:prstGeom prst="roundRect">
            <a:avLst>
              <a:gd name="adj" fmla="val 6316"/>
            </a:avLst>
          </a:prstGeom>
          <a:solidFill>
            <a:srgbClr val="DBEAFE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9"/>
          <p:cNvSpPr/>
          <p:nvPr/>
        </p:nvSpPr>
        <p:spPr>
          <a:xfrm>
            <a:off x="740664" y="1655064"/>
            <a:ext cx="1536192" cy="758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0" tIns="250" rIns="250" bIns="250" anchor="ctr" anchorCtr="0">
            <a:norm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150"/>
              <a:buFont typeface="Calibri"/>
              <a:buNone/>
            </a:pPr>
            <a:r>
              <a:rPr lang="en-US" sz="1150" b="1" i="0" u="none" strike="noStrike" cap="non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Controllers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150"/>
              <a:buFont typeface="Calibri"/>
              <a:buNone/>
            </a:pPr>
            <a:r>
              <a:rPr lang="en-US" sz="1150" b="1" i="0" u="none" strike="noStrike" cap="non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Auth, Units, Simulations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9"/>
          <p:cNvSpPr/>
          <p:nvPr/>
        </p:nvSpPr>
        <p:spPr>
          <a:xfrm>
            <a:off x="3154680" y="1600200"/>
            <a:ext cx="2194560" cy="868680"/>
          </a:xfrm>
          <a:prstGeom prst="roundRect">
            <a:avLst>
              <a:gd name="adj" fmla="val 6316"/>
            </a:avLst>
          </a:prstGeom>
          <a:solidFill>
            <a:srgbClr val="D1FAE5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5" name="Google Shape;275;p9"/>
          <p:cNvSpPr/>
          <p:nvPr/>
        </p:nvSpPr>
        <p:spPr>
          <a:xfrm>
            <a:off x="3209544" y="1655064"/>
            <a:ext cx="2084832" cy="758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0" tIns="250" rIns="250" bIns="250" anchor="ctr" anchorCtr="0">
            <a:norm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150"/>
              <a:buFont typeface="Calibri"/>
              <a:buNone/>
            </a:pPr>
            <a:r>
              <a:rPr lang="en-US" sz="1150" b="1" i="0" u="none" strike="noStrike" cap="non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PageServices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150"/>
              <a:buFont typeface="Calibri"/>
              <a:buNone/>
            </a:pPr>
            <a:r>
              <a:rPr lang="en-US" sz="1150" b="1" i="0" u="none" strike="noStrike" cap="non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Admin CRUD / Razor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9"/>
          <p:cNvSpPr/>
          <p:nvPr/>
        </p:nvSpPr>
        <p:spPr>
          <a:xfrm>
            <a:off x="6263640" y="1508760"/>
            <a:ext cx="2194560" cy="868680"/>
          </a:xfrm>
          <a:prstGeom prst="roundRect">
            <a:avLst>
              <a:gd name="adj" fmla="val 6316"/>
            </a:avLst>
          </a:prstGeom>
          <a:solidFill>
            <a:srgbClr val="FEE2E2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7" name="Google Shape;277;p9"/>
          <p:cNvSpPr/>
          <p:nvPr/>
        </p:nvSpPr>
        <p:spPr>
          <a:xfrm>
            <a:off x="6318504" y="1563624"/>
            <a:ext cx="2084832" cy="758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0" tIns="250" rIns="250" bIns="250" anchor="ctr" anchorCtr="0">
            <a:norm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150"/>
              <a:buFont typeface="Calibri"/>
              <a:buNone/>
            </a:pPr>
            <a:r>
              <a:rPr lang="en-US" sz="1150" b="1" i="0" u="none" strike="noStrike" cap="non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Simulation Services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150"/>
              <a:buFont typeface="Calibri"/>
              <a:buNone/>
            </a:pPr>
            <a:r>
              <a:rPr lang="en-US" sz="1150" b="1" i="0" u="none" strike="noStrike" cap="non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BattleBatchSimulation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150"/>
              <a:buFont typeface="Calibri"/>
              <a:buNone/>
            </a:pPr>
            <a:r>
              <a:rPr lang="en-US" sz="1150" b="1" i="0" u="none" strike="noStrike" cap="non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ParallelBatchSimulation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9"/>
          <p:cNvSpPr/>
          <p:nvPr/>
        </p:nvSpPr>
        <p:spPr>
          <a:xfrm>
            <a:off x="9281160" y="1508760"/>
            <a:ext cx="2103120" cy="868680"/>
          </a:xfrm>
          <a:prstGeom prst="roundRect">
            <a:avLst>
              <a:gd name="adj" fmla="val 6316"/>
            </a:avLst>
          </a:prstGeom>
          <a:solidFill>
            <a:srgbClr val="FEF3C7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9" name="Google Shape;279;p9"/>
          <p:cNvSpPr/>
          <p:nvPr/>
        </p:nvSpPr>
        <p:spPr>
          <a:xfrm>
            <a:off x="9336024" y="1563624"/>
            <a:ext cx="1993392" cy="758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0" tIns="250" rIns="250" bIns="250" anchor="ctr" anchorCtr="0">
            <a:norm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150"/>
              <a:buFont typeface="Calibri"/>
              <a:buNone/>
            </a:pPr>
            <a:r>
              <a:rPr lang="en-US" sz="1150" b="1" i="0" u="none" strike="noStrike" cap="non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Runtime Models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150"/>
              <a:buFont typeface="Calibri"/>
              <a:buNone/>
            </a:pPr>
            <a:r>
              <a:rPr lang="en-US" sz="1150" b="1" i="0" u="none" strike="noStrike" cap="non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SimulationUnit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150"/>
              <a:buFont typeface="Calibri"/>
              <a:buNone/>
            </a:pPr>
            <a:r>
              <a:rPr lang="en-US" sz="1150" b="1" i="0" u="none" strike="noStrike" cap="non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SimulationModel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150"/>
              <a:buFont typeface="Calibri"/>
              <a:buNone/>
            </a:pPr>
            <a:r>
              <a:rPr lang="en-US" sz="1150" b="1" i="0" u="none" strike="noStrike" cap="non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SimulationWeapon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9"/>
          <p:cNvSpPr/>
          <p:nvPr/>
        </p:nvSpPr>
        <p:spPr>
          <a:xfrm>
            <a:off x="3154680" y="3703320"/>
            <a:ext cx="2194560" cy="868680"/>
          </a:xfrm>
          <a:prstGeom prst="roundRect">
            <a:avLst>
              <a:gd name="adj" fmla="val 6316"/>
            </a:avLst>
          </a:prstGeom>
          <a:solidFill>
            <a:srgbClr val="DBEAFE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1" name="Google Shape;281;p9"/>
          <p:cNvSpPr/>
          <p:nvPr/>
        </p:nvSpPr>
        <p:spPr>
          <a:xfrm>
            <a:off x="3209544" y="3758184"/>
            <a:ext cx="2084832" cy="758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0" tIns="250" rIns="250" bIns="250" anchor="ctr" anchorCtr="0">
            <a:norm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150"/>
              <a:buFont typeface="Calibri"/>
              <a:buNone/>
            </a:pPr>
            <a:r>
              <a:rPr lang="en-US" sz="1150" b="1" i="0" u="none" strike="noStrike" cap="non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Persistence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150"/>
              <a:buFont typeface="Calibri"/>
              <a:buNone/>
            </a:pPr>
            <a:r>
              <a:rPr lang="en-US" sz="1150" b="1" i="0" u="none" strike="noStrike" cap="non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EF Core / DbContext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9"/>
          <p:cNvSpPr/>
          <p:nvPr/>
        </p:nvSpPr>
        <p:spPr>
          <a:xfrm>
            <a:off x="6263640" y="3703320"/>
            <a:ext cx="2194560" cy="868680"/>
          </a:xfrm>
          <a:prstGeom prst="roundRect">
            <a:avLst>
              <a:gd name="adj" fmla="val 6316"/>
            </a:avLst>
          </a:prstGeom>
          <a:solidFill>
            <a:srgbClr val="EDE9FE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3" name="Google Shape;283;p9"/>
          <p:cNvSpPr/>
          <p:nvPr/>
        </p:nvSpPr>
        <p:spPr>
          <a:xfrm>
            <a:off x="6318504" y="3758184"/>
            <a:ext cx="2084832" cy="758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0" tIns="250" rIns="250" bIns="250" anchor="ctr" anchorCtr="0">
            <a:norm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150"/>
              <a:buFont typeface="Calibri"/>
              <a:buNone/>
            </a:pPr>
            <a:r>
              <a:rPr lang="en-US" sz="1150" b="1" i="0" u="none" strike="noStrike" cap="non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Aggregator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150"/>
              <a:buFont typeface="Calibri"/>
              <a:buNone/>
            </a:pPr>
            <a:r>
              <a:rPr lang="en-US" sz="1150" b="1" i="0" u="none" strike="noStrike" cap="non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BattleSimulationAggregator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9"/>
          <p:cNvSpPr/>
          <p:nvPr/>
        </p:nvSpPr>
        <p:spPr>
          <a:xfrm>
            <a:off x="9281160" y="3703320"/>
            <a:ext cx="2103120" cy="868680"/>
          </a:xfrm>
          <a:prstGeom prst="roundRect">
            <a:avLst>
              <a:gd name="adj" fmla="val 6316"/>
            </a:avLst>
          </a:prstGeom>
          <a:solidFill>
            <a:srgbClr val="E5E7EB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5" name="Google Shape;285;p9"/>
          <p:cNvSpPr/>
          <p:nvPr/>
        </p:nvSpPr>
        <p:spPr>
          <a:xfrm>
            <a:off x="9336024" y="3758184"/>
            <a:ext cx="1993392" cy="758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0" tIns="250" rIns="250" bIns="250" anchor="ctr" anchorCtr="0">
            <a:norm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150"/>
              <a:buFont typeface="Calibri"/>
              <a:buNone/>
            </a:pPr>
            <a:r>
              <a:rPr lang="en-US" sz="1150" b="1" i="0" u="none" strike="noStrike" cap="non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DTO / ViewModels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150"/>
              <a:buFont typeface="Calibri"/>
              <a:buNone/>
            </a:pPr>
            <a:r>
              <a:rPr lang="en-US" sz="1150" b="1" i="0" u="none" strike="noStrike" cap="non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API + UI contracts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" name="Google Shape;286;p9"/>
          <p:cNvSpPr/>
          <p:nvPr/>
        </p:nvSpPr>
        <p:spPr>
          <a:xfrm>
            <a:off x="914400" y="5532120"/>
            <a:ext cx="1024128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550"/>
              <a:buFont typeface="Calibri"/>
              <a:buNone/>
            </a:pPr>
            <a:r>
              <a:rPr lang="en-US" sz="155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Принцип: UI не содержит расчётной логики; симуляция изолирована в сервисном слое.</a:t>
            </a:r>
            <a:endParaRPr sz="15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9"/>
          <p:cNvSpPr/>
          <p:nvPr/>
        </p:nvSpPr>
        <p:spPr>
          <a:xfrm>
            <a:off x="11292840" y="6446520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32" tIns="0" rIns="27432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sz="900" b="0">
                <a:solidFill>
                  <a:srgbClr val="475569"/>
                </a:solidFill>
                <a:latin typeface="Calibri"/>
              </a:rPr>
              <a:t>9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AFB"/>
        </a:solidFill>
        <a:effectLst/>
      </p:bgPr>
    </p:bg>
    <p:spTree>
      <p:nvGrpSpPr>
        <p:cNvPr id="1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1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AFB"/>
          </a:solidFill>
          <a:ln w="12700" cap="flat" cmpd="sng">
            <a:solidFill>
              <a:srgbClr val="F9FAF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5" name="Google Shape;295;p1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991B1B"/>
          </a:solidFill>
          <a:ln w="12700" cap="flat" cmpd="sng">
            <a:solidFill>
              <a:srgbClr val="991B1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6" name="Google Shape;296;p10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111827"/>
          </a:solidFill>
          <a:ln w="12700" cap="flat" cmpd="sng">
            <a:solidFill>
              <a:srgbClr val="1118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7" name="Google Shape;297;p10"/>
          <p:cNvSpPr/>
          <p:nvPr/>
        </p:nvSpPr>
        <p:spPr>
          <a:xfrm>
            <a:off x="502920" y="320040"/>
            <a:ext cx="996696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2700"/>
              <a:buFont typeface="Calibri"/>
              <a:buNone/>
            </a:pPr>
            <a:r>
              <a:rPr lang="en-US" sz="2700" b="1" i="0" u="none" strike="noStrike" cap="non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Алгоритм симуляции боя</a:t>
            </a:r>
            <a:endParaRPr sz="2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10"/>
          <p:cNvSpPr/>
          <p:nvPr/>
        </p:nvSpPr>
        <p:spPr>
          <a:xfrm>
            <a:off x="530352" y="841248"/>
            <a:ext cx="1069848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50"/>
              <a:buFont typeface="Calibri"/>
              <a:buNone/>
            </a:pPr>
            <a:r>
              <a:rPr lang="en-US" sz="1350" b="0" i="0" u="none" strike="noStrike" cap="none">
                <a:solidFill>
                  <a:srgbClr val="4B5563"/>
                </a:solidFill>
                <a:latin typeface="Calibri"/>
                <a:ea typeface="Calibri"/>
                <a:cs typeface="Calibri"/>
                <a:sym typeface="Calibri"/>
              </a:rPr>
              <a:t>От выбора юнитов до усреднённой статистики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99" name="Google Shape;299;p10"/>
          <p:cNvCxnSpPr/>
          <p:nvPr/>
        </p:nvCxnSpPr>
        <p:spPr>
          <a:xfrm>
            <a:off x="1972798" y="2468860"/>
            <a:ext cx="411600" cy="0"/>
          </a:xfrm>
          <a:prstGeom prst="straightConnector1">
            <a:avLst/>
          </a:prstGeom>
          <a:noFill/>
          <a:ln w="15225" cap="flat" cmpd="sng">
            <a:solidFill>
              <a:srgbClr val="991B1B"/>
            </a:solidFill>
            <a:prstDash val="solid"/>
            <a:round/>
            <a:headEnd type="none" w="sm" len="sm"/>
            <a:tailEnd type="triangle" w="med" len="med"/>
          </a:ln>
        </p:spPr>
      </p:cxnSp>
      <p:cxnSp>
        <p:nvCxnSpPr>
          <p:cNvPr id="300" name="Google Shape;300;p10"/>
          <p:cNvCxnSpPr/>
          <p:nvPr/>
        </p:nvCxnSpPr>
        <p:spPr>
          <a:xfrm>
            <a:off x="3893038" y="2468860"/>
            <a:ext cx="411600" cy="0"/>
          </a:xfrm>
          <a:prstGeom prst="straightConnector1">
            <a:avLst/>
          </a:prstGeom>
          <a:noFill/>
          <a:ln w="15225" cap="flat" cmpd="sng">
            <a:solidFill>
              <a:srgbClr val="991B1B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301" name="Google Shape;301;p10"/>
          <p:cNvSpPr/>
          <p:nvPr/>
        </p:nvSpPr>
        <p:spPr>
          <a:xfrm>
            <a:off x="2468931" y="1828800"/>
            <a:ext cx="1280100" cy="1280100"/>
          </a:xfrm>
          <a:prstGeom prst="ellipse">
            <a:avLst/>
          </a:prstGeom>
          <a:solidFill>
            <a:srgbClr val="D1FAE5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2" name="Google Shape;302;p10"/>
          <p:cNvSpPr/>
          <p:nvPr/>
        </p:nvSpPr>
        <p:spPr>
          <a:xfrm>
            <a:off x="2240343" y="2125955"/>
            <a:ext cx="17373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0" tIns="250" rIns="250" bIns="250" anchor="ctr" anchorCtr="0">
            <a:norm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50"/>
              <a:buFont typeface="Calibri"/>
              <a:buNone/>
            </a:pPr>
            <a:r>
              <a:rPr lang="en-US" sz="115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DeepClone для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50"/>
              <a:buFont typeface="Calibri"/>
              <a:buNone/>
            </a:pPr>
            <a:r>
              <a:rPr lang="en-US" sz="115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каждой симуляции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03" name="Google Shape;303;p10"/>
          <p:cNvCxnSpPr/>
          <p:nvPr/>
        </p:nvCxnSpPr>
        <p:spPr>
          <a:xfrm>
            <a:off x="5813278" y="2468860"/>
            <a:ext cx="411600" cy="0"/>
          </a:xfrm>
          <a:prstGeom prst="straightConnector1">
            <a:avLst/>
          </a:prstGeom>
          <a:noFill/>
          <a:ln w="15225" cap="flat" cmpd="sng">
            <a:solidFill>
              <a:srgbClr val="991B1B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304" name="Google Shape;304;p10"/>
          <p:cNvSpPr/>
          <p:nvPr/>
        </p:nvSpPr>
        <p:spPr>
          <a:xfrm>
            <a:off x="4389183" y="1847100"/>
            <a:ext cx="1280100" cy="1280100"/>
          </a:xfrm>
          <a:prstGeom prst="ellipse">
            <a:avLst/>
          </a:prstGeom>
          <a:solidFill>
            <a:srgbClr val="DBEAFE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5" name="Google Shape;305;p10"/>
          <p:cNvSpPr/>
          <p:nvPr/>
        </p:nvSpPr>
        <p:spPr>
          <a:xfrm>
            <a:off x="4160583" y="2125955"/>
            <a:ext cx="17373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0" tIns="250" rIns="250" bIns="250" anchor="ctr" anchorCtr="0">
            <a:norm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50"/>
              <a:buFont typeface="Calibri"/>
              <a:buNone/>
            </a:pPr>
            <a:r>
              <a:rPr lang="en-US" sz="115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5 ходов: стрельба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50"/>
              <a:buFont typeface="Calibri"/>
              <a:buNone/>
            </a:pPr>
            <a:r>
              <a:rPr lang="en-US" sz="115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и ответная атака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06" name="Google Shape;306;p10"/>
          <p:cNvCxnSpPr/>
          <p:nvPr/>
        </p:nvCxnSpPr>
        <p:spPr>
          <a:xfrm>
            <a:off x="7733518" y="2468860"/>
            <a:ext cx="411600" cy="0"/>
          </a:xfrm>
          <a:prstGeom prst="straightConnector1">
            <a:avLst/>
          </a:prstGeom>
          <a:noFill/>
          <a:ln w="15225" cap="flat" cmpd="sng">
            <a:solidFill>
              <a:srgbClr val="991B1B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307" name="Google Shape;307;p10"/>
          <p:cNvSpPr/>
          <p:nvPr/>
        </p:nvSpPr>
        <p:spPr>
          <a:xfrm>
            <a:off x="6309436" y="1795525"/>
            <a:ext cx="1280100" cy="1280100"/>
          </a:xfrm>
          <a:prstGeom prst="ellipse">
            <a:avLst/>
          </a:prstGeom>
          <a:solidFill>
            <a:srgbClr val="D1FAE5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8" name="Google Shape;308;p10"/>
          <p:cNvSpPr/>
          <p:nvPr/>
        </p:nvSpPr>
        <p:spPr>
          <a:xfrm>
            <a:off x="6080823" y="2125955"/>
            <a:ext cx="17373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0" tIns="250" rIns="250" bIns="250" anchor="ctr" anchorCtr="0">
            <a:norm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50"/>
              <a:buFont typeface="Calibri"/>
              <a:buNone/>
            </a:pPr>
            <a:r>
              <a:rPr lang="en-US" sz="115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Hit → Wound → </a:t>
            </a:r>
            <a:endParaRPr sz="1150" b="0" i="0" u="none" strike="noStrike" cap="none">
              <a:solidFill>
                <a:srgbClr val="37415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50"/>
              <a:buFont typeface="Calibri"/>
              <a:buNone/>
            </a:pPr>
            <a:r>
              <a:rPr lang="en-US" sz="115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Save</a:t>
            </a:r>
            <a:r>
              <a:rPr lang="en-US" sz="11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15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→ Damage 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09" name="Google Shape;309;p10"/>
          <p:cNvCxnSpPr/>
          <p:nvPr/>
        </p:nvCxnSpPr>
        <p:spPr>
          <a:xfrm>
            <a:off x="9653758" y="2468860"/>
            <a:ext cx="411600" cy="0"/>
          </a:xfrm>
          <a:prstGeom prst="straightConnector1">
            <a:avLst/>
          </a:prstGeom>
          <a:noFill/>
          <a:ln w="15225" cap="flat" cmpd="sng">
            <a:solidFill>
              <a:srgbClr val="991B1B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310" name="Google Shape;310;p10"/>
          <p:cNvSpPr/>
          <p:nvPr/>
        </p:nvSpPr>
        <p:spPr>
          <a:xfrm>
            <a:off x="8225026" y="1828800"/>
            <a:ext cx="1280100" cy="1280100"/>
          </a:xfrm>
          <a:prstGeom prst="ellipse">
            <a:avLst/>
          </a:prstGeom>
          <a:solidFill>
            <a:srgbClr val="DBEAFE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1" name="Google Shape;311;p10"/>
          <p:cNvSpPr/>
          <p:nvPr/>
        </p:nvSpPr>
        <p:spPr>
          <a:xfrm>
            <a:off x="8001063" y="2125955"/>
            <a:ext cx="17373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0" tIns="250" rIns="250" bIns="250" anchor="ctr" anchorCtr="0">
            <a:norm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50"/>
              <a:buFont typeface="Calibri"/>
              <a:buNone/>
            </a:pPr>
            <a:r>
              <a:rPr lang="en-US" sz="1050" b="0" i="0" u="none" strike="noStrike" cap="none" dirty="0" err="1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Локальная</a:t>
            </a:r>
            <a:r>
              <a:rPr lang="en-US" sz="1050" b="0" i="0" u="none" strike="noStrike" cap="none" dirty="0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050" b="0" i="0" u="none" strike="noStrike" cap="none" dirty="0" err="1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статистика</a:t>
            </a:r>
            <a:endParaRPr sz="105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50"/>
              <a:buFont typeface="Calibri"/>
              <a:buNone/>
            </a:pPr>
            <a:r>
              <a:rPr lang="en-US" sz="1050" b="0" i="0" u="none" strike="noStrike" cap="none" dirty="0" err="1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по</a:t>
            </a:r>
            <a:r>
              <a:rPr lang="en-US" sz="1050" b="0" i="0" u="none" strike="noStrike" cap="none" dirty="0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050" b="0" i="0" u="none" strike="noStrike" cap="none" dirty="0" err="1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оружию</a:t>
            </a:r>
            <a:r>
              <a:rPr lang="en-US" sz="1050" b="0" i="0" u="none" strike="noStrike" cap="none" dirty="0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 и </a:t>
            </a:r>
            <a:r>
              <a:rPr lang="en-US" sz="1050" b="0" i="0" u="none" strike="noStrike" cap="none" dirty="0" err="1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ходам</a:t>
            </a:r>
            <a:endParaRPr sz="105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" name="Google Shape;312;p10"/>
          <p:cNvSpPr/>
          <p:nvPr/>
        </p:nvSpPr>
        <p:spPr>
          <a:xfrm>
            <a:off x="10168128" y="1828800"/>
            <a:ext cx="1280100" cy="1280100"/>
          </a:xfrm>
          <a:prstGeom prst="ellipse">
            <a:avLst/>
          </a:prstGeom>
          <a:solidFill>
            <a:srgbClr val="D1FAE5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3" name="Google Shape;313;p10"/>
          <p:cNvSpPr/>
          <p:nvPr/>
        </p:nvSpPr>
        <p:spPr>
          <a:xfrm>
            <a:off x="9921303" y="2125955"/>
            <a:ext cx="17373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0" tIns="250" rIns="250" bIns="250" anchor="ctr" anchorCtr="0">
            <a:norm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50"/>
              <a:buFont typeface="Calibri"/>
              <a:buNone/>
            </a:pPr>
            <a:r>
              <a:rPr lang="en-US" sz="115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Агрегация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50"/>
              <a:buFont typeface="Calibri"/>
              <a:buNone/>
            </a:pPr>
            <a:r>
              <a:rPr lang="en-US" sz="115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результатов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10"/>
          <p:cNvSpPr/>
          <p:nvPr/>
        </p:nvSpPr>
        <p:spPr>
          <a:xfrm>
            <a:off x="1005840" y="4892040"/>
            <a:ext cx="10058400" cy="685800"/>
          </a:xfrm>
          <a:prstGeom prst="roundRect">
            <a:avLst>
              <a:gd name="adj" fmla="val 8000"/>
            </a:avLst>
          </a:prstGeom>
          <a:solidFill>
            <a:srgbClr val="111827"/>
          </a:solidFill>
          <a:ln w="12700" cap="flat" cmpd="sng">
            <a:solidFill>
              <a:srgbClr val="E5E7E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5" name="Google Shape;315;p10"/>
          <p:cNvSpPr/>
          <p:nvPr/>
        </p:nvSpPr>
        <p:spPr>
          <a:xfrm>
            <a:off x="1234440" y="5102352"/>
            <a:ext cx="96012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50"/>
              <a:buFont typeface="Calibri"/>
              <a:buNone/>
            </a:pPr>
            <a:r>
              <a:rPr lang="en-US" sz="155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Главная оптимизация: данные БД загружаются один раз, а внутренний цикл расчёта работает только с объектами в памяти.</a:t>
            </a:r>
            <a:endParaRPr sz="15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7" name="Google Shape;317;p10"/>
          <p:cNvSpPr/>
          <p:nvPr/>
        </p:nvSpPr>
        <p:spPr>
          <a:xfrm>
            <a:off x="11292840" y="6446520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32" tIns="0" rIns="27432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sz="900" b="0">
                <a:solidFill>
                  <a:srgbClr val="475569"/>
                </a:solidFill>
                <a:latin typeface="Calibri"/>
              </a:rPr>
              <a:t>10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10"/>
          <p:cNvSpPr/>
          <p:nvPr/>
        </p:nvSpPr>
        <p:spPr>
          <a:xfrm>
            <a:off x="548733" y="1828800"/>
            <a:ext cx="1280100" cy="1280100"/>
          </a:xfrm>
          <a:prstGeom prst="ellipse">
            <a:avLst/>
          </a:prstGeom>
          <a:solidFill>
            <a:srgbClr val="DBEAFE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9" name="Google Shape;319;p10"/>
          <p:cNvSpPr/>
          <p:nvPr/>
        </p:nvSpPr>
        <p:spPr>
          <a:xfrm>
            <a:off x="320103" y="2125955"/>
            <a:ext cx="17373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0" tIns="250" rIns="250" bIns="250" anchor="ctr" anchorCtr="0">
            <a:norm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50"/>
              <a:buFont typeface="Calibri"/>
              <a:buNone/>
            </a:pPr>
            <a:r>
              <a:rPr lang="en-US" sz="1100" b="0" i="0" u="none" strike="noStrike" cap="none" dirty="0" err="1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Загрузка</a:t>
            </a:r>
            <a:r>
              <a:rPr lang="en-US" sz="1100" b="0" i="0" u="none" strike="noStrike" cap="none" dirty="0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100" b="0" i="0" u="none" strike="noStrike" cap="none" dirty="0" err="1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прототипов</a:t>
            </a:r>
            <a:endParaRPr sz="11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50"/>
              <a:buFont typeface="Calibri"/>
              <a:buNone/>
            </a:pPr>
            <a:r>
              <a:rPr lang="en-US" sz="1100" b="0" i="0" u="none" strike="noStrike" cap="none" dirty="0" err="1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юнитов</a:t>
            </a:r>
            <a:r>
              <a:rPr lang="en-US" sz="1100" b="0" i="0" u="none" strike="noStrike" cap="none" dirty="0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100" b="0" i="0" u="none" strike="noStrike" cap="none" dirty="0" err="1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из</a:t>
            </a:r>
            <a:r>
              <a:rPr lang="en-US" sz="1100" b="0" i="0" u="none" strike="noStrike" cap="none" dirty="0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 БД</a:t>
            </a:r>
            <a:endParaRPr sz="11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9966960" cy="502920"/>
          </a:xfrm>
          <a:prstGeom prst="rect">
            <a:avLst/>
          </a:prstGeom>
          <a:noFill/>
        </p:spPr>
        <p:txBody>
          <a:bodyPr wrap="none" lIns="27432" rIns="27432">
            <a:spAutoFit/>
          </a:bodyPr>
          <a:lstStyle/>
          <a:p>
            <a:pPr algn="l"/>
            <a:r>
              <a:rPr sz="2400" b="1">
                <a:solidFill>
                  <a:srgbClr val="111827"/>
                </a:solidFill>
                <a:latin typeface="Calibri"/>
              </a:rPr>
              <a:t>Оптимизация работы с БД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698480" cy="310896"/>
          </a:xfrm>
          <a:prstGeom prst="rect">
            <a:avLst/>
          </a:prstGeom>
          <a:noFill/>
        </p:spPr>
        <p:txBody>
          <a:bodyPr wrap="none" lIns="27432" rIns="27432">
            <a:spAutoFit/>
          </a:bodyPr>
          <a:lstStyle/>
          <a:p>
            <a:pPr algn="l"/>
            <a:r>
              <a:rPr sz="1200" b="0">
                <a:solidFill>
                  <a:srgbClr val="475569"/>
                </a:solidFill>
                <a:latin typeface="Calibri"/>
              </a:rPr>
              <a:t>До и после исключения повторной сборки юнитов из внутреннего цикла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70432"/>
            <a:ext cx="7315200" cy="228600"/>
          </a:xfrm>
          <a:prstGeom prst="rect">
            <a:avLst/>
          </a:prstGeom>
          <a:noFill/>
        </p:spPr>
        <p:txBody>
          <a:bodyPr wrap="none" lIns="27432" rIns="27432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Calibri"/>
              </a:rPr>
              <a:t>15 000 симуляций, 5 ходов, сохранение в БД отключено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600200"/>
            <a:ext cx="2377440" cy="347472"/>
          </a:xfrm>
          <a:prstGeom prst="roundRect">
            <a:avLst/>
          </a:prstGeom>
          <a:solidFill>
            <a:srgbClr val="FEF2F2"/>
          </a:solidFill>
          <a:ln w="9525">
            <a:solidFill>
              <a:srgbClr val="FCA5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" tIns="9144" rIns="27432" bIns="9144" rtlCol="0" anchor="ctr"/>
          <a:lstStyle/>
          <a:p>
            <a:pPr algn="ctr"/>
            <a:r>
              <a:rPr sz="1300" b="1">
                <a:solidFill>
                  <a:srgbClr val="B91C1C"/>
                </a:solidFill>
                <a:latin typeface="Calibri"/>
              </a:rPr>
              <a:t>Было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039112"/>
            <a:ext cx="2466316" cy="353943"/>
          </a:xfrm>
          <a:prstGeom prst="rect">
            <a:avLst/>
          </a:prstGeom>
          <a:noFill/>
        </p:spPr>
        <p:txBody>
          <a:bodyPr wrap="none" lIns="27432" rIns="27432">
            <a:spAutoFit/>
          </a:bodyPr>
          <a:lstStyle/>
          <a:p>
            <a:pPr algn="l"/>
            <a:r>
              <a:rPr sz="850" b="0" dirty="0">
                <a:solidFill>
                  <a:srgbClr val="0F172A"/>
                </a:solidFill>
                <a:latin typeface="Calibri"/>
              </a:rPr>
              <a:t>В </a:t>
            </a:r>
            <a:r>
              <a:rPr sz="850" b="0" dirty="0" err="1">
                <a:solidFill>
                  <a:srgbClr val="0F172A"/>
                </a:solidFill>
                <a:latin typeface="Calibri"/>
              </a:rPr>
              <a:t>каждой</a:t>
            </a:r>
            <a:r>
              <a:rPr sz="850" b="0" dirty="0">
                <a:solidFill>
                  <a:srgbClr val="0F172A"/>
                </a:solidFill>
                <a:latin typeface="Calibri"/>
              </a:rPr>
              <a:t> </a:t>
            </a:r>
            <a:r>
              <a:rPr sz="850" b="0" dirty="0" err="1">
                <a:solidFill>
                  <a:srgbClr val="0F172A"/>
                </a:solidFill>
                <a:latin typeface="Calibri"/>
              </a:rPr>
              <a:t>итерации</a:t>
            </a:r>
            <a:r>
              <a:rPr sz="850" b="0" dirty="0">
                <a:solidFill>
                  <a:srgbClr val="0F172A"/>
                </a:solidFill>
                <a:latin typeface="Calibri"/>
              </a:rPr>
              <a:t> </a:t>
            </a:r>
            <a:r>
              <a:rPr sz="850" b="0" dirty="0" err="1">
                <a:solidFill>
                  <a:srgbClr val="0F172A"/>
                </a:solidFill>
                <a:latin typeface="Calibri"/>
              </a:rPr>
              <a:t>заново</a:t>
            </a:r>
            <a:r>
              <a:rPr sz="850" b="0" dirty="0">
                <a:solidFill>
                  <a:srgbClr val="0F172A"/>
                </a:solidFill>
                <a:latin typeface="Calibri"/>
              </a:rPr>
              <a:t> </a:t>
            </a:r>
            <a:r>
              <a:rPr sz="850" b="0" dirty="0" err="1">
                <a:solidFill>
                  <a:srgbClr val="0F172A"/>
                </a:solidFill>
                <a:latin typeface="Calibri"/>
              </a:rPr>
              <a:t>выполнялись</a:t>
            </a:r>
            <a:r>
              <a:rPr sz="850" b="0" dirty="0">
                <a:solidFill>
                  <a:srgbClr val="0F172A"/>
                </a:solidFill>
                <a:latin typeface="Calibri"/>
              </a:rPr>
              <a:t> </a:t>
            </a:r>
            <a:endParaRPr lang="ru-RU" sz="850" b="0" dirty="0">
              <a:solidFill>
                <a:srgbClr val="0F172A"/>
              </a:solidFill>
              <a:latin typeface="Calibri"/>
            </a:endParaRPr>
          </a:p>
          <a:p>
            <a:pPr algn="l"/>
            <a:r>
              <a:rPr sz="850" b="0" dirty="0">
                <a:solidFill>
                  <a:srgbClr val="0F172A"/>
                </a:solidFill>
                <a:latin typeface="Calibri"/>
              </a:rPr>
              <a:t>EF Core </a:t>
            </a:r>
            <a:r>
              <a:rPr sz="850" b="0" dirty="0" err="1">
                <a:solidFill>
                  <a:srgbClr val="0F172A"/>
                </a:solidFill>
                <a:latin typeface="Calibri"/>
              </a:rPr>
              <a:t>запросы</a:t>
            </a:r>
            <a:r>
              <a:rPr sz="850" b="0" dirty="0">
                <a:solidFill>
                  <a:srgbClr val="0F172A"/>
                </a:solidFill>
                <a:latin typeface="Calibri"/>
              </a:rPr>
              <a:t> и </a:t>
            </a:r>
            <a:r>
              <a:rPr sz="850" b="0" dirty="0" err="1">
                <a:solidFill>
                  <a:srgbClr val="0F172A"/>
                </a:solidFill>
                <a:latin typeface="Calibri"/>
              </a:rPr>
              <a:t>сборка</a:t>
            </a:r>
            <a:r>
              <a:rPr sz="850" b="0" dirty="0">
                <a:solidFill>
                  <a:srgbClr val="0F172A"/>
                </a:solidFill>
                <a:latin typeface="Calibri"/>
              </a:rPr>
              <a:t> runtime-</a:t>
            </a:r>
            <a:r>
              <a:rPr sz="850" b="0" dirty="0" err="1">
                <a:solidFill>
                  <a:srgbClr val="0F172A"/>
                </a:solidFill>
                <a:latin typeface="Calibri"/>
              </a:rPr>
              <a:t>моделей</a:t>
            </a:r>
            <a:r>
              <a:rPr sz="850" b="0" dirty="0">
                <a:solidFill>
                  <a:srgbClr val="0F172A"/>
                </a:solidFill>
                <a:latin typeface="Calibri"/>
              </a:rPr>
              <a:t> </a:t>
            </a:r>
            <a:r>
              <a:rPr sz="850" b="0" dirty="0" err="1">
                <a:solidFill>
                  <a:srgbClr val="0F172A"/>
                </a:solidFill>
                <a:latin typeface="Calibri"/>
              </a:rPr>
              <a:t>юнитов</a:t>
            </a:r>
            <a:endParaRPr sz="850" b="0" dirty="0">
              <a:solidFill>
                <a:srgbClr val="0F172A"/>
              </a:solidFill>
              <a:latin typeface="Calibr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77240" y="2743200"/>
            <a:ext cx="1826719" cy="353943"/>
          </a:xfrm>
          <a:prstGeom prst="rect">
            <a:avLst/>
          </a:prstGeom>
          <a:noFill/>
        </p:spPr>
        <p:txBody>
          <a:bodyPr wrap="none" lIns="27432" rIns="27432">
            <a:spAutoFit/>
          </a:bodyPr>
          <a:lstStyle/>
          <a:p>
            <a:pPr algn="l"/>
            <a:r>
              <a:rPr sz="850" b="1" dirty="0">
                <a:solidFill>
                  <a:srgbClr val="B91C1C"/>
                </a:solidFill>
                <a:latin typeface="Calibri"/>
              </a:rPr>
              <a:t>15 000 </a:t>
            </a:r>
            <a:r>
              <a:rPr sz="850" b="1" dirty="0" err="1">
                <a:solidFill>
                  <a:srgbClr val="B91C1C"/>
                </a:solidFill>
                <a:latin typeface="Calibri"/>
              </a:rPr>
              <a:t>симуляций</a:t>
            </a:r>
            <a:r>
              <a:rPr sz="850" b="1" dirty="0">
                <a:solidFill>
                  <a:srgbClr val="B91C1C"/>
                </a:solidFill>
                <a:latin typeface="Calibri"/>
              </a:rPr>
              <a:t> </a:t>
            </a:r>
            <a:r>
              <a:rPr lang="ru-RU" sz="850" b="1" dirty="0">
                <a:solidFill>
                  <a:srgbClr val="B91C1C"/>
                </a:solidFill>
                <a:latin typeface="Calibri"/>
              </a:rPr>
              <a:t>порождали</a:t>
            </a:r>
            <a:r>
              <a:rPr sz="850" b="1" dirty="0">
                <a:solidFill>
                  <a:srgbClr val="B91C1C"/>
                </a:solidFill>
                <a:latin typeface="Calibri"/>
              </a:rPr>
              <a:t> 30 000 </a:t>
            </a:r>
            <a:endParaRPr lang="ru-RU" sz="850" b="1" dirty="0">
              <a:solidFill>
                <a:srgbClr val="B91C1C"/>
              </a:solidFill>
              <a:latin typeface="Calibri"/>
            </a:endParaRPr>
          </a:p>
          <a:p>
            <a:pPr algn="l"/>
            <a:r>
              <a:rPr sz="850" b="1" dirty="0" err="1">
                <a:solidFill>
                  <a:srgbClr val="B91C1C"/>
                </a:solidFill>
                <a:latin typeface="Calibri"/>
              </a:rPr>
              <a:t>сборок</a:t>
            </a:r>
            <a:r>
              <a:rPr sz="850" b="1" dirty="0">
                <a:solidFill>
                  <a:srgbClr val="B91C1C"/>
                </a:solidFill>
                <a:latin typeface="Calibri"/>
              </a:rPr>
              <a:t> </a:t>
            </a:r>
            <a:r>
              <a:rPr sz="850" b="1" dirty="0" err="1">
                <a:solidFill>
                  <a:srgbClr val="B91C1C"/>
                </a:solidFill>
                <a:latin typeface="Calibri"/>
              </a:rPr>
              <a:t>юнитов</a:t>
            </a:r>
            <a:r>
              <a:rPr sz="850" b="1" dirty="0">
                <a:solidFill>
                  <a:srgbClr val="B91C1C"/>
                </a:solidFill>
                <a:latin typeface="Calibri"/>
              </a:rPr>
              <a:t> </a:t>
            </a:r>
            <a:r>
              <a:rPr sz="850" b="1" dirty="0" err="1">
                <a:solidFill>
                  <a:srgbClr val="B91C1C"/>
                </a:solidFill>
                <a:latin typeface="Calibri"/>
              </a:rPr>
              <a:t>из</a:t>
            </a:r>
            <a:r>
              <a:rPr sz="850" b="1" dirty="0">
                <a:solidFill>
                  <a:srgbClr val="B91C1C"/>
                </a:solidFill>
                <a:latin typeface="Calibri"/>
              </a:rPr>
              <a:t> БД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3456432"/>
            <a:ext cx="2377440" cy="347472"/>
          </a:xfrm>
          <a:prstGeom prst="roundRect">
            <a:avLst/>
          </a:prstGeom>
          <a:solidFill>
            <a:srgbClr val="ECFDF5"/>
          </a:solidFill>
          <a:ln w="9525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" tIns="9144" rIns="27432" bIns="9144" rtlCol="0" anchor="ctr"/>
          <a:lstStyle/>
          <a:p>
            <a:pPr algn="ctr"/>
            <a:r>
              <a:rPr sz="1300" b="1">
                <a:solidFill>
                  <a:srgbClr val="047857"/>
                </a:solidFill>
                <a:latin typeface="Calibri"/>
              </a:rPr>
              <a:t>Стало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886200"/>
            <a:ext cx="2477538" cy="353943"/>
          </a:xfrm>
          <a:prstGeom prst="rect">
            <a:avLst/>
          </a:prstGeom>
          <a:noFill/>
        </p:spPr>
        <p:txBody>
          <a:bodyPr wrap="none" lIns="27432" rIns="27432">
            <a:spAutoFit/>
          </a:bodyPr>
          <a:lstStyle/>
          <a:p>
            <a:pPr algn="l"/>
            <a:r>
              <a:rPr sz="850" b="0" dirty="0" err="1">
                <a:solidFill>
                  <a:srgbClr val="0F172A"/>
                </a:solidFill>
                <a:latin typeface="Calibri"/>
              </a:rPr>
              <a:t>Юниты</a:t>
            </a:r>
            <a:r>
              <a:rPr sz="850" b="0" dirty="0">
                <a:solidFill>
                  <a:srgbClr val="0F172A"/>
                </a:solidFill>
                <a:latin typeface="Calibri"/>
              </a:rPr>
              <a:t> </a:t>
            </a:r>
            <a:r>
              <a:rPr sz="850" b="0" dirty="0" err="1">
                <a:solidFill>
                  <a:srgbClr val="0F172A"/>
                </a:solidFill>
                <a:latin typeface="Calibri"/>
              </a:rPr>
              <a:t>загружаются</a:t>
            </a:r>
            <a:r>
              <a:rPr sz="850" b="0" dirty="0">
                <a:solidFill>
                  <a:srgbClr val="0F172A"/>
                </a:solidFill>
                <a:latin typeface="Calibri"/>
              </a:rPr>
              <a:t> </a:t>
            </a:r>
            <a:r>
              <a:rPr sz="850" b="0" dirty="0" err="1">
                <a:solidFill>
                  <a:srgbClr val="0F172A"/>
                </a:solidFill>
                <a:latin typeface="Calibri"/>
              </a:rPr>
              <a:t>из</a:t>
            </a:r>
            <a:r>
              <a:rPr sz="850" b="0" dirty="0">
                <a:solidFill>
                  <a:srgbClr val="0F172A"/>
                </a:solidFill>
                <a:latin typeface="Calibri"/>
              </a:rPr>
              <a:t> БД </a:t>
            </a:r>
            <a:r>
              <a:rPr sz="850" b="0" dirty="0" err="1">
                <a:solidFill>
                  <a:srgbClr val="0F172A"/>
                </a:solidFill>
                <a:latin typeface="Calibri"/>
              </a:rPr>
              <a:t>один</a:t>
            </a:r>
            <a:r>
              <a:rPr sz="850" b="0" dirty="0">
                <a:solidFill>
                  <a:srgbClr val="0F172A"/>
                </a:solidFill>
                <a:latin typeface="Calibri"/>
              </a:rPr>
              <a:t> </a:t>
            </a:r>
            <a:r>
              <a:rPr sz="850" b="0" dirty="0" err="1">
                <a:solidFill>
                  <a:srgbClr val="0F172A"/>
                </a:solidFill>
                <a:latin typeface="Calibri"/>
              </a:rPr>
              <a:t>раз</a:t>
            </a:r>
            <a:r>
              <a:rPr sz="850" b="0" dirty="0">
                <a:solidFill>
                  <a:srgbClr val="0F172A"/>
                </a:solidFill>
                <a:latin typeface="Calibri"/>
              </a:rPr>
              <a:t> </a:t>
            </a:r>
            <a:r>
              <a:rPr sz="850" b="0" dirty="0" err="1">
                <a:solidFill>
                  <a:srgbClr val="0F172A"/>
                </a:solidFill>
                <a:latin typeface="Calibri"/>
              </a:rPr>
              <a:t>как</a:t>
            </a:r>
            <a:r>
              <a:rPr sz="850" b="0" dirty="0">
                <a:solidFill>
                  <a:srgbClr val="0F172A"/>
                </a:solidFill>
                <a:latin typeface="Calibri"/>
              </a:rPr>
              <a:t> </a:t>
            </a:r>
            <a:r>
              <a:rPr sz="850" b="0" dirty="0" err="1">
                <a:solidFill>
                  <a:srgbClr val="0F172A"/>
                </a:solidFill>
                <a:latin typeface="Calibri"/>
              </a:rPr>
              <a:t>прототипы</a:t>
            </a:r>
            <a:r>
              <a:rPr sz="850" b="0" dirty="0">
                <a:solidFill>
                  <a:srgbClr val="0F172A"/>
                </a:solidFill>
                <a:latin typeface="Calibri"/>
              </a:rPr>
              <a:t>, </a:t>
            </a:r>
            <a:endParaRPr lang="ru-RU" sz="850" b="0" dirty="0">
              <a:solidFill>
                <a:srgbClr val="0F172A"/>
              </a:solidFill>
              <a:latin typeface="Calibri"/>
            </a:endParaRPr>
          </a:p>
          <a:p>
            <a:pPr algn="l"/>
            <a:r>
              <a:rPr sz="850" b="0" dirty="0" err="1">
                <a:solidFill>
                  <a:srgbClr val="0F172A"/>
                </a:solidFill>
                <a:latin typeface="Calibri"/>
              </a:rPr>
              <a:t>затем</a:t>
            </a:r>
            <a:r>
              <a:rPr sz="850" b="0" dirty="0">
                <a:solidFill>
                  <a:srgbClr val="0F172A"/>
                </a:solidFill>
                <a:latin typeface="Calibri"/>
              </a:rPr>
              <a:t> </a:t>
            </a:r>
            <a:r>
              <a:rPr sz="850" b="0" dirty="0" err="1">
                <a:solidFill>
                  <a:srgbClr val="0F172A"/>
                </a:solidFill>
                <a:latin typeface="Calibri"/>
              </a:rPr>
              <a:t>для</a:t>
            </a:r>
            <a:r>
              <a:rPr sz="850" b="0" dirty="0">
                <a:solidFill>
                  <a:srgbClr val="0F172A"/>
                </a:solidFill>
                <a:latin typeface="Calibri"/>
              </a:rPr>
              <a:t> </a:t>
            </a:r>
            <a:r>
              <a:rPr sz="850" b="0" dirty="0" err="1">
                <a:solidFill>
                  <a:srgbClr val="0F172A"/>
                </a:solidFill>
                <a:latin typeface="Calibri"/>
              </a:rPr>
              <a:t>боя</a:t>
            </a:r>
            <a:r>
              <a:rPr sz="850" b="0" dirty="0">
                <a:solidFill>
                  <a:srgbClr val="0F172A"/>
                </a:solidFill>
                <a:latin typeface="Calibri"/>
              </a:rPr>
              <a:t> </a:t>
            </a:r>
            <a:r>
              <a:rPr sz="850" b="0" dirty="0" err="1">
                <a:solidFill>
                  <a:srgbClr val="0F172A"/>
                </a:solidFill>
                <a:latin typeface="Calibri"/>
              </a:rPr>
              <a:t>используется</a:t>
            </a:r>
            <a:r>
              <a:rPr sz="850" b="0" dirty="0">
                <a:solidFill>
                  <a:srgbClr val="0F172A"/>
                </a:solidFill>
                <a:latin typeface="Calibri"/>
              </a:rPr>
              <a:t> </a:t>
            </a:r>
            <a:r>
              <a:rPr sz="850" b="0" dirty="0" err="1">
                <a:solidFill>
                  <a:srgbClr val="0F172A"/>
                </a:solidFill>
                <a:latin typeface="Calibri"/>
              </a:rPr>
              <a:t>DeepClone</a:t>
            </a:r>
            <a:r>
              <a:rPr sz="850" b="0" dirty="0">
                <a:solidFill>
                  <a:srgbClr val="0F172A"/>
                </a:solidFill>
                <a:latin typeface="Calibri"/>
              </a:rPr>
              <a:t> в </a:t>
            </a:r>
            <a:r>
              <a:rPr sz="850" b="0" dirty="0" err="1">
                <a:solidFill>
                  <a:srgbClr val="0F172A"/>
                </a:solidFill>
                <a:latin typeface="Calibri"/>
              </a:rPr>
              <a:t>памяти</a:t>
            </a:r>
            <a:endParaRPr sz="850" b="0" dirty="0">
              <a:solidFill>
                <a:srgbClr val="0F172A"/>
              </a:solidFill>
              <a:latin typeface="Calibr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777240" y="4645152"/>
            <a:ext cx="2044727" cy="223138"/>
          </a:xfrm>
          <a:prstGeom prst="rect">
            <a:avLst/>
          </a:prstGeom>
          <a:noFill/>
        </p:spPr>
        <p:txBody>
          <a:bodyPr wrap="none" lIns="27432" rIns="27432">
            <a:spAutoFit/>
          </a:bodyPr>
          <a:lstStyle/>
          <a:p>
            <a:pPr algn="l"/>
            <a:r>
              <a:rPr lang="ru-RU" sz="850" b="1" dirty="0">
                <a:solidFill>
                  <a:srgbClr val="047857"/>
                </a:solidFill>
                <a:latin typeface="Calibri"/>
              </a:rPr>
              <a:t>Ц</a:t>
            </a:r>
            <a:r>
              <a:rPr sz="850" b="1" dirty="0" err="1">
                <a:solidFill>
                  <a:srgbClr val="047857"/>
                </a:solidFill>
                <a:latin typeface="Calibri"/>
              </a:rPr>
              <a:t>икл</a:t>
            </a:r>
            <a:r>
              <a:rPr sz="850" b="1" dirty="0">
                <a:solidFill>
                  <a:srgbClr val="047857"/>
                </a:solidFill>
                <a:latin typeface="Calibri"/>
              </a:rPr>
              <a:t> </a:t>
            </a:r>
            <a:r>
              <a:rPr sz="850" b="1" dirty="0" err="1">
                <a:solidFill>
                  <a:srgbClr val="047857"/>
                </a:solidFill>
                <a:latin typeface="Calibri"/>
              </a:rPr>
              <a:t>расчёта</a:t>
            </a:r>
            <a:r>
              <a:rPr sz="850" b="1" dirty="0">
                <a:solidFill>
                  <a:srgbClr val="047857"/>
                </a:solidFill>
                <a:latin typeface="Calibri"/>
              </a:rPr>
              <a:t> </a:t>
            </a:r>
            <a:r>
              <a:rPr sz="850" b="1" dirty="0" err="1">
                <a:solidFill>
                  <a:srgbClr val="047857"/>
                </a:solidFill>
                <a:latin typeface="Calibri"/>
              </a:rPr>
              <a:t>больше</a:t>
            </a:r>
            <a:r>
              <a:rPr sz="850" b="1" dirty="0">
                <a:solidFill>
                  <a:srgbClr val="047857"/>
                </a:solidFill>
                <a:latin typeface="Calibri"/>
              </a:rPr>
              <a:t> не </a:t>
            </a:r>
            <a:r>
              <a:rPr sz="850" b="1" dirty="0" err="1">
                <a:solidFill>
                  <a:srgbClr val="047857"/>
                </a:solidFill>
                <a:latin typeface="Calibri"/>
              </a:rPr>
              <a:t>зависит</a:t>
            </a:r>
            <a:r>
              <a:rPr sz="850" b="1" dirty="0">
                <a:solidFill>
                  <a:srgbClr val="047857"/>
                </a:solidFill>
                <a:latin typeface="Calibri"/>
              </a:rPr>
              <a:t> </a:t>
            </a:r>
            <a:r>
              <a:rPr sz="850" b="1" dirty="0" err="1">
                <a:solidFill>
                  <a:srgbClr val="047857"/>
                </a:solidFill>
                <a:latin typeface="Calibri"/>
              </a:rPr>
              <a:t>от</a:t>
            </a:r>
            <a:r>
              <a:rPr sz="850" b="1" dirty="0">
                <a:solidFill>
                  <a:srgbClr val="047857"/>
                </a:solidFill>
                <a:latin typeface="Calibri"/>
              </a:rPr>
              <a:t> SQLite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83280" y="1600200"/>
            <a:ext cx="1325880" cy="347472"/>
          </a:xfrm>
          <a:prstGeom prst="rect">
            <a:avLst/>
          </a:prstGeom>
          <a:solidFill>
            <a:srgbClr val="111827"/>
          </a:solidFill>
          <a:ln w="9525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" tIns="9144" rIns="27432" bIns="9144"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Режим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09160" y="1600200"/>
            <a:ext cx="1600200" cy="347472"/>
          </a:xfrm>
          <a:prstGeom prst="rect">
            <a:avLst/>
          </a:prstGeom>
          <a:solidFill>
            <a:srgbClr val="111827"/>
          </a:solidFill>
          <a:ln w="9525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" tIns="9144" rIns="27432" bIns="9144"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До правки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1600200"/>
            <a:ext cx="1600200" cy="347472"/>
          </a:xfrm>
          <a:prstGeom prst="rect">
            <a:avLst/>
          </a:prstGeom>
          <a:solidFill>
            <a:srgbClr val="111827"/>
          </a:solidFill>
          <a:ln w="9525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" tIns="9144" rIns="27432" bIns="9144"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После правки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09560" y="1600200"/>
            <a:ext cx="2240280" cy="347472"/>
          </a:xfrm>
          <a:prstGeom prst="rect">
            <a:avLst/>
          </a:prstGeom>
          <a:solidFill>
            <a:srgbClr val="111827"/>
          </a:solidFill>
          <a:ln w="9525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" tIns="9144" rIns="27432" bIns="9144" rtlCol="0" anchor="ctr"/>
          <a:lstStyle/>
          <a:p>
            <a:pPr algn="ctr"/>
            <a:r>
              <a:rPr sz="950" b="1" dirty="0" err="1">
                <a:solidFill>
                  <a:srgbClr val="FFFFFF"/>
                </a:solidFill>
                <a:latin typeface="Calibri"/>
              </a:rPr>
              <a:t>Ускорение</a:t>
            </a:r>
            <a:endParaRPr sz="95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3383280" y="1947672"/>
            <a:ext cx="132588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" tIns="9144" rIns="27432" bIns="9144" rtlCol="0" anchor="ctr"/>
          <a:lstStyle/>
          <a:p>
            <a:pPr algn="ctr"/>
            <a:r>
              <a:rPr sz="919" b="1">
                <a:solidFill>
                  <a:srgbClr val="0F172A"/>
                </a:solidFill>
                <a:latin typeface="Calibri"/>
              </a:rPr>
              <a:t>1 поток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09160" y="1947672"/>
            <a:ext cx="160020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" tIns="9144" rIns="27432" bIns="9144" rtlCol="0" anchor="ctr"/>
          <a:lstStyle/>
          <a:p>
            <a:pPr algn="ctr"/>
            <a:r>
              <a:rPr sz="919" b="0">
                <a:solidFill>
                  <a:srgbClr val="B91C1C"/>
                </a:solidFill>
                <a:latin typeface="Calibri"/>
              </a:rPr>
              <a:t>~29 000 мс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9360" y="1947672"/>
            <a:ext cx="160020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" tIns="9144" rIns="27432" bIns="9144" rtlCol="0" anchor="ctr"/>
          <a:lstStyle/>
          <a:p>
            <a:pPr algn="ctr"/>
            <a:r>
              <a:rPr sz="919" b="0">
                <a:solidFill>
                  <a:srgbClr val="047857"/>
                </a:solidFill>
                <a:latin typeface="Calibri"/>
              </a:rPr>
              <a:t>2 726 мс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09560" y="1947672"/>
            <a:ext cx="224028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" tIns="9144" rIns="27432" bIns="9144" rtlCol="0" anchor="ctr"/>
          <a:lstStyle/>
          <a:p>
            <a:pPr algn="ctr"/>
            <a:r>
              <a:rPr sz="919" b="1" dirty="0">
                <a:solidFill>
                  <a:srgbClr val="111827"/>
                </a:solidFill>
                <a:latin typeface="Calibri"/>
              </a:rPr>
              <a:t>1</a:t>
            </a:r>
            <a:r>
              <a:rPr lang="ru-RU" sz="919" b="1" dirty="0">
                <a:solidFill>
                  <a:srgbClr val="111827"/>
                </a:solidFill>
                <a:latin typeface="Calibri"/>
              </a:rPr>
              <a:t>0</a:t>
            </a:r>
            <a:r>
              <a:rPr sz="919" b="1" dirty="0">
                <a:solidFill>
                  <a:srgbClr val="111827"/>
                </a:solidFill>
                <a:latin typeface="Calibri"/>
              </a:rPr>
              <a:t>,</a:t>
            </a:r>
            <a:r>
              <a:rPr lang="ru-RU" sz="919" b="1" dirty="0">
                <a:solidFill>
                  <a:srgbClr val="111827"/>
                </a:solidFill>
                <a:latin typeface="Calibri"/>
              </a:rPr>
              <a:t>6</a:t>
            </a:r>
            <a:r>
              <a:rPr sz="919" b="1" dirty="0">
                <a:solidFill>
                  <a:srgbClr val="111827"/>
                </a:solidFill>
                <a:latin typeface="Calibri"/>
              </a:rPr>
              <a:t>×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83280" y="2368296"/>
            <a:ext cx="132588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" tIns="9144" rIns="27432" bIns="9144" rtlCol="0" anchor="ctr"/>
          <a:lstStyle/>
          <a:p>
            <a:pPr algn="ctr"/>
            <a:r>
              <a:rPr sz="919" b="1">
                <a:solidFill>
                  <a:srgbClr val="0F172A"/>
                </a:solidFill>
                <a:latin typeface="Calibri"/>
              </a:rPr>
              <a:t>2 потока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09160" y="2368296"/>
            <a:ext cx="160020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" tIns="9144" rIns="27432" bIns="9144" rtlCol="0" anchor="ctr"/>
          <a:lstStyle/>
          <a:p>
            <a:pPr algn="ctr"/>
            <a:r>
              <a:rPr sz="919" b="0">
                <a:solidFill>
                  <a:srgbClr val="B91C1C"/>
                </a:solidFill>
                <a:latin typeface="Calibri"/>
              </a:rPr>
              <a:t>~20 500 мс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9360" y="2368296"/>
            <a:ext cx="160020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" tIns="9144" rIns="27432" bIns="9144" rtlCol="0" anchor="ctr"/>
          <a:lstStyle/>
          <a:p>
            <a:pPr algn="ctr"/>
            <a:r>
              <a:rPr sz="919" b="0">
                <a:solidFill>
                  <a:srgbClr val="047857"/>
                </a:solidFill>
                <a:latin typeface="Calibri"/>
              </a:rPr>
              <a:t>1 325 мс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09560" y="2368296"/>
            <a:ext cx="224028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" tIns="9144" rIns="27432" bIns="9144" rtlCol="0" anchor="ctr"/>
          <a:lstStyle/>
          <a:p>
            <a:pPr algn="ctr"/>
            <a:r>
              <a:rPr lang="ru-RU" sz="919" b="1">
                <a:solidFill>
                  <a:srgbClr val="111827"/>
                </a:solidFill>
                <a:latin typeface="Calibri"/>
              </a:rPr>
              <a:t>15</a:t>
            </a:r>
            <a:r>
              <a:rPr sz="919" b="1" dirty="0">
                <a:solidFill>
                  <a:srgbClr val="111827"/>
                </a:solidFill>
                <a:latin typeface="Calibri"/>
              </a:rPr>
              <a:t>,</a:t>
            </a:r>
            <a:r>
              <a:rPr lang="ru-RU" sz="919" b="1" dirty="0">
                <a:solidFill>
                  <a:srgbClr val="111827"/>
                </a:solidFill>
                <a:latin typeface="Calibri"/>
              </a:rPr>
              <a:t>5</a:t>
            </a:r>
            <a:r>
              <a:rPr sz="919" b="1" dirty="0">
                <a:solidFill>
                  <a:srgbClr val="111827"/>
                </a:solidFill>
                <a:latin typeface="Calibri"/>
              </a:rPr>
              <a:t>×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383280" y="2788920"/>
            <a:ext cx="132588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" tIns="9144" rIns="27432" bIns="9144" rtlCol="0" anchor="ctr"/>
          <a:lstStyle/>
          <a:p>
            <a:pPr algn="ctr"/>
            <a:r>
              <a:rPr sz="919" b="1">
                <a:solidFill>
                  <a:srgbClr val="0F172A"/>
                </a:solidFill>
                <a:latin typeface="Calibri"/>
              </a:rPr>
              <a:t>5 потоков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09160" y="2788920"/>
            <a:ext cx="160020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" tIns="9144" rIns="27432" bIns="9144" rtlCol="0" anchor="ctr"/>
          <a:lstStyle/>
          <a:p>
            <a:pPr algn="ctr"/>
            <a:r>
              <a:rPr sz="919" b="0" dirty="0">
                <a:solidFill>
                  <a:srgbClr val="B91C1C"/>
                </a:solidFill>
                <a:latin typeface="Calibri"/>
              </a:rPr>
              <a:t>~29</a:t>
            </a:r>
            <a:r>
              <a:rPr lang="ru-RU" sz="919" b="0">
                <a:solidFill>
                  <a:srgbClr val="B91C1C"/>
                </a:solidFill>
                <a:latin typeface="Calibri"/>
              </a:rPr>
              <a:t> 000</a:t>
            </a:r>
            <a:r>
              <a:rPr sz="919" b="0" dirty="0">
                <a:solidFill>
                  <a:srgbClr val="B91C1C"/>
                </a:solidFill>
                <a:latin typeface="Calibri"/>
              </a:rPr>
              <a:t> </a:t>
            </a:r>
            <a:r>
              <a:rPr sz="919" b="0" dirty="0" err="1">
                <a:solidFill>
                  <a:srgbClr val="B91C1C"/>
                </a:solidFill>
                <a:latin typeface="Calibri"/>
              </a:rPr>
              <a:t>мс</a:t>
            </a:r>
            <a:endParaRPr sz="919" b="0" dirty="0">
              <a:solidFill>
                <a:srgbClr val="B91C1C"/>
              </a:solidFill>
              <a:latin typeface="Calibri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6309360" y="2788920"/>
            <a:ext cx="160020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" tIns="9144" rIns="27432" bIns="9144" rtlCol="0" anchor="ctr"/>
          <a:lstStyle/>
          <a:p>
            <a:pPr algn="ctr"/>
            <a:r>
              <a:rPr sz="919" b="0">
                <a:solidFill>
                  <a:srgbClr val="047857"/>
                </a:solidFill>
                <a:latin typeface="Calibri"/>
              </a:rPr>
              <a:t>857 мс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909560" y="2788920"/>
            <a:ext cx="224028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" tIns="9144" rIns="27432" bIns="9144" rtlCol="0" anchor="ctr"/>
          <a:lstStyle/>
          <a:p>
            <a:pPr algn="ctr"/>
            <a:r>
              <a:rPr lang="ru-RU" sz="919" b="1" dirty="0">
                <a:solidFill>
                  <a:srgbClr val="111827"/>
                </a:solidFill>
                <a:latin typeface="Calibri"/>
              </a:rPr>
              <a:t>3</a:t>
            </a:r>
            <a:r>
              <a:rPr sz="919" b="1" dirty="0">
                <a:solidFill>
                  <a:srgbClr val="111827"/>
                </a:solidFill>
                <a:latin typeface="Calibri"/>
              </a:rPr>
              <a:t>3,</a:t>
            </a:r>
            <a:r>
              <a:rPr lang="ru-RU" sz="919" b="1" dirty="0">
                <a:solidFill>
                  <a:srgbClr val="111827"/>
                </a:solidFill>
                <a:latin typeface="Calibri"/>
              </a:rPr>
              <a:t>9</a:t>
            </a:r>
            <a:r>
              <a:rPr sz="919" b="1" dirty="0">
                <a:solidFill>
                  <a:srgbClr val="111827"/>
                </a:solidFill>
                <a:latin typeface="Calibri"/>
              </a:rPr>
              <a:t>×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383280" y="3209544"/>
            <a:ext cx="132588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" tIns="9144" rIns="27432" bIns="9144" rtlCol="0" anchor="ctr"/>
          <a:lstStyle/>
          <a:p>
            <a:pPr algn="ctr"/>
            <a:r>
              <a:rPr sz="919" b="1">
                <a:solidFill>
                  <a:srgbClr val="0F172A"/>
                </a:solidFill>
                <a:latin typeface="Calibri"/>
              </a:rPr>
              <a:t>15 потоков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09160" y="3209544"/>
            <a:ext cx="160020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" tIns="9144" rIns="27432" bIns="9144" rtlCol="0" anchor="ctr"/>
          <a:lstStyle/>
          <a:p>
            <a:pPr algn="ctr"/>
            <a:r>
              <a:rPr sz="919" b="0">
                <a:solidFill>
                  <a:srgbClr val="B91C1C"/>
                </a:solidFill>
                <a:latin typeface="Calibri"/>
              </a:rPr>
              <a:t>~60 800 мс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9360" y="3209544"/>
            <a:ext cx="160020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" tIns="9144" rIns="27432" bIns="9144" rtlCol="0" anchor="ctr"/>
          <a:lstStyle/>
          <a:p>
            <a:pPr algn="ctr"/>
            <a:r>
              <a:rPr sz="919" b="0" dirty="0">
                <a:solidFill>
                  <a:srgbClr val="047857"/>
                </a:solidFill>
                <a:latin typeface="Calibri"/>
              </a:rPr>
              <a:t>651 </a:t>
            </a:r>
            <a:r>
              <a:rPr sz="919" b="0" dirty="0" err="1">
                <a:solidFill>
                  <a:srgbClr val="047857"/>
                </a:solidFill>
                <a:latin typeface="Calibri"/>
              </a:rPr>
              <a:t>мс</a:t>
            </a:r>
            <a:endParaRPr sz="919" b="0" dirty="0">
              <a:solidFill>
                <a:srgbClr val="047857"/>
              </a:solidFill>
              <a:latin typeface="Calibri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7909560" y="3209544"/>
            <a:ext cx="224028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" tIns="9144" rIns="27432" bIns="9144" rtlCol="0" anchor="ctr"/>
          <a:lstStyle/>
          <a:p>
            <a:pPr algn="ctr"/>
            <a:r>
              <a:rPr lang="ru-RU" sz="919" b="1" dirty="0">
                <a:solidFill>
                  <a:srgbClr val="111827"/>
                </a:solidFill>
                <a:latin typeface="Calibri"/>
              </a:rPr>
              <a:t>93</a:t>
            </a:r>
            <a:r>
              <a:rPr sz="919" b="1" dirty="0">
                <a:solidFill>
                  <a:srgbClr val="111827"/>
                </a:solidFill>
                <a:latin typeface="Calibri"/>
              </a:rPr>
              <a:t>,</a:t>
            </a:r>
            <a:r>
              <a:rPr lang="ru-RU" sz="919" b="1" dirty="0">
                <a:solidFill>
                  <a:srgbClr val="111827"/>
                </a:solidFill>
                <a:latin typeface="Calibri"/>
              </a:rPr>
              <a:t>4</a:t>
            </a:r>
            <a:r>
              <a:rPr sz="919" b="1" dirty="0">
                <a:solidFill>
                  <a:srgbClr val="111827"/>
                </a:solidFill>
                <a:latin typeface="Calibri"/>
              </a:rPr>
              <a:t>×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83280" y="4069080"/>
            <a:ext cx="2743200" cy="201168"/>
          </a:xfrm>
          <a:prstGeom prst="rect">
            <a:avLst/>
          </a:prstGeom>
          <a:noFill/>
        </p:spPr>
        <p:txBody>
          <a:bodyPr wrap="none" lIns="27432" rIns="27432">
            <a:spAutoFit/>
          </a:bodyPr>
          <a:lstStyle/>
          <a:p>
            <a:pPr algn="l"/>
            <a:r>
              <a:rPr sz="950" b="1">
                <a:solidFill>
                  <a:srgbClr val="111827"/>
                </a:solidFill>
                <a:latin typeface="Calibri"/>
              </a:rPr>
              <a:t>Время выполнения, мс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383280" y="4398264"/>
            <a:ext cx="731520" cy="164592"/>
          </a:xfrm>
          <a:prstGeom prst="rect">
            <a:avLst/>
          </a:prstGeom>
          <a:noFill/>
        </p:spPr>
        <p:txBody>
          <a:bodyPr wrap="none" lIns="27432" rIns="27432">
            <a:spAutoFit/>
          </a:bodyPr>
          <a:lstStyle/>
          <a:p>
            <a:pPr algn="l"/>
            <a:r>
              <a:rPr sz="730" b="0">
                <a:solidFill>
                  <a:srgbClr val="0F172A"/>
                </a:solidFill>
                <a:latin typeface="Calibri"/>
              </a:rPr>
              <a:t>1 поток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60520" y="4443984"/>
            <a:ext cx="2093494" cy="91440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4160520" y="4562856"/>
            <a:ext cx="196788" cy="91440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383280" y="4700016"/>
            <a:ext cx="731520" cy="164592"/>
          </a:xfrm>
          <a:prstGeom prst="rect">
            <a:avLst/>
          </a:prstGeom>
          <a:noFill/>
        </p:spPr>
        <p:txBody>
          <a:bodyPr wrap="none" lIns="27432" rIns="27432">
            <a:spAutoFit/>
          </a:bodyPr>
          <a:lstStyle/>
          <a:p>
            <a:pPr algn="l"/>
            <a:r>
              <a:rPr sz="730" b="0">
                <a:solidFill>
                  <a:srgbClr val="0F172A"/>
                </a:solidFill>
                <a:latin typeface="Calibri"/>
              </a:rPr>
              <a:t>2 потока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60520" y="4745736"/>
            <a:ext cx="1479884" cy="91440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4160520" y="4864608"/>
            <a:ext cx="95651" cy="91440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3383280" y="5001768"/>
            <a:ext cx="731520" cy="164592"/>
          </a:xfrm>
          <a:prstGeom prst="rect">
            <a:avLst/>
          </a:prstGeom>
          <a:noFill/>
        </p:spPr>
        <p:txBody>
          <a:bodyPr wrap="none" lIns="27432" rIns="27432">
            <a:spAutoFit/>
          </a:bodyPr>
          <a:lstStyle/>
          <a:p>
            <a:pPr algn="l"/>
            <a:r>
              <a:rPr sz="730" b="0">
                <a:solidFill>
                  <a:srgbClr val="0F172A"/>
                </a:solidFill>
                <a:latin typeface="Calibri"/>
              </a:rPr>
              <a:t>5 потоков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60520" y="5047488"/>
            <a:ext cx="2057400" cy="91440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4160520" y="5166360"/>
            <a:ext cx="61866" cy="91440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3383280" y="5303520"/>
            <a:ext cx="731520" cy="164592"/>
          </a:xfrm>
          <a:prstGeom prst="rect">
            <a:avLst/>
          </a:prstGeom>
          <a:noFill/>
        </p:spPr>
        <p:txBody>
          <a:bodyPr wrap="none" lIns="27432" rIns="27432">
            <a:spAutoFit/>
          </a:bodyPr>
          <a:lstStyle/>
          <a:p>
            <a:pPr algn="l"/>
            <a:r>
              <a:rPr sz="730" b="0">
                <a:solidFill>
                  <a:srgbClr val="0F172A"/>
                </a:solidFill>
                <a:latin typeface="Calibri"/>
              </a:rPr>
              <a:t>15 потоков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160520" y="5349240"/>
            <a:ext cx="4389120" cy="91440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4160520" y="5468112"/>
            <a:ext cx="54864" cy="91440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3383280" y="5650992"/>
            <a:ext cx="164592" cy="91440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3584448" y="5605272"/>
            <a:ext cx="1097280" cy="164592"/>
          </a:xfrm>
          <a:prstGeom prst="rect">
            <a:avLst/>
          </a:prstGeom>
          <a:noFill/>
        </p:spPr>
        <p:txBody>
          <a:bodyPr wrap="none" lIns="27432" rIns="27432">
            <a:spAutoFit/>
          </a:bodyPr>
          <a:lstStyle/>
          <a:p>
            <a:pPr algn="l"/>
            <a:r>
              <a:rPr sz="730" b="0">
                <a:solidFill>
                  <a:srgbClr val="475569"/>
                </a:solidFill>
                <a:latin typeface="Calibri"/>
              </a:rPr>
              <a:t>до оптимизации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754880" y="5650992"/>
            <a:ext cx="164592" cy="91440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4956048" y="5605272"/>
            <a:ext cx="1280160" cy="164592"/>
          </a:xfrm>
          <a:prstGeom prst="rect">
            <a:avLst/>
          </a:prstGeom>
          <a:noFill/>
        </p:spPr>
        <p:txBody>
          <a:bodyPr wrap="none" lIns="27432" rIns="27432">
            <a:spAutoFit/>
          </a:bodyPr>
          <a:lstStyle/>
          <a:p>
            <a:pPr algn="l"/>
            <a:r>
              <a:rPr sz="730" b="0">
                <a:solidFill>
                  <a:srgbClr val="475569"/>
                </a:solidFill>
                <a:latin typeface="Calibri"/>
              </a:rPr>
              <a:t>после оптимизации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346950" y="5857240"/>
            <a:ext cx="3595370" cy="310896"/>
          </a:xfrm>
          <a:prstGeom prst="roundRect">
            <a:avLst/>
          </a:prstGeom>
          <a:solidFill>
            <a:srgbClr val="EFF6FF"/>
          </a:solidFill>
          <a:ln w="9525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" tIns="9144" rIns="27432" bIns="9144" rtlCol="0" anchor="ctr"/>
          <a:lstStyle/>
          <a:p>
            <a:pPr algn="ctr"/>
            <a:r>
              <a:rPr sz="910" b="1" dirty="0" err="1">
                <a:solidFill>
                  <a:srgbClr val="111827"/>
                </a:solidFill>
                <a:latin typeface="Calibri"/>
              </a:rPr>
              <a:t>Итог</a:t>
            </a:r>
            <a:r>
              <a:rPr sz="910" b="1" dirty="0">
                <a:solidFill>
                  <a:srgbClr val="111827"/>
                </a:solidFill>
                <a:latin typeface="Calibri"/>
              </a:rPr>
              <a:t>: </a:t>
            </a:r>
            <a:r>
              <a:rPr lang="ru-RU" sz="910" b="1" dirty="0">
                <a:solidFill>
                  <a:srgbClr val="111827"/>
                </a:solidFill>
                <a:latin typeface="Calibri"/>
              </a:rPr>
              <a:t>чем больше используется рабочих потоков в параллельном вычислении, тем лучше работает оптимизация</a:t>
            </a:r>
            <a:endParaRPr sz="910" b="1" dirty="0">
              <a:solidFill>
                <a:srgbClr val="111827"/>
              </a:solidFill>
              <a:latin typeface="Calibri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11292840" y="6446520"/>
            <a:ext cx="365760" cy="228600"/>
          </a:xfrm>
          <a:prstGeom prst="rect">
            <a:avLst/>
          </a:prstGeom>
          <a:noFill/>
        </p:spPr>
        <p:txBody>
          <a:bodyPr wrap="none" lIns="27432" rIns="27432">
            <a:spAutoFit/>
          </a:bodyPr>
          <a:lstStyle/>
          <a:p>
            <a:pPr algn="ctr"/>
            <a:r>
              <a:rPr sz="900" b="0">
                <a:solidFill>
                  <a:srgbClr val="475569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AFB"/>
        </a:solidFill>
        <a:effectLst/>
      </p:bgPr>
    </p:bg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1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AFB"/>
          </a:solidFill>
          <a:ln w="12700" cap="flat" cmpd="sng">
            <a:solidFill>
              <a:srgbClr val="F9FAF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6" name="Google Shape;326;p1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991B1B"/>
          </a:solidFill>
          <a:ln w="12700" cap="flat" cmpd="sng">
            <a:solidFill>
              <a:srgbClr val="991B1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7" name="Google Shape;327;p11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111827"/>
          </a:solidFill>
          <a:ln w="12700" cap="flat" cmpd="sng">
            <a:solidFill>
              <a:srgbClr val="1118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8" name="Google Shape;328;p11"/>
          <p:cNvSpPr/>
          <p:nvPr/>
        </p:nvSpPr>
        <p:spPr>
          <a:xfrm>
            <a:off x="502920" y="320040"/>
            <a:ext cx="996696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2700"/>
              <a:buFont typeface="Calibri"/>
              <a:buNone/>
            </a:pPr>
            <a:r>
              <a:rPr lang="en-US" sz="2700" b="1" i="0" u="none" strike="noStrike" cap="non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Многопоточность и оптимизация</a:t>
            </a:r>
            <a:endParaRPr sz="2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11"/>
          <p:cNvSpPr/>
          <p:nvPr/>
        </p:nvSpPr>
        <p:spPr>
          <a:xfrm>
            <a:off x="530352" y="841248"/>
            <a:ext cx="1069848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50"/>
              <a:buFont typeface="Calibri"/>
              <a:buNone/>
            </a:pPr>
            <a:r>
              <a:rPr lang="en-US" sz="1350" b="0" i="0" u="none" strike="noStrike" cap="none">
                <a:solidFill>
                  <a:srgbClr val="4B5563"/>
                </a:solidFill>
                <a:latin typeface="Calibri"/>
                <a:ea typeface="Calibri"/>
                <a:cs typeface="Calibri"/>
                <a:sym typeface="Calibri"/>
              </a:rPr>
              <a:t>Замеры производительности после исключения БД из внутреннего цикла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" name="Google Shape;330;p11"/>
          <p:cNvSpPr/>
          <p:nvPr/>
        </p:nvSpPr>
        <p:spPr>
          <a:xfrm>
            <a:off x="658368" y="1170432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4B5563"/>
                </a:solidFill>
                <a:latin typeface="Calibri"/>
                <a:ea typeface="Calibri"/>
                <a:cs typeface="Calibri"/>
                <a:sym typeface="Calibri"/>
              </a:rPr>
              <a:t>150 000 симуляций, 5 ходов, сохранение в БД отключено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1" name="Google Shape;331;p11"/>
          <p:cNvSpPr/>
          <p:nvPr/>
        </p:nvSpPr>
        <p:spPr>
          <a:xfrm>
            <a:off x="749808" y="1719072"/>
            <a:ext cx="109728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250"/>
              <a:buFont typeface="Calibri"/>
              <a:buNone/>
            </a:pPr>
            <a:r>
              <a:rPr lang="en-US" sz="1250" b="1" i="0" u="none" strike="noStrike" cap="non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1 поток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11"/>
          <p:cNvSpPr/>
          <p:nvPr/>
        </p:nvSpPr>
        <p:spPr>
          <a:xfrm>
            <a:off x="1965960" y="1719072"/>
            <a:ext cx="5764469" cy="292608"/>
          </a:xfrm>
          <a:prstGeom prst="rect">
            <a:avLst/>
          </a:prstGeom>
          <a:solidFill>
            <a:srgbClr val="6B7280"/>
          </a:solidFill>
          <a:ln w="12700" cap="flat" cmpd="sng">
            <a:solidFill>
              <a:srgbClr val="6B728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11"/>
          <p:cNvSpPr/>
          <p:nvPr/>
        </p:nvSpPr>
        <p:spPr>
          <a:xfrm>
            <a:off x="8183880" y="1700784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50"/>
              <a:buFont typeface="Calibri"/>
              <a:buNone/>
            </a:pPr>
            <a:r>
              <a:rPr lang="en-US" sz="125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22.924 c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" name="Google Shape;334;p11"/>
          <p:cNvSpPr/>
          <p:nvPr/>
        </p:nvSpPr>
        <p:spPr>
          <a:xfrm>
            <a:off x="9464040" y="1700784"/>
            <a:ext cx="73152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47857"/>
              </a:buClr>
              <a:buSzPts val="1250"/>
              <a:buFont typeface="Calibri"/>
              <a:buNone/>
            </a:pPr>
            <a:r>
              <a:rPr lang="en-US" sz="1250" b="1" i="0" u="none" strike="noStrike" cap="none">
                <a:solidFill>
                  <a:srgbClr val="047857"/>
                </a:solidFill>
                <a:latin typeface="Calibri"/>
                <a:ea typeface="Calibri"/>
                <a:cs typeface="Calibri"/>
                <a:sym typeface="Calibri"/>
              </a:rPr>
              <a:t>1.00×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5" name="Google Shape;335;p11"/>
          <p:cNvSpPr/>
          <p:nvPr/>
        </p:nvSpPr>
        <p:spPr>
          <a:xfrm>
            <a:off x="749808" y="2468880"/>
            <a:ext cx="109728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250"/>
              <a:buFont typeface="Calibri"/>
              <a:buNone/>
            </a:pPr>
            <a:r>
              <a:rPr lang="en-US" sz="1250" b="1" i="0" u="none" strike="noStrike" cap="non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2 потока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p11"/>
          <p:cNvSpPr/>
          <p:nvPr/>
        </p:nvSpPr>
        <p:spPr>
          <a:xfrm>
            <a:off x="1965960" y="2468880"/>
            <a:ext cx="3359254" cy="292608"/>
          </a:xfrm>
          <a:prstGeom prst="rect">
            <a:avLst/>
          </a:prstGeom>
          <a:solidFill>
            <a:srgbClr val="991B1B"/>
          </a:solidFill>
          <a:ln w="12700" cap="flat" cmpd="sng">
            <a:solidFill>
              <a:srgbClr val="991B1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7" name="Google Shape;337;p11"/>
          <p:cNvSpPr/>
          <p:nvPr/>
        </p:nvSpPr>
        <p:spPr>
          <a:xfrm>
            <a:off x="8183880" y="2450592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50"/>
              <a:buFont typeface="Calibri"/>
              <a:buNone/>
            </a:pPr>
            <a:r>
              <a:rPr lang="en-US" sz="125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13.359 c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" name="Google Shape;338;p11"/>
          <p:cNvSpPr/>
          <p:nvPr/>
        </p:nvSpPr>
        <p:spPr>
          <a:xfrm>
            <a:off x="9464040" y="2450592"/>
            <a:ext cx="73152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47857"/>
              </a:buClr>
              <a:buSzPts val="1250"/>
              <a:buFont typeface="Calibri"/>
              <a:buNone/>
            </a:pPr>
            <a:r>
              <a:rPr lang="en-US" sz="1250" b="1" i="0" u="none" strike="noStrike" cap="none">
                <a:solidFill>
                  <a:srgbClr val="047857"/>
                </a:solidFill>
                <a:latin typeface="Calibri"/>
                <a:ea typeface="Calibri"/>
                <a:cs typeface="Calibri"/>
                <a:sym typeface="Calibri"/>
              </a:rPr>
              <a:t>1.72×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11"/>
          <p:cNvSpPr/>
          <p:nvPr/>
        </p:nvSpPr>
        <p:spPr>
          <a:xfrm>
            <a:off x="749808" y="3218688"/>
            <a:ext cx="109728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250"/>
              <a:buFont typeface="Calibri"/>
              <a:buNone/>
            </a:pPr>
            <a:r>
              <a:rPr lang="en-US" sz="1250" b="1" i="0" u="none" strike="noStrike" cap="non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5 потоков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" name="Google Shape;340;p11"/>
          <p:cNvSpPr/>
          <p:nvPr/>
        </p:nvSpPr>
        <p:spPr>
          <a:xfrm>
            <a:off x="1965960" y="3218688"/>
            <a:ext cx="2269678" cy="292608"/>
          </a:xfrm>
          <a:prstGeom prst="rect">
            <a:avLst/>
          </a:prstGeom>
          <a:solidFill>
            <a:srgbClr val="991B1B"/>
          </a:solidFill>
          <a:ln w="12700" cap="flat" cmpd="sng">
            <a:solidFill>
              <a:srgbClr val="991B1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1" name="Google Shape;341;p11"/>
          <p:cNvSpPr/>
          <p:nvPr/>
        </p:nvSpPr>
        <p:spPr>
          <a:xfrm>
            <a:off x="8183880" y="320040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50"/>
              <a:buFont typeface="Calibri"/>
              <a:buNone/>
            </a:pPr>
            <a:r>
              <a:rPr lang="en-US" sz="125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9.026 c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2" name="Google Shape;342;p11"/>
          <p:cNvSpPr/>
          <p:nvPr/>
        </p:nvSpPr>
        <p:spPr>
          <a:xfrm>
            <a:off x="9464040" y="3200400"/>
            <a:ext cx="73152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47857"/>
              </a:buClr>
              <a:buSzPts val="1250"/>
              <a:buFont typeface="Calibri"/>
              <a:buNone/>
            </a:pPr>
            <a:r>
              <a:rPr lang="en-US" sz="1250" b="1" i="0" u="none" strike="noStrike" cap="none">
                <a:solidFill>
                  <a:srgbClr val="047857"/>
                </a:solidFill>
                <a:latin typeface="Calibri"/>
                <a:ea typeface="Calibri"/>
                <a:cs typeface="Calibri"/>
                <a:sym typeface="Calibri"/>
              </a:rPr>
              <a:t>2.54×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Google Shape;343;p11"/>
          <p:cNvSpPr/>
          <p:nvPr/>
        </p:nvSpPr>
        <p:spPr>
          <a:xfrm>
            <a:off x="749808" y="3968496"/>
            <a:ext cx="109728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250"/>
              <a:buFont typeface="Calibri"/>
              <a:buNone/>
            </a:pPr>
            <a:r>
              <a:rPr lang="en-US" sz="1250" b="1" i="0" u="none" strike="noStrike" cap="non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15 потоков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" name="Google Shape;344;p11"/>
          <p:cNvSpPr/>
          <p:nvPr/>
        </p:nvSpPr>
        <p:spPr>
          <a:xfrm>
            <a:off x="1965960" y="3968496"/>
            <a:ext cx="1838173" cy="292608"/>
          </a:xfrm>
          <a:prstGeom prst="rect">
            <a:avLst/>
          </a:prstGeom>
          <a:solidFill>
            <a:srgbClr val="991B1B"/>
          </a:solidFill>
          <a:ln w="12700" cap="flat" cmpd="sng">
            <a:solidFill>
              <a:srgbClr val="991B1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5" name="Google Shape;345;p11"/>
          <p:cNvSpPr/>
          <p:nvPr/>
        </p:nvSpPr>
        <p:spPr>
          <a:xfrm>
            <a:off x="8183880" y="395020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50"/>
              <a:buFont typeface="Calibri"/>
              <a:buNone/>
            </a:pPr>
            <a:r>
              <a:rPr lang="en-US" sz="125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7.310 c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11"/>
          <p:cNvSpPr/>
          <p:nvPr/>
        </p:nvSpPr>
        <p:spPr>
          <a:xfrm>
            <a:off x="9464040" y="3950208"/>
            <a:ext cx="73152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47857"/>
              </a:buClr>
              <a:buSzPts val="1250"/>
              <a:buFont typeface="Calibri"/>
              <a:buNone/>
            </a:pPr>
            <a:r>
              <a:rPr lang="en-US" sz="1250" b="1" i="0" u="none" strike="noStrike" cap="none">
                <a:solidFill>
                  <a:srgbClr val="047857"/>
                </a:solidFill>
                <a:latin typeface="Calibri"/>
                <a:ea typeface="Calibri"/>
                <a:cs typeface="Calibri"/>
                <a:sym typeface="Calibri"/>
              </a:rPr>
              <a:t>3.14×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" name="Google Shape;347;p11"/>
          <p:cNvSpPr/>
          <p:nvPr/>
        </p:nvSpPr>
        <p:spPr>
          <a:xfrm>
            <a:off x="713232" y="4892040"/>
            <a:ext cx="5074920" cy="777240"/>
          </a:xfrm>
          <a:prstGeom prst="roundRect">
            <a:avLst>
              <a:gd name="adj" fmla="val 7059"/>
            </a:avLst>
          </a:prstGeom>
          <a:solidFill>
            <a:srgbClr val="D1FAE5"/>
          </a:solidFill>
          <a:ln w="12700" cap="flat" cmpd="sng">
            <a:solidFill>
              <a:srgbClr val="D1FAE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8" name="Google Shape;348;p11"/>
          <p:cNvSpPr/>
          <p:nvPr/>
        </p:nvSpPr>
        <p:spPr>
          <a:xfrm>
            <a:off x="960120" y="5120640"/>
            <a:ext cx="45720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 fontScale="70000" lnSpcReduction="20000"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400"/>
              <a:buFont typeface="Calibri"/>
              <a:buNone/>
            </a:pPr>
            <a:r>
              <a:rPr lang="en-US" sz="1400" b="1" i="0" u="none" strike="noStrike" cap="non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Результат: 15 </a:t>
            </a:r>
            <a:r>
              <a:rPr lang="en-US" b="1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рабочих потоков</a:t>
            </a:r>
            <a:r>
              <a:rPr lang="en-US" sz="1400" b="1" i="0" u="none" strike="noStrike" cap="non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 сократили время с 22,9 с до 7,3 с — ускорение ≈ 3,14×.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" name="Google Shape;349;p11"/>
          <p:cNvSpPr/>
          <p:nvPr/>
        </p:nvSpPr>
        <p:spPr>
          <a:xfrm>
            <a:off x="6172200" y="4892040"/>
            <a:ext cx="5166360" cy="777240"/>
          </a:xfrm>
          <a:prstGeom prst="roundRect">
            <a:avLst>
              <a:gd name="adj" fmla="val 7059"/>
            </a:avLst>
          </a:prstGeom>
          <a:solidFill>
            <a:srgbClr val="FEF3C7"/>
          </a:solidFill>
          <a:ln w="12700" cap="flat" cmpd="sng">
            <a:solidFill>
              <a:srgbClr val="FEF3C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0" name="Google Shape;350;p11"/>
          <p:cNvSpPr/>
          <p:nvPr/>
        </p:nvSpPr>
        <p:spPr>
          <a:xfrm>
            <a:off x="6446520" y="5120640"/>
            <a:ext cx="45720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 fontScale="70000" lnSpcReduction="20000"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400"/>
              <a:buFont typeface="Calibri"/>
              <a:buNone/>
            </a:pPr>
            <a:r>
              <a:rPr lang="en-US" sz="1400" b="1" i="0" u="none" strike="noStrike" cap="non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До оптимизации 15 потоков работали медленнее из-за повторных запросов к SQLite.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11"/>
          <p:cNvSpPr/>
          <p:nvPr/>
        </p:nvSpPr>
        <p:spPr>
          <a:xfrm>
            <a:off x="11292840" y="6446520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32" tIns="0" rIns="27432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sz="900" b="0">
                <a:solidFill>
                  <a:srgbClr val="475569"/>
                </a:solidFill>
                <a:latin typeface="Calibri"/>
              </a:rPr>
              <a:t>12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AFB"/>
        </a:solidFill>
        <a:effectLst/>
      </p:bgPr>
    </p:bg>
    <p:spTree>
      <p:nvGrpSpPr>
        <p:cNvPr id="1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1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AFB"/>
          </a:solidFill>
          <a:ln w="12700" cap="flat" cmpd="sng">
            <a:solidFill>
              <a:srgbClr val="F9FAF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9" name="Google Shape;359;p1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991B1B"/>
          </a:solidFill>
          <a:ln w="12700" cap="flat" cmpd="sng">
            <a:solidFill>
              <a:srgbClr val="991B1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0" name="Google Shape;360;p12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111827"/>
          </a:solidFill>
          <a:ln w="12700" cap="flat" cmpd="sng">
            <a:solidFill>
              <a:srgbClr val="1118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1" name="Google Shape;361;p12"/>
          <p:cNvSpPr/>
          <p:nvPr/>
        </p:nvSpPr>
        <p:spPr>
          <a:xfrm>
            <a:off x="502920" y="320040"/>
            <a:ext cx="996696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2700"/>
              <a:buFont typeface="Calibri"/>
              <a:buNone/>
            </a:pPr>
            <a:r>
              <a:rPr lang="en-US" sz="2700" b="1" i="0" u="none" strike="noStrike" cap="non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Демонстрация: web-клиент</a:t>
            </a:r>
            <a:endParaRPr sz="2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" name="Google Shape;362;p12"/>
          <p:cNvSpPr/>
          <p:nvPr/>
        </p:nvSpPr>
        <p:spPr>
          <a:xfrm>
            <a:off x="530352" y="841248"/>
            <a:ext cx="1069848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50"/>
              <a:buFont typeface="Calibri"/>
              <a:buNone/>
            </a:pPr>
            <a:r>
              <a:rPr lang="en-US" sz="1350" b="0" i="0" u="none" strike="noStrike" cap="none">
                <a:solidFill>
                  <a:srgbClr val="4B5563"/>
                </a:solidFill>
                <a:latin typeface="Calibri"/>
                <a:ea typeface="Calibri"/>
                <a:cs typeface="Calibri"/>
                <a:sym typeface="Calibri"/>
              </a:rPr>
              <a:t>Razor Pages: администрирование, запуск расчётов и просмотр результатов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3" name="Google Shape;363;p12"/>
          <p:cNvSpPr/>
          <p:nvPr/>
        </p:nvSpPr>
        <p:spPr>
          <a:xfrm>
            <a:off x="731520" y="1417320"/>
            <a:ext cx="489204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 cap="flat" cmpd="sng">
            <a:solidFill>
              <a:srgbClr val="E5E7E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4" name="Google Shape;364;p12"/>
          <p:cNvSpPr/>
          <p:nvPr/>
        </p:nvSpPr>
        <p:spPr>
          <a:xfrm>
            <a:off x="987552" y="1618488"/>
            <a:ext cx="1737360" cy="310896"/>
          </a:xfrm>
          <a:prstGeom prst="roundRect">
            <a:avLst>
              <a:gd name="adj" fmla="val 23529"/>
            </a:avLst>
          </a:prstGeom>
          <a:solidFill>
            <a:srgbClr val="DBEAFE"/>
          </a:solidFill>
          <a:ln w="12700" cap="flat" cmpd="sng">
            <a:solidFill>
              <a:srgbClr val="DBEAF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5" name="Google Shape;365;p12"/>
          <p:cNvSpPr/>
          <p:nvPr/>
        </p:nvSpPr>
        <p:spPr>
          <a:xfrm>
            <a:off x="1060704" y="1677924"/>
            <a:ext cx="1591056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950"/>
              <a:buFont typeface="Calibri"/>
              <a:buNone/>
            </a:pPr>
            <a:r>
              <a:rPr lang="en-US" sz="950" b="1" i="0" u="none" strike="noStrike" cap="non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Авторизация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6" name="Google Shape;366;p12"/>
          <p:cNvSpPr/>
          <p:nvPr/>
        </p:nvSpPr>
        <p:spPr>
          <a:xfrm>
            <a:off x="987552" y="2112264"/>
            <a:ext cx="438912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0" tIns="250" rIns="250" bIns="250" anchor="ctr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550"/>
              <a:buFont typeface="Calibri"/>
              <a:buNone/>
            </a:pPr>
            <a:r>
              <a:rPr lang="en-US" sz="155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вход, регистрация, роли Admin/User</a:t>
            </a:r>
            <a:endParaRPr sz="15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12"/>
          <p:cNvSpPr/>
          <p:nvPr/>
        </p:nvSpPr>
        <p:spPr>
          <a:xfrm>
            <a:off x="6263640" y="1417320"/>
            <a:ext cx="489204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 cap="flat" cmpd="sng">
            <a:solidFill>
              <a:srgbClr val="E5E7E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8" name="Google Shape;368;p12"/>
          <p:cNvSpPr/>
          <p:nvPr/>
        </p:nvSpPr>
        <p:spPr>
          <a:xfrm>
            <a:off x="6519672" y="1618488"/>
            <a:ext cx="1737360" cy="310896"/>
          </a:xfrm>
          <a:prstGeom prst="roundRect">
            <a:avLst>
              <a:gd name="adj" fmla="val 23529"/>
            </a:avLst>
          </a:prstGeom>
          <a:solidFill>
            <a:srgbClr val="D1FAE5"/>
          </a:solidFill>
          <a:ln w="12700" cap="flat" cmpd="sng">
            <a:solidFill>
              <a:srgbClr val="D1FAE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9" name="Google Shape;369;p12"/>
          <p:cNvSpPr/>
          <p:nvPr/>
        </p:nvSpPr>
        <p:spPr>
          <a:xfrm>
            <a:off x="6592824" y="1677924"/>
            <a:ext cx="1591056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950"/>
              <a:buFont typeface="Calibri"/>
              <a:buNone/>
            </a:pPr>
            <a:r>
              <a:rPr lang="en-US" sz="950" b="1" i="0" u="none" strike="noStrike" cap="non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Админка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0" name="Google Shape;370;p12"/>
          <p:cNvSpPr/>
          <p:nvPr/>
        </p:nvSpPr>
        <p:spPr>
          <a:xfrm>
            <a:off x="6519672" y="2112264"/>
            <a:ext cx="438912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0" tIns="250" rIns="250" bIns="250" anchor="ctr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550"/>
              <a:buFont typeface="Calibri"/>
              <a:buNone/>
            </a:pPr>
            <a:r>
              <a:rPr lang="en-US" sz="155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CRUD оружия, правил, варгира, моделей, юнитов</a:t>
            </a:r>
            <a:endParaRPr sz="15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1" name="Google Shape;371;p12"/>
          <p:cNvSpPr/>
          <p:nvPr/>
        </p:nvSpPr>
        <p:spPr>
          <a:xfrm>
            <a:off x="731520" y="3383280"/>
            <a:ext cx="489204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 cap="flat" cmpd="sng">
            <a:solidFill>
              <a:srgbClr val="E5E7E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2" name="Google Shape;372;p12"/>
          <p:cNvSpPr/>
          <p:nvPr/>
        </p:nvSpPr>
        <p:spPr>
          <a:xfrm>
            <a:off x="987552" y="3584448"/>
            <a:ext cx="1737360" cy="310896"/>
          </a:xfrm>
          <a:prstGeom prst="roundRect">
            <a:avLst>
              <a:gd name="adj" fmla="val 23529"/>
            </a:avLst>
          </a:prstGeom>
          <a:solidFill>
            <a:srgbClr val="DBEAFE"/>
          </a:solidFill>
          <a:ln w="12700" cap="flat" cmpd="sng">
            <a:solidFill>
              <a:srgbClr val="DBEAF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3" name="Google Shape;373;p12"/>
          <p:cNvSpPr/>
          <p:nvPr/>
        </p:nvSpPr>
        <p:spPr>
          <a:xfrm>
            <a:off x="1060704" y="3643884"/>
            <a:ext cx="1591056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950"/>
              <a:buFont typeface="Calibri"/>
              <a:buNone/>
            </a:pPr>
            <a:r>
              <a:rPr lang="en-US" sz="950" b="1" i="0" u="none" strike="noStrike" cap="non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Симуляции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12"/>
          <p:cNvSpPr/>
          <p:nvPr/>
        </p:nvSpPr>
        <p:spPr>
          <a:xfrm>
            <a:off x="987552" y="4078224"/>
            <a:ext cx="438912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0" tIns="250" rIns="250" bIns="250" anchor="ctr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550"/>
              <a:buFont typeface="Calibri"/>
              <a:buNone/>
            </a:pPr>
            <a:r>
              <a:rPr lang="en-US" sz="155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выбор юнитов, потоков, количества расчётов</a:t>
            </a:r>
            <a:endParaRPr sz="15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5" name="Google Shape;375;p12"/>
          <p:cNvSpPr/>
          <p:nvPr/>
        </p:nvSpPr>
        <p:spPr>
          <a:xfrm>
            <a:off x="6263640" y="3383280"/>
            <a:ext cx="489204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 cap="flat" cmpd="sng">
            <a:solidFill>
              <a:srgbClr val="E5E7E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6" name="Google Shape;376;p12"/>
          <p:cNvSpPr/>
          <p:nvPr/>
        </p:nvSpPr>
        <p:spPr>
          <a:xfrm>
            <a:off x="6519672" y="3584448"/>
            <a:ext cx="1737360" cy="310896"/>
          </a:xfrm>
          <a:prstGeom prst="roundRect">
            <a:avLst>
              <a:gd name="adj" fmla="val 23529"/>
            </a:avLst>
          </a:prstGeom>
          <a:solidFill>
            <a:srgbClr val="D1FAE5"/>
          </a:solidFill>
          <a:ln w="12700" cap="flat" cmpd="sng">
            <a:solidFill>
              <a:srgbClr val="D1FAE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7" name="Google Shape;377;p12"/>
          <p:cNvSpPr/>
          <p:nvPr/>
        </p:nvSpPr>
        <p:spPr>
          <a:xfrm>
            <a:off x="6592824" y="3643884"/>
            <a:ext cx="1591056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950"/>
              <a:buFont typeface="Calibri"/>
              <a:buNone/>
            </a:pPr>
            <a:r>
              <a:rPr lang="en-US" sz="950" b="1" i="0" u="none" strike="noStrike" cap="non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Результаты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8" name="Google Shape;378;p12"/>
          <p:cNvSpPr/>
          <p:nvPr/>
        </p:nvSpPr>
        <p:spPr>
          <a:xfrm>
            <a:off x="6519672" y="4078224"/>
            <a:ext cx="438912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0" tIns="250" rIns="250" bIns="250" anchor="ctr" anchorCtr="0">
            <a:normAutofit fontScale="92500"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550"/>
              <a:buFont typeface="Calibri"/>
              <a:buNone/>
            </a:pPr>
            <a:r>
              <a:rPr lang="en-US" sz="155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сохранение, список запусков, детализация по ходам</a:t>
            </a:r>
            <a:endParaRPr sz="15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1" name="Google Shape;381;p12"/>
          <p:cNvSpPr/>
          <p:nvPr/>
        </p:nvSpPr>
        <p:spPr>
          <a:xfrm>
            <a:off x="11292840" y="6446520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32" tIns="0" rIns="27432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sz="900" b="0">
                <a:solidFill>
                  <a:srgbClr val="475569"/>
                </a:solidFill>
                <a:latin typeface="Calibri"/>
              </a:rPr>
              <a:t>13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AFB"/>
        </a:solidFill>
        <a:effectLst/>
      </p:bgPr>
    </p:bg>
    <p:spTree>
      <p:nvGrpSpPr>
        <p:cNvPr id="1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Google Shape;387;p1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AFB"/>
          </a:solidFill>
          <a:ln w="12700" cap="flat" cmpd="sng">
            <a:solidFill>
              <a:srgbClr val="F9FAF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8" name="Google Shape;388;p13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991B1B"/>
          </a:solidFill>
          <a:ln w="12700" cap="flat" cmpd="sng">
            <a:solidFill>
              <a:srgbClr val="991B1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9" name="Google Shape;389;p13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111827"/>
          </a:solidFill>
          <a:ln w="12700" cap="flat" cmpd="sng">
            <a:solidFill>
              <a:srgbClr val="1118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0" name="Google Shape;390;p13"/>
          <p:cNvSpPr/>
          <p:nvPr/>
        </p:nvSpPr>
        <p:spPr>
          <a:xfrm>
            <a:off x="502920" y="320040"/>
            <a:ext cx="996696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2700"/>
              <a:buFont typeface="Calibri"/>
              <a:buNone/>
            </a:pPr>
            <a:r>
              <a:rPr lang="en-US" sz="2700" b="1" i="0" u="none" strike="noStrike" cap="non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Демонстрация: WPF-клиент</a:t>
            </a:r>
            <a:endParaRPr sz="2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13"/>
          <p:cNvSpPr/>
          <p:nvPr/>
        </p:nvSpPr>
        <p:spPr>
          <a:xfrm>
            <a:off x="530352" y="841248"/>
            <a:ext cx="1069848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50"/>
              <a:buFont typeface="Calibri"/>
              <a:buNone/>
            </a:pPr>
            <a:r>
              <a:rPr lang="en-US" sz="1350" b="0" i="0" u="none" strike="noStrike" cap="none">
                <a:solidFill>
                  <a:srgbClr val="4B5563"/>
                </a:solidFill>
                <a:latin typeface="Calibri"/>
                <a:ea typeface="Calibri"/>
                <a:cs typeface="Calibri"/>
                <a:sym typeface="Calibri"/>
              </a:rPr>
              <a:t>Desktop-клиент использует тот же серверный API и JWT-авторизацию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2" name="Google Shape;392;p13"/>
          <p:cNvSpPr/>
          <p:nvPr/>
        </p:nvSpPr>
        <p:spPr>
          <a:xfrm>
            <a:off x="4069080" y="3986784"/>
            <a:ext cx="1508760" cy="1645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lang="en-US" sz="10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Запустить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3" name="Google Shape;393;p13"/>
          <p:cNvSpPr/>
          <p:nvPr/>
        </p:nvSpPr>
        <p:spPr>
          <a:xfrm>
            <a:off x="6629400" y="1508760"/>
            <a:ext cx="4572000" cy="3108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0" tIns="500" rIns="500" bIns="500" anchor="t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600"/>
              <a:buFont typeface="Calibri"/>
              <a:buNone/>
            </a:pPr>
            <a:r>
              <a:rPr lang="en-US" sz="160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• авторизация через JWT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600"/>
              <a:buFont typeface="Calibri"/>
              <a:buNone/>
            </a:pPr>
            <a:r>
              <a:rPr lang="en-US" sz="160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• получение списка юнитов через API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600"/>
              <a:buFont typeface="Calibri"/>
              <a:buNone/>
            </a:pPr>
            <a:r>
              <a:rPr lang="en-US" sz="160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• запуск одно- и многопоточного режима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600"/>
              <a:buFont typeface="Calibri"/>
              <a:buNone/>
            </a:pPr>
            <a:r>
              <a:rPr lang="en-US" sz="160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• вывод агрегированной статистики по ходам и оружию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4" name="Google Shape;394;p13"/>
          <p:cNvSpPr/>
          <p:nvPr/>
        </p:nvSpPr>
        <p:spPr>
          <a:xfrm>
            <a:off x="6629400" y="3044952"/>
            <a:ext cx="4572000" cy="475488"/>
          </a:xfrm>
          <a:prstGeom prst="roundRect">
            <a:avLst>
              <a:gd name="adj" fmla="val 15385"/>
            </a:avLst>
          </a:prstGeom>
          <a:solidFill>
            <a:srgbClr val="DBEAFE"/>
          </a:solidFill>
          <a:ln w="12700" cap="flat" cmpd="sng">
            <a:solidFill>
              <a:srgbClr val="DBEAF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5" name="Google Shape;395;p13"/>
          <p:cNvSpPr/>
          <p:nvPr/>
        </p:nvSpPr>
        <p:spPr>
          <a:xfrm>
            <a:off x="6739128" y="3145536"/>
            <a:ext cx="4352544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 fontScale="85000" lnSpcReduction="20000"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350"/>
              <a:buFont typeface="Calibri"/>
              <a:buNone/>
            </a:pPr>
            <a:r>
              <a:rPr lang="en-US" sz="1350" b="1" i="0" u="none" strike="noStrike" cap="none" dirty="0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WPF-</a:t>
            </a:r>
            <a:r>
              <a:rPr lang="en-US" sz="1350" b="1" i="0" u="none" strike="noStrike" cap="none" dirty="0" err="1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клиент</a:t>
            </a:r>
            <a:r>
              <a:rPr lang="en-US" sz="1350" b="1" i="0" u="none" strike="noStrike" cap="none" dirty="0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 не </a:t>
            </a:r>
            <a:r>
              <a:rPr lang="en-US" sz="1350" b="1" i="0" u="none" strike="noStrike" cap="none" dirty="0" err="1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дублирует</a:t>
            </a:r>
            <a:r>
              <a:rPr lang="en-US" sz="1350" b="1" i="0" u="none" strike="noStrike" cap="none" dirty="0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350" b="1" i="0" u="none" strike="noStrike" cap="none" dirty="0" err="1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админку</a:t>
            </a:r>
            <a:r>
              <a:rPr lang="en-US" sz="1350" b="1" i="0" u="none" strike="noStrike" cap="none" dirty="0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: </a:t>
            </a:r>
            <a:r>
              <a:rPr lang="en-US" sz="1350" b="1" i="0" u="none" strike="noStrike" cap="none" dirty="0" err="1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он</a:t>
            </a:r>
            <a:r>
              <a:rPr lang="en-US" sz="1350" b="1" i="0" u="none" strike="noStrike" cap="none" dirty="0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350" b="1" i="0" u="none" strike="noStrike" cap="none" dirty="0" err="1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решает</a:t>
            </a:r>
            <a:r>
              <a:rPr lang="en-US" sz="1350" b="1" i="0" u="none" strike="noStrike" cap="none" dirty="0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350" b="1" i="0" u="none" strike="noStrike" cap="none" dirty="0" err="1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пользовательскую</a:t>
            </a:r>
            <a:r>
              <a:rPr lang="en-US" sz="1350" b="1" i="0" u="none" strike="noStrike" cap="none" dirty="0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350" b="1" i="0" u="none" strike="noStrike" cap="none" dirty="0" err="1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задачу</a:t>
            </a:r>
            <a:r>
              <a:rPr lang="en-US" sz="1350" b="1" i="0" u="none" strike="noStrike" cap="none" dirty="0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350" b="1" i="0" u="none" strike="noStrike" cap="none" dirty="0" err="1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запуска</a:t>
            </a:r>
            <a:r>
              <a:rPr lang="en-US" sz="1350" b="1" i="0" u="none" strike="noStrike" cap="none" dirty="0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350" b="1" i="0" u="none" strike="noStrike" cap="none" dirty="0" err="1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расчётов</a:t>
            </a:r>
            <a:endParaRPr sz="135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7" name="Google Shape;397;p13"/>
          <p:cNvSpPr/>
          <p:nvPr/>
        </p:nvSpPr>
        <p:spPr>
          <a:xfrm>
            <a:off x="11292840" y="6446520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32" tIns="0" rIns="27432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sz="900" b="0">
                <a:solidFill>
                  <a:srgbClr val="475569"/>
                </a:solidFill>
                <a:latin typeface="Calibri"/>
              </a:rPr>
              <a:t>14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98" name="Google Shape;398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3100" y="1572768"/>
            <a:ext cx="5935950" cy="3614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AFB"/>
        </a:solidFill>
        <a:effectLst/>
      </p:bgPr>
    </p:bg>
    <p:spTree>
      <p:nvGrpSpPr>
        <p:cNvPr id="1" name="Shape 4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Google Shape;404;p1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AFB"/>
          </a:solidFill>
          <a:ln w="12700" cap="flat" cmpd="sng">
            <a:solidFill>
              <a:srgbClr val="F9FAF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5" name="Google Shape;405;p14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991B1B"/>
          </a:solidFill>
          <a:ln w="12700" cap="flat" cmpd="sng">
            <a:solidFill>
              <a:srgbClr val="991B1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6" name="Google Shape;406;p14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111827"/>
          </a:solidFill>
          <a:ln w="12700" cap="flat" cmpd="sng">
            <a:solidFill>
              <a:srgbClr val="1118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7" name="Google Shape;407;p14"/>
          <p:cNvSpPr/>
          <p:nvPr/>
        </p:nvSpPr>
        <p:spPr>
          <a:xfrm>
            <a:off x="502920" y="320040"/>
            <a:ext cx="996696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2700"/>
              <a:buFont typeface="Calibri"/>
              <a:buNone/>
            </a:pPr>
            <a:r>
              <a:rPr lang="en-US" sz="2700" b="1" i="0" u="none" strike="noStrike" cap="non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Авторизация и разграничение доступа</a:t>
            </a:r>
            <a:endParaRPr sz="2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8" name="Google Shape;408;p14"/>
          <p:cNvSpPr/>
          <p:nvPr/>
        </p:nvSpPr>
        <p:spPr>
          <a:xfrm>
            <a:off x="530352" y="841248"/>
            <a:ext cx="1069848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50"/>
              <a:buFont typeface="Calibri"/>
              <a:buNone/>
            </a:pPr>
            <a:r>
              <a:rPr lang="en-US" sz="1350" b="0" i="0" u="none" strike="noStrike" cap="none">
                <a:solidFill>
                  <a:srgbClr val="4B5563"/>
                </a:solidFill>
                <a:latin typeface="Calibri"/>
                <a:ea typeface="Calibri"/>
                <a:cs typeface="Calibri"/>
                <a:sym typeface="Calibri"/>
              </a:rPr>
              <a:t>Один сервер обслуживает web и desktop-клиенты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09" name="Google Shape;409;p14"/>
          <p:cNvCxnSpPr/>
          <p:nvPr/>
        </p:nvCxnSpPr>
        <p:spPr>
          <a:xfrm>
            <a:off x="2834640" y="1828800"/>
            <a:ext cx="1325880" cy="0"/>
          </a:xfrm>
          <a:prstGeom prst="straightConnector1">
            <a:avLst/>
          </a:prstGeom>
          <a:noFill/>
          <a:ln w="15225" cap="flat" cmpd="sng">
            <a:solidFill>
              <a:srgbClr val="6B7280"/>
            </a:solidFill>
            <a:prstDash val="solid"/>
            <a:round/>
            <a:headEnd type="none" w="sm" len="sm"/>
            <a:tailEnd type="triangle" w="med" len="med"/>
          </a:ln>
        </p:spPr>
      </p:cxnSp>
      <p:cxnSp>
        <p:nvCxnSpPr>
          <p:cNvPr id="410" name="Google Shape;410;p14"/>
          <p:cNvCxnSpPr/>
          <p:nvPr/>
        </p:nvCxnSpPr>
        <p:spPr>
          <a:xfrm>
            <a:off x="6400800" y="1828800"/>
            <a:ext cx="1280160" cy="0"/>
          </a:xfrm>
          <a:prstGeom prst="straightConnector1">
            <a:avLst/>
          </a:prstGeom>
          <a:noFill/>
          <a:ln w="15225" cap="flat" cmpd="sng">
            <a:solidFill>
              <a:srgbClr val="6B7280"/>
            </a:solidFill>
            <a:prstDash val="solid"/>
            <a:round/>
            <a:headEnd type="none" w="sm" len="sm"/>
            <a:tailEnd type="triangle" w="med" len="med"/>
          </a:ln>
        </p:spPr>
      </p:cxnSp>
      <p:cxnSp>
        <p:nvCxnSpPr>
          <p:cNvPr id="411" name="Google Shape;411;p14"/>
          <p:cNvCxnSpPr/>
          <p:nvPr/>
        </p:nvCxnSpPr>
        <p:spPr>
          <a:xfrm>
            <a:off x="2834640" y="3931920"/>
            <a:ext cx="1325880" cy="0"/>
          </a:xfrm>
          <a:prstGeom prst="straightConnector1">
            <a:avLst/>
          </a:prstGeom>
          <a:noFill/>
          <a:ln w="15225" cap="flat" cmpd="sng">
            <a:solidFill>
              <a:srgbClr val="6B7280"/>
            </a:solidFill>
            <a:prstDash val="solid"/>
            <a:round/>
            <a:headEnd type="none" w="sm" len="sm"/>
            <a:tailEnd type="triangle" w="med" len="med"/>
          </a:ln>
        </p:spPr>
      </p:cxnSp>
      <p:cxnSp>
        <p:nvCxnSpPr>
          <p:cNvPr id="412" name="Google Shape;412;p14"/>
          <p:cNvCxnSpPr/>
          <p:nvPr/>
        </p:nvCxnSpPr>
        <p:spPr>
          <a:xfrm>
            <a:off x="6400800" y="3931920"/>
            <a:ext cx="1280160" cy="0"/>
          </a:xfrm>
          <a:prstGeom prst="straightConnector1">
            <a:avLst/>
          </a:prstGeom>
          <a:noFill/>
          <a:ln w="15225" cap="flat" cmpd="sng">
            <a:solidFill>
              <a:srgbClr val="6B7280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413" name="Google Shape;413;p14"/>
          <p:cNvSpPr/>
          <p:nvPr/>
        </p:nvSpPr>
        <p:spPr>
          <a:xfrm>
            <a:off x="685800" y="1463040"/>
            <a:ext cx="2148840" cy="731520"/>
          </a:xfrm>
          <a:prstGeom prst="roundRect">
            <a:avLst>
              <a:gd name="adj" fmla="val 7500"/>
            </a:avLst>
          </a:prstGeom>
          <a:solidFill>
            <a:srgbClr val="DBEAFE"/>
          </a:solidFill>
          <a:ln w="12700" cap="flat" cmpd="sng">
            <a:solidFill>
              <a:srgbClr val="E5E7E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4" name="Google Shape;414;p14"/>
          <p:cNvSpPr/>
          <p:nvPr/>
        </p:nvSpPr>
        <p:spPr>
          <a:xfrm>
            <a:off x="740664" y="1517904"/>
            <a:ext cx="2039112" cy="621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0" tIns="250" rIns="250" bIns="250" anchor="ctr" anchorCtr="0">
            <a:norm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Razor Pages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Cookie Auth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5" name="Google Shape;415;p14"/>
          <p:cNvSpPr/>
          <p:nvPr/>
        </p:nvSpPr>
        <p:spPr>
          <a:xfrm>
            <a:off x="4160520" y="1417320"/>
            <a:ext cx="2240280" cy="822960"/>
          </a:xfrm>
          <a:prstGeom prst="roundRect">
            <a:avLst>
              <a:gd name="adj" fmla="val 6667"/>
            </a:avLst>
          </a:prstGeom>
          <a:solidFill>
            <a:srgbClr val="111827"/>
          </a:solidFill>
          <a:ln w="12700" cap="flat" cmpd="sng">
            <a:solidFill>
              <a:srgbClr val="1118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6" name="Google Shape;416;p14"/>
          <p:cNvSpPr/>
          <p:nvPr/>
        </p:nvSpPr>
        <p:spPr>
          <a:xfrm>
            <a:off x="4215384" y="1472184"/>
            <a:ext cx="2130552" cy="713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0" tIns="250" rIns="250" bIns="250" anchor="ctr" anchorCtr="0">
            <a:norm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Identity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UserManager / Roles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7" name="Google Shape;417;p14"/>
          <p:cNvSpPr/>
          <p:nvPr/>
        </p:nvSpPr>
        <p:spPr>
          <a:xfrm>
            <a:off x="7680960" y="1463040"/>
            <a:ext cx="2331720" cy="731520"/>
          </a:xfrm>
          <a:prstGeom prst="roundRect">
            <a:avLst>
              <a:gd name="adj" fmla="val 7500"/>
            </a:avLst>
          </a:prstGeom>
          <a:solidFill>
            <a:srgbClr val="D1FAE5"/>
          </a:solidFill>
          <a:ln w="12700" cap="flat" cmpd="sng">
            <a:solidFill>
              <a:srgbClr val="E5E7E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8" name="Google Shape;418;p14"/>
          <p:cNvSpPr/>
          <p:nvPr/>
        </p:nvSpPr>
        <p:spPr>
          <a:xfrm>
            <a:off x="7735824" y="1517904"/>
            <a:ext cx="2221992" cy="621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0" tIns="250" rIns="250" bIns="250" anchor="ctr" anchorCtr="0">
            <a:norm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Admin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CRUD БД + симуляции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9" name="Google Shape;419;p14"/>
          <p:cNvSpPr/>
          <p:nvPr/>
        </p:nvSpPr>
        <p:spPr>
          <a:xfrm>
            <a:off x="685800" y="3566160"/>
            <a:ext cx="2148840" cy="731520"/>
          </a:xfrm>
          <a:prstGeom prst="roundRect">
            <a:avLst>
              <a:gd name="adj" fmla="val 7500"/>
            </a:avLst>
          </a:prstGeom>
          <a:solidFill>
            <a:srgbClr val="FEF3C7"/>
          </a:solidFill>
          <a:ln w="12700" cap="flat" cmpd="sng">
            <a:solidFill>
              <a:srgbClr val="E5E7E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0" name="Google Shape;420;p14"/>
          <p:cNvSpPr/>
          <p:nvPr/>
        </p:nvSpPr>
        <p:spPr>
          <a:xfrm>
            <a:off x="740664" y="3621024"/>
            <a:ext cx="2039112" cy="621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0" tIns="250" rIns="250" bIns="250" anchor="ctr" anchorCtr="0">
            <a:norm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WPF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JWT Bearer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1" name="Google Shape;421;p14"/>
          <p:cNvSpPr/>
          <p:nvPr/>
        </p:nvSpPr>
        <p:spPr>
          <a:xfrm>
            <a:off x="4160520" y="3520440"/>
            <a:ext cx="2240280" cy="822960"/>
          </a:xfrm>
          <a:prstGeom prst="roundRect">
            <a:avLst>
              <a:gd name="adj" fmla="val 6667"/>
            </a:avLst>
          </a:prstGeom>
          <a:solidFill>
            <a:srgbClr val="EDE9FE"/>
          </a:solidFill>
          <a:ln w="12700" cap="flat" cmpd="sng">
            <a:solidFill>
              <a:srgbClr val="E5E7E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2" name="Google Shape;422;p14"/>
          <p:cNvSpPr/>
          <p:nvPr/>
        </p:nvSpPr>
        <p:spPr>
          <a:xfrm>
            <a:off x="4215384" y="3575304"/>
            <a:ext cx="2130552" cy="713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0" tIns="250" rIns="250" bIns="250" anchor="ctr" anchorCtr="0">
            <a:norm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AuthController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login / me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3" name="Google Shape;423;p14"/>
          <p:cNvSpPr/>
          <p:nvPr/>
        </p:nvSpPr>
        <p:spPr>
          <a:xfrm>
            <a:off x="7680960" y="3566160"/>
            <a:ext cx="2331720" cy="731520"/>
          </a:xfrm>
          <a:prstGeom prst="roundRect">
            <a:avLst>
              <a:gd name="adj" fmla="val 7500"/>
            </a:avLst>
          </a:prstGeom>
          <a:solidFill>
            <a:srgbClr val="D1FAE5"/>
          </a:solidFill>
          <a:ln w="12700" cap="flat" cmpd="sng">
            <a:solidFill>
              <a:srgbClr val="E5E7E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4" name="Google Shape;424;p14"/>
          <p:cNvSpPr/>
          <p:nvPr/>
        </p:nvSpPr>
        <p:spPr>
          <a:xfrm>
            <a:off x="7735824" y="3621024"/>
            <a:ext cx="2221992" cy="621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0" tIns="250" rIns="250" bIns="250" anchor="ctr" anchorCtr="0">
            <a:norm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User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запуск симуляций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5" name="Google Shape;425;p14"/>
          <p:cNvSpPr/>
          <p:nvPr/>
        </p:nvSpPr>
        <p:spPr>
          <a:xfrm>
            <a:off x="1097280" y="5166360"/>
            <a:ext cx="9601200" cy="502920"/>
          </a:xfrm>
          <a:prstGeom prst="roundRect">
            <a:avLst>
              <a:gd name="adj" fmla="val 10909"/>
            </a:avLst>
          </a:prstGeom>
          <a:solidFill>
            <a:srgbClr val="F3F4F6"/>
          </a:solidFill>
          <a:ln w="12700" cap="flat" cmpd="sng">
            <a:solidFill>
              <a:srgbClr val="E5E7E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6" name="Google Shape;426;p14"/>
          <p:cNvSpPr/>
          <p:nvPr/>
        </p:nvSpPr>
        <p:spPr>
          <a:xfrm>
            <a:off x="1325880" y="5321808"/>
            <a:ext cx="91440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450"/>
              <a:buFont typeface="Calibri"/>
              <a:buNone/>
            </a:pPr>
            <a:r>
              <a:rPr lang="en-US" sz="145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Роли: Admin управляет справочниками; User запускает симуляции и смотрит результаты.</a:t>
            </a:r>
            <a:endParaRPr sz="14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8" name="Google Shape;428;p14"/>
          <p:cNvSpPr/>
          <p:nvPr/>
        </p:nvSpPr>
        <p:spPr>
          <a:xfrm>
            <a:off x="11292840" y="6446520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32" tIns="0" rIns="27432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sz="900" b="0">
                <a:solidFill>
                  <a:srgbClr val="475569"/>
                </a:solidFill>
                <a:latin typeface="Calibri"/>
              </a:rPr>
              <a:t>15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AFB"/>
        </a:solidFill>
        <a:effectLst/>
      </p:bgPr>
    </p:bg>
    <p:spTree>
      <p:nvGrpSpPr>
        <p:cNvPr id="1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p15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AFB"/>
          </a:solidFill>
          <a:ln w="12700" cap="flat" cmpd="sng">
            <a:solidFill>
              <a:srgbClr val="F9FAF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5" name="Google Shape;435;p15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991B1B"/>
          </a:solidFill>
          <a:ln w="12700" cap="flat" cmpd="sng">
            <a:solidFill>
              <a:srgbClr val="991B1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6" name="Google Shape;436;p15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111827"/>
          </a:solidFill>
          <a:ln w="12700" cap="flat" cmpd="sng">
            <a:solidFill>
              <a:srgbClr val="1118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7" name="Google Shape;437;p15"/>
          <p:cNvSpPr/>
          <p:nvPr/>
        </p:nvSpPr>
        <p:spPr>
          <a:xfrm>
            <a:off x="502920" y="320040"/>
            <a:ext cx="996696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2700"/>
              <a:buFont typeface="Calibri"/>
              <a:buNone/>
            </a:pPr>
            <a:r>
              <a:rPr lang="en-US" sz="2700" b="1" i="0" u="none" strike="noStrike" cap="non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Итоги реализации</a:t>
            </a:r>
            <a:endParaRPr sz="2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8" name="Google Shape;438;p15"/>
          <p:cNvSpPr/>
          <p:nvPr/>
        </p:nvSpPr>
        <p:spPr>
          <a:xfrm>
            <a:off x="530352" y="841248"/>
            <a:ext cx="1069848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50"/>
              <a:buFont typeface="Calibri"/>
              <a:buNone/>
            </a:pPr>
            <a:r>
              <a:rPr lang="en-US" sz="1350" b="0" i="0" u="none" strike="noStrike" cap="none">
                <a:solidFill>
                  <a:srgbClr val="4B5563"/>
                </a:solidFill>
                <a:latin typeface="Calibri"/>
                <a:ea typeface="Calibri"/>
                <a:cs typeface="Calibri"/>
                <a:sym typeface="Calibri"/>
              </a:rPr>
              <a:t>Что уже готово в MVP системы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9" name="Google Shape;439;p15"/>
          <p:cNvSpPr/>
          <p:nvPr/>
        </p:nvSpPr>
        <p:spPr>
          <a:xfrm>
            <a:off x="822960" y="1325880"/>
            <a:ext cx="4892040" cy="475488"/>
          </a:xfrm>
          <a:prstGeom prst="roundRect">
            <a:avLst>
              <a:gd name="adj" fmla="val 15385"/>
            </a:avLst>
          </a:prstGeom>
          <a:solidFill>
            <a:srgbClr val="D1FAE5"/>
          </a:solidFill>
          <a:ln w="12700" cap="flat" cmpd="sng">
            <a:solidFill>
              <a:srgbClr val="D1FAE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0" name="Google Shape;440;p15"/>
          <p:cNvSpPr/>
          <p:nvPr/>
        </p:nvSpPr>
        <p:spPr>
          <a:xfrm>
            <a:off x="932688" y="1426464"/>
            <a:ext cx="4672584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350"/>
              <a:buFont typeface="Calibri"/>
              <a:buNone/>
            </a:pPr>
            <a:r>
              <a:rPr lang="en-US" sz="1350" b="1" i="0" u="none" strike="noStrike" cap="non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сервер ASP.NET Core Web API и Razor Pages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1" name="Google Shape;441;p15"/>
          <p:cNvSpPr/>
          <p:nvPr/>
        </p:nvSpPr>
        <p:spPr>
          <a:xfrm>
            <a:off x="6263640" y="1325880"/>
            <a:ext cx="4892040" cy="475488"/>
          </a:xfrm>
          <a:prstGeom prst="roundRect">
            <a:avLst>
              <a:gd name="adj" fmla="val 15385"/>
            </a:avLst>
          </a:prstGeom>
          <a:solidFill>
            <a:srgbClr val="DBEAFE"/>
          </a:solidFill>
          <a:ln w="12700" cap="flat" cmpd="sng">
            <a:solidFill>
              <a:srgbClr val="DBEAF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2" name="Google Shape;442;p15"/>
          <p:cNvSpPr/>
          <p:nvPr/>
        </p:nvSpPr>
        <p:spPr>
          <a:xfrm>
            <a:off x="6373368" y="1426464"/>
            <a:ext cx="4672584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350"/>
              <a:buFont typeface="Calibri"/>
              <a:buNone/>
            </a:pPr>
            <a:r>
              <a:rPr lang="en-US" sz="1350" b="1" i="0" u="none" strike="noStrike" cap="non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БД игровых сущностей через EF Core и SQLite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3" name="Google Shape;443;p15"/>
          <p:cNvSpPr/>
          <p:nvPr/>
        </p:nvSpPr>
        <p:spPr>
          <a:xfrm>
            <a:off x="822960" y="2313432"/>
            <a:ext cx="4892040" cy="475488"/>
          </a:xfrm>
          <a:prstGeom prst="roundRect">
            <a:avLst>
              <a:gd name="adj" fmla="val 15385"/>
            </a:avLst>
          </a:prstGeom>
          <a:solidFill>
            <a:srgbClr val="D1FAE5"/>
          </a:solidFill>
          <a:ln w="12700" cap="flat" cmpd="sng">
            <a:solidFill>
              <a:srgbClr val="D1FAE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4" name="Google Shape;444;p15"/>
          <p:cNvSpPr/>
          <p:nvPr/>
        </p:nvSpPr>
        <p:spPr>
          <a:xfrm>
            <a:off x="932688" y="2414016"/>
            <a:ext cx="4672584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350"/>
              <a:buFont typeface="Calibri"/>
              <a:buNone/>
            </a:pPr>
            <a:r>
              <a:rPr lang="en-US" sz="1350" b="1" i="0" u="none" strike="noStrike" cap="non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админский CRUD основных сущностей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5" name="Google Shape;445;p15"/>
          <p:cNvSpPr/>
          <p:nvPr/>
        </p:nvSpPr>
        <p:spPr>
          <a:xfrm>
            <a:off x="6263640" y="2313432"/>
            <a:ext cx="4892040" cy="475488"/>
          </a:xfrm>
          <a:prstGeom prst="roundRect">
            <a:avLst>
              <a:gd name="adj" fmla="val 15385"/>
            </a:avLst>
          </a:prstGeom>
          <a:solidFill>
            <a:srgbClr val="DBEAFE"/>
          </a:solidFill>
          <a:ln w="12700" cap="flat" cmpd="sng">
            <a:solidFill>
              <a:srgbClr val="DBEAF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6" name="Google Shape;446;p15"/>
          <p:cNvSpPr/>
          <p:nvPr/>
        </p:nvSpPr>
        <p:spPr>
          <a:xfrm>
            <a:off x="6373368" y="2414016"/>
            <a:ext cx="4672584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350"/>
              <a:buFont typeface="Calibri"/>
              <a:buNone/>
            </a:pPr>
            <a:r>
              <a:rPr lang="en-US" sz="1350" b="1" i="0" u="none" strike="noStrike" cap="non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Identity, роли, JWT для desktop-клиента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7" name="Google Shape;447;p15"/>
          <p:cNvSpPr/>
          <p:nvPr/>
        </p:nvSpPr>
        <p:spPr>
          <a:xfrm>
            <a:off x="822960" y="3300984"/>
            <a:ext cx="4892040" cy="475488"/>
          </a:xfrm>
          <a:prstGeom prst="roundRect">
            <a:avLst>
              <a:gd name="adj" fmla="val 15385"/>
            </a:avLst>
          </a:prstGeom>
          <a:solidFill>
            <a:srgbClr val="D1FAE5"/>
          </a:solidFill>
          <a:ln w="12700" cap="flat" cmpd="sng">
            <a:solidFill>
              <a:srgbClr val="D1FAE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8" name="Google Shape;448;p15"/>
          <p:cNvSpPr/>
          <p:nvPr/>
        </p:nvSpPr>
        <p:spPr>
          <a:xfrm>
            <a:off x="932688" y="3401568"/>
            <a:ext cx="4672584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350"/>
              <a:buFont typeface="Calibri"/>
              <a:buNone/>
            </a:pPr>
            <a:r>
              <a:rPr lang="en-US" sz="1350" b="1" i="0" u="none" strike="noStrike" cap="none" dirty="0" err="1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симуляционное</a:t>
            </a:r>
            <a:r>
              <a:rPr lang="en-US" sz="1350" b="1" i="0" u="none" strike="noStrike" cap="none" dirty="0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350" b="1" i="0" u="none" strike="noStrike" cap="none" dirty="0" err="1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ядро</a:t>
            </a:r>
            <a:r>
              <a:rPr lang="en-US" sz="1350" b="1" i="0" u="none" strike="noStrike" cap="none" dirty="0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: hit, wound, save, damage allocation</a:t>
            </a:r>
            <a:endParaRPr sz="135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9" name="Google Shape;449;p15"/>
          <p:cNvSpPr/>
          <p:nvPr/>
        </p:nvSpPr>
        <p:spPr>
          <a:xfrm>
            <a:off x="6263640" y="3300984"/>
            <a:ext cx="4892040" cy="475488"/>
          </a:xfrm>
          <a:prstGeom prst="roundRect">
            <a:avLst>
              <a:gd name="adj" fmla="val 15385"/>
            </a:avLst>
          </a:prstGeom>
          <a:solidFill>
            <a:srgbClr val="DBEAFE"/>
          </a:solidFill>
          <a:ln w="12700" cap="flat" cmpd="sng">
            <a:solidFill>
              <a:srgbClr val="DBEAF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0" name="Google Shape;450;p15"/>
          <p:cNvSpPr/>
          <p:nvPr/>
        </p:nvSpPr>
        <p:spPr>
          <a:xfrm>
            <a:off x="6373368" y="3401568"/>
            <a:ext cx="4672584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350"/>
              <a:buFont typeface="Calibri"/>
              <a:buNone/>
            </a:pPr>
            <a:r>
              <a:rPr lang="en-US" sz="1350" b="1" i="0" u="none" strike="noStrike" cap="non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однопоточный и многопоточный batch-режимы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1" name="Google Shape;451;p15"/>
          <p:cNvSpPr/>
          <p:nvPr/>
        </p:nvSpPr>
        <p:spPr>
          <a:xfrm>
            <a:off x="822960" y="4288536"/>
            <a:ext cx="4892040" cy="475488"/>
          </a:xfrm>
          <a:prstGeom prst="roundRect">
            <a:avLst>
              <a:gd name="adj" fmla="val 15385"/>
            </a:avLst>
          </a:prstGeom>
          <a:solidFill>
            <a:srgbClr val="D1FAE5"/>
          </a:solidFill>
          <a:ln w="12700" cap="flat" cmpd="sng">
            <a:solidFill>
              <a:srgbClr val="D1FAE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2" name="Google Shape;452;p15"/>
          <p:cNvSpPr/>
          <p:nvPr/>
        </p:nvSpPr>
        <p:spPr>
          <a:xfrm>
            <a:off x="932688" y="4389120"/>
            <a:ext cx="4672584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350"/>
              <a:buFont typeface="Calibri"/>
              <a:buNone/>
            </a:pPr>
            <a:r>
              <a:rPr lang="en-US" sz="1350" b="1" i="0" u="none" strike="noStrike" cap="non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сохранение и просмотр агрегированных результатов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3" name="Google Shape;453;p15"/>
          <p:cNvSpPr/>
          <p:nvPr/>
        </p:nvSpPr>
        <p:spPr>
          <a:xfrm>
            <a:off x="6263640" y="4288536"/>
            <a:ext cx="4892040" cy="475488"/>
          </a:xfrm>
          <a:prstGeom prst="roundRect">
            <a:avLst>
              <a:gd name="adj" fmla="val 15385"/>
            </a:avLst>
          </a:prstGeom>
          <a:solidFill>
            <a:srgbClr val="DBEAFE"/>
          </a:solidFill>
          <a:ln w="12700" cap="flat" cmpd="sng">
            <a:solidFill>
              <a:srgbClr val="DBEAF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4" name="Google Shape;454;p15"/>
          <p:cNvSpPr/>
          <p:nvPr/>
        </p:nvSpPr>
        <p:spPr>
          <a:xfrm>
            <a:off x="6373368" y="4389120"/>
            <a:ext cx="4672584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350"/>
              <a:buFont typeface="Calibri"/>
              <a:buNone/>
            </a:pPr>
            <a:r>
              <a:rPr lang="en-US" sz="1350" b="1" i="0" u="none" strike="noStrike" cap="non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WPF-клиент для запуска расчётов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6" name="Google Shape;456;p15"/>
          <p:cNvSpPr/>
          <p:nvPr/>
        </p:nvSpPr>
        <p:spPr>
          <a:xfrm>
            <a:off x="11292840" y="6446520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32" tIns="0" rIns="27432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sz="900" b="0">
                <a:solidFill>
                  <a:srgbClr val="475569"/>
                </a:solidFill>
                <a:latin typeface="Calibri"/>
              </a:rPr>
              <a:t>16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AFB"/>
        </a:solidFill>
        <a:effectLst/>
      </p:bgPr>
    </p:bg>
    <p:spTree>
      <p:nvGrpSpPr>
        <p:cNvPr id="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p16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AFB"/>
          </a:solidFill>
          <a:ln w="12700" cap="flat" cmpd="sng">
            <a:solidFill>
              <a:srgbClr val="F9FAF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3" name="Google Shape;463;p16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991B1B"/>
          </a:solidFill>
          <a:ln w="12700" cap="flat" cmpd="sng">
            <a:solidFill>
              <a:srgbClr val="991B1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4" name="Google Shape;464;p1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111827"/>
          </a:solidFill>
          <a:ln w="12700" cap="flat" cmpd="sng">
            <a:solidFill>
              <a:srgbClr val="1118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5" name="Google Shape;465;p16"/>
          <p:cNvSpPr/>
          <p:nvPr/>
        </p:nvSpPr>
        <p:spPr>
          <a:xfrm>
            <a:off x="502920" y="320040"/>
            <a:ext cx="996696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2700"/>
              <a:buFont typeface="Calibri"/>
              <a:buNone/>
            </a:pPr>
            <a:r>
              <a:rPr lang="en-US" sz="2700" b="1" i="0" u="none" strike="noStrike" cap="non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Планы развития</a:t>
            </a:r>
            <a:endParaRPr sz="2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6" name="Google Shape;466;p16"/>
          <p:cNvSpPr/>
          <p:nvPr/>
        </p:nvSpPr>
        <p:spPr>
          <a:xfrm>
            <a:off x="530352" y="841248"/>
            <a:ext cx="1069848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50"/>
              <a:buFont typeface="Calibri"/>
              <a:buNone/>
            </a:pPr>
            <a:r>
              <a:rPr lang="en-US" sz="1350" b="0" i="0" u="none" strike="noStrike" cap="none">
                <a:solidFill>
                  <a:srgbClr val="4B5563"/>
                </a:solidFill>
                <a:latin typeface="Calibri"/>
                <a:ea typeface="Calibri"/>
                <a:cs typeface="Calibri"/>
                <a:sym typeface="Calibri"/>
              </a:rPr>
              <a:t>Что можно расширить после предзащиты и перед основной защитой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7" name="Google Shape;467;p16"/>
          <p:cNvSpPr/>
          <p:nvPr/>
        </p:nvSpPr>
        <p:spPr>
          <a:xfrm>
            <a:off x="822960" y="1234440"/>
            <a:ext cx="10515600" cy="603504"/>
          </a:xfrm>
          <a:prstGeom prst="roundRect">
            <a:avLst>
              <a:gd name="adj" fmla="val 9091"/>
            </a:avLst>
          </a:prstGeom>
          <a:solidFill>
            <a:srgbClr val="F3F4F6"/>
          </a:solidFill>
          <a:ln w="12700" cap="flat" cmpd="sng">
            <a:solidFill>
              <a:srgbClr val="E5E7E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8" name="Google Shape;468;p16"/>
          <p:cNvSpPr/>
          <p:nvPr/>
        </p:nvSpPr>
        <p:spPr>
          <a:xfrm>
            <a:off x="1051560" y="1380744"/>
            <a:ext cx="2103120" cy="310896"/>
          </a:xfrm>
          <a:prstGeom prst="roundRect">
            <a:avLst>
              <a:gd name="adj" fmla="val 23529"/>
            </a:avLst>
          </a:prstGeom>
          <a:solidFill>
            <a:srgbClr val="EDE9FE"/>
          </a:solidFill>
          <a:ln w="12700" cap="flat" cmpd="sng">
            <a:solidFill>
              <a:srgbClr val="EDE9F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9" name="Google Shape;469;p16"/>
          <p:cNvSpPr/>
          <p:nvPr/>
        </p:nvSpPr>
        <p:spPr>
          <a:xfrm>
            <a:off x="1124712" y="1440180"/>
            <a:ext cx="1956816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950"/>
              <a:buFont typeface="Calibri"/>
              <a:buNone/>
            </a:pPr>
            <a:r>
              <a:rPr lang="en-US" sz="950" b="1" i="0" u="none" strike="noStrike" cap="non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Настройки симуляции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0" name="Google Shape;470;p16"/>
          <p:cNvSpPr/>
          <p:nvPr/>
        </p:nvSpPr>
        <p:spPr>
          <a:xfrm>
            <a:off x="3429000" y="1399032"/>
            <a:ext cx="758952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380"/>
              <a:buFont typeface="Calibri"/>
              <a:buNone/>
            </a:pPr>
            <a:r>
              <a:rPr lang="en-US" sz="1380" b="0" i="0" u="none" strike="noStrike" cap="none" dirty="0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+1 к BS/WS, AP, Save, </a:t>
            </a:r>
            <a:r>
              <a:rPr lang="en-US" sz="1380" b="0" i="0" u="none" strike="noStrike" cap="none" dirty="0" err="1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дистанция</a:t>
            </a:r>
            <a:r>
              <a:rPr lang="en-US" sz="1380" b="0" i="0" u="none" strike="noStrike" cap="none" dirty="0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lang="ru-RU" sz="1380" b="0" i="0" u="none" strike="noStrike" cap="none" dirty="0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вступление</a:t>
            </a:r>
            <a:r>
              <a:rPr lang="en-US" sz="1380" b="0" i="0" u="none" strike="noStrike" cap="none" dirty="0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 в </a:t>
            </a:r>
            <a:r>
              <a:rPr lang="en-US" sz="1380" b="0" i="0" u="none" strike="noStrike" cap="none" dirty="0" err="1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ближний</a:t>
            </a:r>
            <a:r>
              <a:rPr lang="en-US" sz="1380" b="0" i="0" u="none" strike="noStrike" cap="none" dirty="0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380" b="0" i="0" u="none" strike="noStrike" cap="none" dirty="0" err="1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бой</a:t>
            </a:r>
            <a:endParaRPr sz="138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1" name="Google Shape;471;p16"/>
          <p:cNvSpPr/>
          <p:nvPr/>
        </p:nvSpPr>
        <p:spPr>
          <a:xfrm>
            <a:off x="822960" y="2103120"/>
            <a:ext cx="1051560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 cap="flat" cmpd="sng">
            <a:solidFill>
              <a:srgbClr val="E5E7E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2" name="Google Shape;472;p16"/>
          <p:cNvSpPr/>
          <p:nvPr/>
        </p:nvSpPr>
        <p:spPr>
          <a:xfrm>
            <a:off x="1051560" y="2249424"/>
            <a:ext cx="2103120" cy="310896"/>
          </a:xfrm>
          <a:prstGeom prst="roundRect">
            <a:avLst>
              <a:gd name="adj" fmla="val 23529"/>
            </a:avLst>
          </a:prstGeom>
          <a:solidFill>
            <a:srgbClr val="FEF3C7"/>
          </a:solidFill>
          <a:ln w="12700" cap="flat" cmpd="sng">
            <a:solidFill>
              <a:srgbClr val="FEF3C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3" name="Google Shape;473;p16"/>
          <p:cNvSpPr/>
          <p:nvPr/>
        </p:nvSpPr>
        <p:spPr>
          <a:xfrm>
            <a:off x="1124712" y="2308860"/>
            <a:ext cx="1956816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950"/>
              <a:buFont typeface="Calibri"/>
              <a:buNone/>
            </a:pPr>
            <a:r>
              <a:rPr lang="en-US" sz="950" b="1" i="0" u="none" strike="noStrike" cap="non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Loadout редактор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4" name="Google Shape;474;p16"/>
          <p:cNvSpPr/>
          <p:nvPr/>
        </p:nvSpPr>
        <p:spPr>
          <a:xfrm>
            <a:off x="3429000" y="2267712"/>
            <a:ext cx="758952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380"/>
              <a:buFont typeface="Calibri"/>
              <a:buNone/>
            </a:pPr>
            <a:r>
              <a:rPr lang="en-US" sz="1380" b="0" i="0" u="none" strike="noStrike" cap="none" dirty="0" err="1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фактическое</a:t>
            </a:r>
            <a:r>
              <a:rPr lang="en-US" sz="1380" b="0" i="0" u="none" strike="noStrike" cap="none" dirty="0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380" b="0" i="0" u="none" strike="noStrike" cap="none" dirty="0" err="1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количество</a:t>
            </a:r>
            <a:r>
              <a:rPr lang="en-US" sz="1380" b="0" i="0" u="none" strike="noStrike" cap="none" dirty="0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380" b="0" i="0" u="none" strike="noStrike" cap="none" dirty="0" err="1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моделей</a:t>
            </a:r>
            <a:r>
              <a:rPr lang="en-US" sz="1380" b="0" i="0" u="none" strike="noStrike" cap="none" dirty="0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 и </a:t>
            </a:r>
            <a:r>
              <a:rPr lang="en-US" sz="1380" b="0" i="0" u="none" strike="noStrike" cap="none" dirty="0" err="1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выбор</a:t>
            </a:r>
            <a:r>
              <a:rPr lang="en-US" sz="1380" b="0" i="0" u="none" strike="noStrike" cap="none" dirty="0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380" b="0" i="0" u="none" strike="noStrike" cap="none" dirty="0" err="1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специального</a:t>
            </a:r>
            <a:r>
              <a:rPr lang="en-US" sz="1380" b="0" i="0" u="none" strike="noStrike" cap="none" dirty="0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380" b="0" i="0" u="none" strike="noStrike" cap="none" dirty="0" err="1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оружия</a:t>
            </a:r>
            <a:endParaRPr sz="138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5" name="Google Shape;475;p16"/>
          <p:cNvSpPr/>
          <p:nvPr/>
        </p:nvSpPr>
        <p:spPr>
          <a:xfrm>
            <a:off x="822960" y="2971800"/>
            <a:ext cx="10515600" cy="603504"/>
          </a:xfrm>
          <a:prstGeom prst="roundRect">
            <a:avLst>
              <a:gd name="adj" fmla="val 9091"/>
            </a:avLst>
          </a:prstGeom>
          <a:solidFill>
            <a:srgbClr val="F3F4F6"/>
          </a:solidFill>
          <a:ln w="12700" cap="flat" cmpd="sng">
            <a:solidFill>
              <a:srgbClr val="E5E7E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6" name="Google Shape;476;p16"/>
          <p:cNvSpPr/>
          <p:nvPr/>
        </p:nvSpPr>
        <p:spPr>
          <a:xfrm>
            <a:off x="1051560" y="3118104"/>
            <a:ext cx="2103120" cy="310896"/>
          </a:xfrm>
          <a:prstGeom prst="roundRect">
            <a:avLst>
              <a:gd name="adj" fmla="val 23529"/>
            </a:avLst>
          </a:prstGeom>
          <a:solidFill>
            <a:srgbClr val="EDE9FE"/>
          </a:solidFill>
          <a:ln w="12700" cap="flat" cmpd="sng">
            <a:solidFill>
              <a:srgbClr val="EDE9F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7" name="Google Shape;477;p16"/>
          <p:cNvSpPr/>
          <p:nvPr/>
        </p:nvSpPr>
        <p:spPr>
          <a:xfrm>
            <a:off x="1124712" y="3177540"/>
            <a:ext cx="1956816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950"/>
              <a:buFont typeface="Calibri"/>
              <a:buNone/>
            </a:pPr>
            <a:r>
              <a:rPr lang="en-US" sz="950" b="1" i="0" u="none" strike="noStrike" cap="non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Массовые запуски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8" name="Google Shape;478;p16"/>
          <p:cNvSpPr/>
          <p:nvPr/>
        </p:nvSpPr>
        <p:spPr>
          <a:xfrm>
            <a:off x="3429000" y="3136392"/>
            <a:ext cx="758952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380"/>
              <a:buFont typeface="Calibri"/>
              <a:buNone/>
            </a:pPr>
            <a:r>
              <a:rPr lang="en-US" sz="1380" b="0" i="0" u="none" strike="noStrike" cap="none" dirty="0" err="1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сравнение</a:t>
            </a:r>
            <a:r>
              <a:rPr lang="en-US" sz="1380" b="0" i="0" u="none" strike="noStrike" cap="none" dirty="0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380" b="0" i="0" u="none" strike="noStrike" cap="none" dirty="0" err="1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одного</a:t>
            </a:r>
            <a:r>
              <a:rPr lang="en-US" sz="1380" b="0" i="0" u="none" strike="noStrike" cap="none" dirty="0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380" b="0" i="0" u="none" strike="noStrike" cap="none" dirty="0" err="1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юнита</a:t>
            </a:r>
            <a:r>
              <a:rPr lang="en-US" sz="1380" b="0" i="0" u="none" strike="noStrike" cap="none" dirty="0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380" b="0" i="0" u="none" strike="noStrike" cap="none" dirty="0" err="1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со</a:t>
            </a:r>
            <a:r>
              <a:rPr lang="en-US" sz="1380" b="0" i="0" u="none" strike="noStrike" cap="none" dirty="0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380" b="0" i="0" u="none" strike="noStrike" cap="none" dirty="0" err="1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всеми</a:t>
            </a:r>
            <a:r>
              <a:rPr lang="en-US" sz="1380" b="0" i="0" u="none" strike="noStrike" cap="none" dirty="0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380" b="0" i="0" u="none" strike="noStrike" cap="none" dirty="0" err="1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юнитами</a:t>
            </a:r>
            <a:r>
              <a:rPr lang="en-US" sz="1380" b="0" i="0" u="none" strike="noStrike" cap="none" dirty="0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380" b="0" i="0" u="none" strike="noStrike" cap="none" dirty="0" err="1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по</a:t>
            </a:r>
            <a:r>
              <a:rPr lang="en-US" sz="1380" b="0" i="0" u="none" strike="noStrike" cap="none" dirty="0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380" b="0" i="0" u="none" strike="noStrike" cap="none" dirty="0" err="1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ключевым</a:t>
            </a:r>
            <a:r>
              <a:rPr lang="en-US" sz="1380" b="0" i="0" u="none" strike="noStrike" cap="none" dirty="0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380" b="0" i="0" u="none" strike="noStrike" cap="none" dirty="0" err="1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словам</a:t>
            </a:r>
            <a:endParaRPr sz="138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9" name="Google Shape;479;p16"/>
          <p:cNvSpPr/>
          <p:nvPr/>
        </p:nvSpPr>
        <p:spPr>
          <a:xfrm>
            <a:off x="822960" y="3840480"/>
            <a:ext cx="1051560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 cap="flat" cmpd="sng">
            <a:solidFill>
              <a:srgbClr val="E5E7E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0" name="Google Shape;480;p16"/>
          <p:cNvSpPr/>
          <p:nvPr/>
        </p:nvSpPr>
        <p:spPr>
          <a:xfrm>
            <a:off x="1051560" y="3986784"/>
            <a:ext cx="2103120" cy="310896"/>
          </a:xfrm>
          <a:prstGeom prst="roundRect">
            <a:avLst>
              <a:gd name="adj" fmla="val 23529"/>
            </a:avLst>
          </a:prstGeom>
          <a:solidFill>
            <a:srgbClr val="FEF3C7"/>
          </a:solidFill>
          <a:ln w="12700" cap="flat" cmpd="sng">
            <a:solidFill>
              <a:srgbClr val="FEF3C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1" name="Google Shape;481;p16"/>
          <p:cNvSpPr/>
          <p:nvPr/>
        </p:nvSpPr>
        <p:spPr>
          <a:xfrm>
            <a:off x="1124712" y="4046220"/>
            <a:ext cx="1956816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950"/>
              <a:buFont typeface="Calibri"/>
              <a:buNone/>
            </a:pPr>
            <a:r>
              <a:rPr lang="en-US" sz="950" b="1" i="0" u="none" strike="noStrike" cap="non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Расчёт до сходимости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2" name="Google Shape;482;p16"/>
          <p:cNvSpPr/>
          <p:nvPr/>
        </p:nvSpPr>
        <p:spPr>
          <a:xfrm>
            <a:off x="3429000" y="4005072"/>
            <a:ext cx="758952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380"/>
              <a:buFont typeface="Calibri"/>
              <a:buNone/>
            </a:pPr>
            <a:r>
              <a:rPr lang="en-US" sz="138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остановка при стабилизации среднего результата</a:t>
            </a:r>
            <a:endParaRPr sz="138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3" name="Google Shape;483;p16"/>
          <p:cNvSpPr/>
          <p:nvPr/>
        </p:nvSpPr>
        <p:spPr>
          <a:xfrm>
            <a:off x="822960" y="4709160"/>
            <a:ext cx="10515600" cy="603504"/>
          </a:xfrm>
          <a:prstGeom prst="roundRect">
            <a:avLst>
              <a:gd name="adj" fmla="val 9091"/>
            </a:avLst>
          </a:prstGeom>
          <a:solidFill>
            <a:srgbClr val="F3F4F6"/>
          </a:solidFill>
          <a:ln w="12700" cap="flat" cmpd="sng">
            <a:solidFill>
              <a:srgbClr val="E5E7E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4" name="Google Shape;484;p16"/>
          <p:cNvSpPr/>
          <p:nvPr/>
        </p:nvSpPr>
        <p:spPr>
          <a:xfrm>
            <a:off x="1051560" y="4855464"/>
            <a:ext cx="2103120" cy="310896"/>
          </a:xfrm>
          <a:prstGeom prst="roundRect">
            <a:avLst>
              <a:gd name="adj" fmla="val 23529"/>
            </a:avLst>
          </a:prstGeom>
          <a:solidFill>
            <a:srgbClr val="EDE9FE"/>
          </a:solidFill>
          <a:ln w="12700" cap="flat" cmpd="sng">
            <a:solidFill>
              <a:srgbClr val="EDE9F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5" name="Google Shape;485;p16"/>
          <p:cNvSpPr/>
          <p:nvPr/>
        </p:nvSpPr>
        <p:spPr>
          <a:xfrm>
            <a:off x="1124712" y="4914900"/>
            <a:ext cx="1956816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950"/>
              <a:buFont typeface="Calibri"/>
              <a:buNone/>
            </a:pPr>
            <a:r>
              <a:rPr lang="en-US" sz="950" b="1" i="0" u="none" strike="noStrike" cap="non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Визуализация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6" name="Google Shape;486;p16"/>
          <p:cNvSpPr/>
          <p:nvPr/>
        </p:nvSpPr>
        <p:spPr>
          <a:xfrm>
            <a:off x="3429000" y="4873752"/>
            <a:ext cx="758952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380"/>
              <a:buFont typeface="Calibri"/>
              <a:buNone/>
            </a:pPr>
            <a:r>
              <a:rPr lang="en-US" sz="138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графики, экспорт отчёта, сравнение запусков</a:t>
            </a:r>
            <a:endParaRPr sz="138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16"/>
          <p:cNvSpPr/>
          <p:nvPr/>
        </p:nvSpPr>
        <p:spPr>
          <a:xfrm>
            <a:off x="11292840" y="6446520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32" tIns="0" rIns="27432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sz="900" b="0">
                <a:solidFill>
                  <a:srgbClr val="475569"/>
                </a:solidFill>
                <a:latin typeface="Calibri"/>
              </a:rPr>
              <a:t>17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Shape 4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Google Shape;494;p17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827"/>
          </a:solidFill>
          <a:ln w="12700" cap="flat" cmpd="sng">
            <a:solidFill>
              <a:srgbClr val="1118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5" name="Google Shape;495;p17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91B1B"/>
          </a:solidFill>
          <a:ln w="12700" cap="flat" cmpd="sng">
            <a:solidFill>
              <a:srgbClr val="991B1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6" name="Google Shape;496;p17"/>
          <p:cNvSpPr/>
          <p:nvPr/>
        </p:nvSpPr>
        <p:spPr>
          <a:xfrm>
            <a:off x="749808" y="1097280"/>
            <a:ext cx="457200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Calibri"/>
              <a:buNone/>
            </a:pPr>
            <a:r>
              <a:rPr lang="en-US" sz="3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Контакты</a:t>
            </a:r>
            <a:endParaRPr sz="3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7" name="Google Shape;497;p17"/>
          <p:cNvSpPr/>
          <p:nvPr/>
        </p:nvSpPr>
        <p:spPr>
          <a:xfrm>
            <a:off x="786384" y="2011680"/>
            <a:ext cx="6766560" cy="1005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2100"/>
              <a:buFont typeface="Calibri"/>
              <a:buNone/>
            </a:pPr>
            <a:r>
              <a:rPr lang="en-US" sz="2100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Большаков </a:t>
            </a:r>
            <a:r>
              <a:rPr lang="en-US" sz="2100" b="0" i="0" u="none" strike="noStrike" cap="non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Никита Андреевич</a:t>
            </a:r>
            <a:endParaRPr sz="2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2100"/>
              <a:buFont typeface="Calibri"/>
              <a:buNone/>
            </a:pPr>
            <a:r>
              <a:rPr lang="en-US" sz="2100" b="0" i="0" u="none" strike="noStrike" cap="non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Email: bolnick09rus@gmail.com</a:t>
            </a:r>
            <a:endParaRPr sz="2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2100"/>
              <a:buFont typeface="Calibri"/>
              <a:buNone/>
            </a:pPr>
            <a:r>
              <a:rPr lang="en-US" sz="2100" b="0" i="0" u="none" strike="noStrike" cap="non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GitHub: </a:t>
            </a:r>
            <a:r>
              <a:rPr lang="en-US" sz="2100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https://github.com/BolNick09/StatHammer.git</a:t>
            </a:r>
            <a:endParaRPr sz="2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8" name="Google Shape;498;p17"/>
          <p:cNvSpPr/>
          <p:nvPr/>
        </p:nvSpPr>
        <p:spPr>
          <a:xfrm>
            <a:off x="786384" y="5303520"/>
            <a:ext cx="685800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libri"/>
              <a:buNone/>
            </a:pPr>
            <a:r>
              <a:rPr lang="en-US" sz="2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Спасибо за внимание</a:t>
            </a:r>
            <a:endParaRPr sz="2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34</TotalTime>
  <Words>1379</Words>
  <Application>Microsoft Office PowerPoint</Application>
  <PresentationFormat>Широкоэкранный</PresentationFormat>
  <Paragraphs>333</Paragraphs>
  <Slides>18</Slides>
  <Notes>17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StatHammer</dc:creator>
  <cp:lastModifiedBy>Nikita Bol</cp:lastModifiedBy>
  <cp:revision>16</cp:revision>
  <dcterms:created xsi:type="dcterms:W3CDTF">2026-06-15T18:18:18Z</dcterms:created>
  <dcterms:modified xsi:type="dcterms:W3CDTF">2026-06-18T12:40:52Z</dcterms:modified>
</cp:coreProperties>
</file>