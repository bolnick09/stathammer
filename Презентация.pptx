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</p:sldIdLst>
  <p:sldSz cy="6858000" cx="12191675"/>
  <p:notesSz cx="6858000" cy="12191675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2" roundtripDataSignature="AMtx7mgiQ4NcomjG48yRBLNAUMQZ7gYRm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22" Type="http://customschemas.google.com/relationships/presentationmetadata" Target="metadata"/><Relationship Id="rId10" Type="http://schemas.openxmlformats.org/officeDocument/2006/relationships/slide" Target="slides/slide6.xml"/><Relationship Id="rId21" Type="http://schemas.openxmlformats.org/officeDocument/2006/relationships/slide" Target="slides/slide17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" name="Google Shape;2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2" name="Google Shape;112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5" name="Google Shape;175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5" name="Google Shape;21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3" name="Google Shape;26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5" name="Google Shape;29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6" name="Google Shape;326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9" name="Google Shape;3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5" name="Google Shape;40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5" name="Google Shape;43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" name="Google Shape;436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3" name="Google Shape;463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5" name="Google Shape;49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827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 cap="flat" cmpd="sng" w="12700">
            <a:solidFill>
              <a:srgbClr val="11182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91B1B"/>
          </a:solidFill>
          <a:ln cap="flat" cmpd="sng" w="12700">
            <a:solidFill>
              <a:srgbClr val="991B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713232" y="1051560"/>
            <a:ext cx="6766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Font typeface="Calibri"/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StatHammer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749808" y="1901952"/>
            <a:ext cx="86868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Разработка программной системы для статистического моделирования боевых сценариев настольной игры «Warhammer 40000» 10 </a:t>
            </a:r>
            <a:r>
              <a:rPr lang="en-US" sz="22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редакции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768096" y="4709160"/>
            <a:ext cx="5669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Дипломный проект по направлению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«Разработка программного обеспечения»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7498080" y="4709160"/>
            <a:ext cx="3474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Студент: Большаков Никита Андрееви</a:t>
            </a:r>
            <a:r>
              <a:rPr lang="en-US" sz="1600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ч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Группа</a:t>
            </a:r>
            <a:r>
              <a:rPr b="0" i="0" lang="en-US" sz="16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sz="1600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ПВ311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768096" y="589788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C# • ASP.NET Core • EF Core • Razor Pages • WPF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02920" y="644652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StatHammer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AFB"/>
        </a:solid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cap="flat" cmpd="sng" w="12700">
            <a:solidFill>
              <a:srgbClr val="F9FA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91B1B"/>
          </a:solidFill>
          <a:ln cap="flat" cmpd="sng" w="12700">
            <a:solidFill>
              <a:srgbClr val="991B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11827"/>
          </a:solidFill>
          <a:ln cap="flat" cmpd="sng" w="12700">
            <a:solidFill>
              <a:srgbClr val="11182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Оглавление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530352" y="841248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Структура защиты проекта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685800" y="1417320"/>
            <a:ext cx="438912" cy="438912"/>
          </a:xfrm>
          <a:prstGeom prst="ellipse">
            <a:avLst/>
          </a:prstGeom>
          <a:solidFill>
            <a:srgbClr val="991B1B"/>
          </a:solidFill>
          <a:ln cap="flat" cmpd="sng" w="12700">
            <a:solidFill>
              <a:srgbClr val="991B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685800" y="1527048"/>
            <a:ext cx="4389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1325880" y="1389888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Тема и обоснование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1325880" y="1709928"/>
            <a:ext cx="530352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задача, актуальность, ценность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685800" y="2167128"/>
            <a:ext cx="438912" cy="438912"/>
          </a:xfrm>
          <a:prstGeom prst="ellipse">
            <a:avLst/>
          </a:prstGeom>
          <a:solidFill>
            <a:srgbClr val="991B1B"/>
          </a:solidFill>
          <a:ln cap="flat" cmpd="sng" w="12700">
            <a:solidFill>
              <a:srgbClr val="991B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685800" y="2276856"/>
            <a:ext cx="4389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1325880" y="2139696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Технологии и ПО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1325880" y="2459736"/>
            <a:ext cx="530352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стек разработки и инструменты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685800" y="2916936"/>
            <a:ext cx="438912" cy="438912"/>
          </a:xfrm>
          <a:prstGeom prst="ellipse">
            <a:avLst/>
          </a:prstGeom>
          <a:solidFill>
            <a:srgbClr val="991B1B"/>
          </a:solidFill>
          <a:ln cap="flat" cmpd="sng" w="12700">
            <a:solidFill>
              <a:srgbClr val="991B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685800" y="3026664"/>
            <a:ext cx="4389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1325880" y="2889504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Архитектура системы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1325880" y="3209544"/>
            <a:ext cx="530352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сервер, клиенты, БД, сервисы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685800" y="3666744"/>
            <a:ext cx="438912" cy="438912"/>
          </a:xfrm>
          <a:prstGeom prst="ellipse">
            <a:avLst/>
          </a:prstGeom>
          <a:solidFill>
            <a:srgbClr val="991B1B"/>
          </a:solidFill>
          <a:ln cap="flat" cmpd="sng" w="12700">
            <a:solidFill>
              <a:srgbClr val="991B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685800" y="3776472"/>
            <a:ext cx="4389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1325880" y="3639312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Демонстрация работы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1325880" y="3959352"/>
            <a:ext cx="530352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web-клиент и WPF-клиент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685800" y="4416552"/>
            <a:ext cx="438912" cy="438912"/>
          </a:xfrm>
          <a:prstGeom prst="ellipse">
            <a:avLst/>
          </a:prstGeom>
          <a:solidFill>
            <a:srgbClr val="991B1B"/>
          </a:solidFill>
          <a:ln cap="flat" cmpd="sng" w="12700">
            <a:solidFill>
              <a:srgbClr val="991B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685800" y="4526280"/>
            <a:ext cx="4389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1325880" y="438912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Диаграммы проекта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1325880" y="4709160"/>
            <a:ext cx="530352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прецеденты, классы, БД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685800" y="5166360"/>
            <a:ext cx="438912" cy="438912"/>
          </a:xfrm>
          <a:prstGeom prst="ellipse">
            <a:avLst/>
          </a:prstGeom>
          <a:solidFill>
            <a:srgbClr val="991B1B"/>
          </a:solidFill>
          <a:ln cap="flat" cmpd="sng" w="12700">
            <a:solidFill>
              <a:srgbClr val="991B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2"/>
          <p:cNvSpPr/>
          <p:nvPr/>
        </p:nvSpPr>
        <p:spPr>
          <a:xfrm>
            <a:off x="685800" y="5276088"/>
            <a:ext cx="4389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1325880" y="5138928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Результаты и контакты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1325880" y="5458968"/>
            <a:ext cx="530352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производительность и ссылка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"/>
          <p:cNvSpPr/>
          <p:nvPr/>
        </p:nvSpPr>
        <p:spPr>
          <a:xfrm>
            <a:off x="6949440" y="1353312"/>
            <a:ext cx="4480560" cy="4389120"/>
          </a:xfrm>
          <a:prstGeom prst="roundRect">
            <a:avLst>
              <a:gd fmla="val 1250" name="adj"/>
            </a:avLst>
          </a:prstGeom>
          <a:solidFill>
            <a:srgbClr val="111827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2"/>
          <p:cNvSpPr/>
          <p:nvPr/>
        </p:nvSpPr>
        <p:spPr>
          <a:xfrm>
            <a:off x="7269480" y="1691640"/>
            <a:ext cx="3474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Логика рассказа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2"/>
          <p:cNvSpPr/>
          <p:nvPr/>
        </p:nvSpPr>
        <p:spPr>
          <a:xfrm>
            <a:off x="7269480" y="2240280"/>
            <a:ext cx="3703320" cy="233172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почему система нужна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как она устроена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как работает расчёт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что уже реализовано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• как подтверждена производительность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2"/>
          <p:cNvSpPr/>
          <p:nvPr/>
        </p:nvSpPr>
        <p:spPr>
          <a:xfrm>
            <a:off x="502920" y="644652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StatHammer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2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AFB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cap="flat" cmpd="sng" w="12700">
            <a:solidFill>
              <a:srgbClr val="F9FA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91B1B"/>
          </a:solidFill>
          <a:ln cap="flat" cmpd="sng" w="12700">
            <a:solidFill>
              <a:srgbClr val="991B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11827"/>
          </a:solidFill>
          <a:ln cap="flat" cmpd="sng" w="12700">
            <a:solidFill>
              <a:srgbClr val="11182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3"/>
          <p:cNvSpPr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Обоснование выбора темы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530352" y="841248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Задача, актуальность, ценность и целевая аудитория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685800" y="1417320"/>
            <a:ext cx="5074920" cy="1600200"/>
          </a:xfrm>
          <a:prstGeom prst="roundRect">
            <a:avLst>
              <a:gd fmla="val 3429" name="adj"/>
            </a:avLst>
          </a:prstGeom>
          <a:solidFill>
            <a:srgbClr val="FFFFFF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3"/>
          <p:cNvSpPr/>
          <p:nvPr/>
        </p:nvSpPr>
        <p:spPr>
          <a:xfrm>
            <a:off x="914400" y="1618488"/>
            <a:ext cx="1508760" cy="310896"/>
          </a:xfrm>
          <a:prstGeom prst="roundRect">
            <a:avLst>
              <a:gd fmla="val 23529" name="adj"/>
            </a:avLst>
          </a:prstGeom>
          <a:solidFill>
            <a:srgbClr val="DBEAFE"/>
          </a:solidFill>
          <a:ln cap="flat" cmpd="sng" w="12700">
            <a:solidFill>
              <a:srgbClr val="DBEA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3"/>
          <p:cNvSpPr/>
          <p:nvPr/>
        </p:nvSpPr>
        <p:spPr>
          <a:xfrm>
            <a:off x="987552" y="1677924"/>
            <a:ext cx="136245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Задача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914400" y="2103120"/>
            <a:ext cx="4572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Автоматизировать оценку исходов боевых столкновений двух игровых юнитов с учётом случайности бросков кубиков.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6263640" y="1417320"/>
            <a:ext cx="5074920" cy="1600200"/>
          </a:xfrm>
          <a:prstGeom prst="roundRect">
            <a:avLst>
              <a:gd fmla="val 3429" name="adj"/>
            </a:avLst>
          </a:prstGeom>
          <a:solidFill>
            <a:srgbClr val="FFFFFF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3"/>
          <p:cNvSpPr/>
          <p:nvPr/>
        </p:nvSpPr>
        <p:spPr>
          <a:xfrm>
            <a:off x="6492240" y="1618488"/>
            <a:ext cx="1508760" cy="310896"/>
          </a:xfrm>
          <a:prstGeom prst="roundRect">
            <a:avLst>
              <a:gd fmla="val 23529" name="adj"/>
            </a:avLst>
          </a:prstGeom>
          <a:solidFill>
            <a:srgbClr val="FEF3C7"/>
          </a:solidFill>
          <a:ln cap="flat" cmpd="sng" w="12700">
            <a:solidFill>
              <a:srgbClr val="FEF3C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3"/>
          <p:cNvSpPr/>
          <p:nvPr/>
        </p:nvSpPr>
        <p:spPr>
          <a:xfrm>
            <a:off x="6565392" y="1677924"/>
            <a:ext cx="136245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Актуальность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6492240" y="2103120"/>
            <a:ext cx="4572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Ручной “Mathhammer” требует много расчётов и плохо масштабируется при сравнении разных юнитов и настроек.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685800" y="3794760"/>
            <a:ext cx="5074920" cy="1600200"/>
          </a:xfrm>
          <a:prstGeom prst="roundRect">
            <a:avLst>
              <a:gd fmla="val 3429" name="adj"/>
            </a:avLst>
          </a:prstGeom>
          <a:solidFill>
            <a:srgbClr val="FFFFFF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3"/>
          <p:cNvSpPr/>
          <p:nvPr/>
        </p:nvSpPr>
        <p:spPr>
          <a:xfrm>
            <a:off x="914400" y="3995928"/>
            <a:ext cx="1508760" cy="310896"/>
          </a:xfrm>
          <a:prstGeom prst="roundRect">
            <a:avLst>
              <a:gd fmla="val 23529" name="adj"/>
            </a:avLst>
          </a:prstGeom>
          <a:solidFill>
            <a:srgbClr val="DBEAFE"/>
          </a:solidFill>
          <a:ln cap="flat" cmpd="sng" w="12700">
            <a:solidFill>
              <a:srgbClr val="DBEA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3"/>
          <p:cNvSpPr/>
          <p:nvPr/>
        </p:nvSpPr>
        <p:spPr>
          <a:xfrm>
            <a:off x="987552" y="4055364"/>
            <a:ext cx="136245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Ценность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3"/>
          <p:cNvSpPr/>
          <p:nvPr/>
        </p:nvSpPr>
        <p:spPr>
          <a:xfrm>
            <a:off x="914400" y="4480560"/>
            <a:ext cx="4572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Система быстро выдаёт статистику: средний урон, выживаемость, победы, вклад оружия по ходам.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3"/>
          <p:cNvSpPr/>
          <p:nvPr/>
        </p:nvSpPr>
        <p:spPr>
          <a:xfrm>
            <a:off x="6263640" y="3794760"/>
            <a:ext cx="5074920" cy="1600200"/>
          </a:xfrm>
          <a:prstGeom prst="roundRect">
            <a:avLst>
              <a:gd fmla="val 3429" name="adj"/>
            </a:avLst>
          </a:prstGeom>
          <a:solidFill>
            <a:srgbClr val="FFFFFF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3"/>
          <p:cNvSpPr/>
          <p:nvPr/>
        </p:nvSpPr>
        <p:spPr>
          <a:xfrm>
            <a:off x="6492240" y="3995928"/>
            <a:ext cx="1508760" cy="310896"/>
          </a:xfrm>
          <a:prstGeom prst="roundRect">
            <a:avLst>
              <a:gd fmla="val 23529" name="adj"/>
            </a:avLst>
          </a:prstGeom>
          <a:solidFill>
            <a:srgbClr val="FEF3C7"/>
          </a:solidFill>
          <a:ln cap="flat" cmpd="sng" w="12700">
            <a:solidFill>
              <a:srgbClr val="FEF3C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3"/>
          <p:cNvSpPr/>
          <p:nvPr/>
        </p:nvSpPr>
        <p:spPr>
          <a:xfrm>
            <a:off x="6565392" y="4055364"/>
            <a:ext cx="136245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Аудитория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3"/>
          <p:cNvSpPr/>
          <p:nvPr/>
        </p:nvSpPr>
        <p:spPr>
          <a:xfrm>
            <a:off x="6492240" y="4480560"/>
            <a:ext cx="4572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Игроки Warhammer 40000, разработчики ростеров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3"/>
          <p:cNvSpPr/>
          <p:nvPr/>
        </p:nvSpPr>
        <p:spPr>
          <a:xfrm>
            <a:off x="502920" y="644652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StatHammer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3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AFB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cap="flat" cmpd="sng" w="12700">
            <a:solidFill>
              <a:srgbClr val="F9FA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4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91B1B"/>
          </a:solidFill>
          <a:ln cap="flat" cmpd="sng" w="12700">
            <a:solidFill>
              <a:srgbClr val="991B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11827"/>
          </a:solidFill>
          <a:ln cap="flat" cmpd="sng" w="12700">
            <a:solidFill>
              <a:srgbClr val="11182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4"/>
          <p:cNvSpPr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Цель и задачи проекта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4"/>
          <p:cNvSpPr/>
          <p:nvPr/>
        </p:nvSpPr>
        <p:spPr>
          <a:xfrm>
            <a:off x="530352" y="841248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Что должна делать система StatHammer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4"/>
          <p:cNvSpPr/>
          <p:nvPr/>
        </p:nvSpPr>
        <p:spPr>
          <a:xfrm>
            <a:off x="685800" y="1298448"/>
            <a:ext cx="4937760" cy="4480560"/>
          </a:xfrm>
          <a:prstGeom prst="roundRect">
            <a:avLst>
              <a:gd fmla="val 1224" name="adj"/>
            </a:avLst>
          </a:prstGeom>
          <a:solidFill>
            <a:srgbClr val="111827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4"/>
          <p:cNvSpPr/>
          <p:nvPr/>
        </p:nvSpPr>
        <p:spPr>
          <a:xfrm>
            <a:off x="1005840" y="1645920"/>
            <a:ext cx="3840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Цель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4"/>
          <p:cNvSpPr/>
          <p:nvPr/>
        </p:nvSpPr>
        <p:spPr>
          <a:xfrm>
            <a:off x="1005840" y="2148840"/>
            <a:ext cx="425196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Создать программную систему для многократного статистического моделирования боевых сценариев с хранением игровых данных и выводом усреднённых результатов.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5" name="Google Shape;105;p4"/>
          <p:cNvCxnSpPr/>
          <p:nvPr/>
        </p:nvCxnSpPr>
        <p:spPr>
          <a:xfrm>
            <a:off x="1005840" y="3886200"/>
            <a:ext cx="4114800" cy="0"/>
          </a:xfrm>
          <a:prstGeom prst="straightConnector1">
            <a:avLst/>
          </a:prstGeom>
          <a:noFill/>
          <a:ln cap="flat" cmpd="sng" w="25400">
            <a:solidFill>
              <a:srgbClr val="991B1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6" name="Google Shape;106;p4"/>
          <p:cNvSpPr/>
          <p:nvPr/>
        </p:nvSpPr>
        <p:spPr>
          <a:xfrm>
            <a:off x="1005840" y="4160520"/>
            <a:ext cx="4206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Ключевое требование: многопоточный режим расчёта.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4"/>
          <p:cNvSpPr/>
          <p:nvPr/>
        </p:nvSpPr>
        <p:spPr>
          <a:xfrm>
            <a:off x="6172200" y="1417320"/>
            <a:ext cx="516636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проектирование базы данных игровых сущностей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реализация API и серверной бизнес-логики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создание симуляционного ядра и агрегатора статистики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реализация web-интерфейса администратора и пользователя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создание WPF-клиента для запуска симуляций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замеры и оптимизация производительности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4"/>
          <p:cNvSpPr/>
          <p:nvPr/>
        </p:nvSpPr>
        <p:spPr>
          <a:xfrm>
            <a:off x="502920" y="644652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StatHammer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4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AFB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cap="flat" cmpd="sng" w="12700">
            <a:solidFill>
              <a:srgbClr val="F9FA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5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91B1B"/>
          </a:solidFill>
          <a:ln cap="flat" cmpd="sng" w="12700">
            <a:solidFill>
              <a:srgbClr val="991B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11827"/>
          </a:solidFill>
          <a:ln cap="flat" cmpd="sng" w="12700">
            <a:solidFill>
              <a:srgbClr val="11182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5"/>
          <p:cNvSpPr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Технологии, сервисы и ПО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5"/>
          <p:cNvSpPr/>
          <p:nvPr/>
        </p:nvSpPr>
        <p:spPr>
          <a:xfrm>
            <a:off x="530352" y="841248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Стек выбран с упором на C#, серверную архитектуру и быстрый MVP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5"/>
          <p:cNvSpPr/>
          <p:nvPr/>
        </p:nvSpPr>
        <p:spPr>
          <a:xfrm>
            <a:off x="621792" y="1371600"/>
            <a:ext cx="2578608" cy="4389120"/>
          </a:xfrm>
          <a:prstGeom prst="roundRect">
            <a:avLst>
              <a:gd fmla="val 2128" name="adj"/>
            </a:avLst>
          </a:prstGeom>
          <a:solidFill>
            <a:srgbClr val="FFFFFF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"/>
          <p:cNvSpPr/>
          <p:nvPr/>
        </p:nvSpPr>
        <p:spPr>
          <a:xfrm>
            <a:off x="877824" y="1627632"/>
            <a:ext cx="2057400" cy="310896"/>
          </a:xfrm>
          <a:prstGeom prst="roundRect">
            <a:avLst>
              <a:gd fmla="val 23529" name="adj"/>
            </a:avLst>
          </a:prstGeom>
          <a:solidFill>
            <a:srgbClr val="DBEAFE"/>
          </a:solidFill>
          <a:ln cap="flat" cmpd="sng" w="12700">
            <a:solidFill>
              <a:srgbClr val="DBEA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5"/>
          <p:cNvSpPr/>
          <p:nvPr/>
        </p:nvSpPr>
        <p:spPr>
          <a:xfrm>
            <a:off x="950976" y="1687068"/>
            <a:ext cx="191109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5"/>
          <p:cNvSpPr/>
          <p:nvPr/>
        </p:nvSpPr>
        <p:spPr>
          <a:xfrm>
            <a:off x="877824" y="2148840"/>
            <a:ext cx="2066544" cy="292608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b="0" i="0" lang="en-US" sz="127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ASP.NET Core Web API</a:t>
            </a:r>
            <a:endParaRPr b="0" i="0" sz="127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b="0" i="0" lang="en-US" sz="127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REST-контроллеры</a:t>
            </a:r>
            <a:endParaRPr b="0" i="0" sz="127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b="0" i="0" lang="en-US" sz="127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Swagger / OpenAPI</a:t>
            </a:r>
            <a:endParaRPr b="0" i="0" sz="127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b="0" i="0" lang="en-US" sz="127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ILogger</a:t>
            </a:r>
            <a:endParaRPr b="0" i="0" sz="127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5"/>
          <p:cNvSpPr/>
          <p:nvPr/>
        </p:nvSpPr>
        <p:spPr>
          <a:xfrm>
            <a:off x="3502152" y="1371600"/>
            <a:ext cx="2578608" cy="4389120"/>
          </a:xfrm>
          <a:prstGeom prst="roundRect">
            <a:avLst>
              <a:gd fmla="val 2128" name="adj"/>
            </a:avLst>
          </a:prstGeom>
          <a:solidFill>
            <a:srgbClr val="FFFFFF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5"/>
          <p:cNvSpPr/>
          <p:nvPr/>
        </p:nvSpPr>
        <p:spPr>
          <a:xfrm>
            <a:off x="3758184" y="1627632"/>
            <a:ext cx="2057400" cy="310896"/>
          </a:xfrm>
          <a:prstGeom prst="roundRect">
            <a:avLst>
              <a:gd fmla="val 23529" name="adj"/>
            </a:avLst>
          </a:prstGeom>
          <a:solidFill>
            <a:srgbClr val="D1FAE5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5"/>
          <p:cNvSpPr/>
          <p:nvPr/>
        </p:nvSpPr>
        <p:spPr>
          <a:xfrm>
            <a:off x="3831336" y="1687068"/>
            <a:ext cx="191109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Данные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5"/>
          <p:cNvSpPr/>
          <p:nvPr/>
        </p:nvSpPr>
        <p:spPr>
          <a:xfrm>
            <a:off x="3758184" y="2148840"/>
            <a:ext cx="2066544" cy="292608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b="0" i="0" lang="en-US" sz="127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Entity Framework Core</a:t>
            </a:r>
            <a:endParaRPr b="0" i="0" sz="127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b="0" i="0" lang="en-US" sz="127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SQLite (на этапе отладки)</a:t>
            </a:r>
            <a:endParaRPr b="0" i="0" sz="127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b="0" i="0" lang="en-US" sz="127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миграции EF Core</a:t>
            </a:r>
            <a:endParaRPr b="0" i="0" sz="127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5"/>
          <p:cNvSpPr/>
          <p:nvPr/>
        </p:nvSpPr>
        <p:spPr>
          <a:xfrm>
            <a:off x="6382512" y="1371600"/>
            <a:ext cx="2578608" cy="4389120"/>
          </a:xfrm>
          <a:prstGeom prst="roundRect">
            <a:avLst>
              <a:gd fmla="val 2128" name="adj"/>
            </a:avLst>
          </a:prstGeom>
          <a:solidFill>
            <a:srgbClr val="FFFFFF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5"/>
          <p:cNvSpPr/>
          <p:nvPr/>
        </p:nvSpPr>
        <p:spPr>
          <a:xfrm>
            <a:off x="6638544" y="1627632"/>
            <a:ext cx="2057400" cy="310896"/>
          </a:xfrm>
          <a:prstGeom prst="roundRect">
            <a:avLst>
              <a:gd fmla="val 23529" name="adj"/>
            </a:avLst>
          </a:prstGeom>
          <a:solidFill>
            <a:srgbClr val="EDE9FE"/>
          </a:solidFill>
          <a:ln cap="flat" cmpd="sng" w="12700">
            <a:solidFill>
              <a:srgbClr val="EDE9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5"/>
          <p:cNvSpPr/>
          <p:nvPr/>
        </p:nvSpPr>
        <p:spPr>
          <a:xfrm>
            <a:off x="6711696" y="1687068"/>
            <a:ext cx="191109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Клиенты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5"/>
          <p:cNvSpPr/>
          <p:nvPr/>
        </p:nvSpPr>
        <p:spPr>
          <a:xfrm>
            <a:off x="6638544" y="2148840"/>
            <a:ext cx="2066544" cy="292608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b="0" i="0" lang="en-US" sz="127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Razor Pages web-клиент</a:t>
            </a:r>
            <a:endParaRPr b="0" i="0" sz="127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b="0" i="0" lang="en-US" sz="127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WPF desktop-клиент</a:t>
            </a:r>
            <a:endParaRPr b="0" i="0" sz="127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b="0" i="0" lang="en-US" sz="127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MVVM в WPF</a:t>
            </a:r>
            <a:endParaRPr b="0" i="0" sz="127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b="0" i="0" lang="en-US" sz="127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JWT для desktop</a:t>
            </a:r>
            <a:endParaRPr b="0" i="0" sz="127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5"/>
          <p:cNvSpPr/>
          <p:nvPr/>
        </p:nvSpPr>
        <p:spPr>
          <a:xfrm>
            <a:off x="9262872" y="1371600"/>
            <a:ext cx="2578608" cy="4389120"/>
          </a:xfrm>
          <a:prstGeom prst="roundRect">
            <a:avLst>
              <a:gd fmla="val 2128" name="adj"/>
            </a:avLst>
          </a:prstGeom>
          <a:solidFill>
            <a:srgbClr val="FFFFFF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5"/>
          <p:cNvSpPr/>
          <p:nvPr/>
        </p:nvSpPr>
        <p:spPr>
          <a:xfrm>
            <a:off x="9518904" y="1627632"/>
            <a:ext cx="2057400" cy="310896"/>
          </a:xfrm>
          <a:prstGeom prst="roundRect">
            <a:avLst>
              <a:gd fmla="val 23529" name="adj"/>
            </a:avLst>
          </a:prstGeom>
          <a:solidFill>
            <a:srgbClr val="FEF3C7"/>
          </a:solidFill>
          <a:ln cap="flat" cmpd="sng" w="12700">
            <a:solidFill>
              <a:srgbClr val="FEF3C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5"/>
          <p:cNvSpPr/>
          <p:nvPr/>
        </p:nvSpPr>
        <p:spPr>
          <a:xfrm>
            <a:off x="9592056" y="1687068"/>
            <a:ext cx="191109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Безопасность и ПО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9518904" y="2148840"/>
            <a:ext cx="2066544" cy="292608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b="0" i="0" lang="en-US" sz="127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ASP.NET Core Identity</a:t>
            </a:r>
            <a:endParaRPr b="0" i="0" sz="127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b="0" i="0" lang="en-US" sz="127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роли Admin/User</a:t>
            </a:r>
            <a:endParaRPr b="0" i="0" sz="127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b="0" i="0" lang="en-US" sz="127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Visual Studio 2022</a:t>
            </a:r>
            <a:endParaRPr b="0" i="0" sz="127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b="0" i="0" lang="en-US" sz="127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DB Browser for SQLite</a:t>
            </a:r>
            <a:endParaRPr b="0" i="0" sz="127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5"/>
          <p:cNvSpPr/>
          <p:nvPr/>
        </p:nvSpPr>
        <p:spPr>
          <a:xfrm>
            <a:off x="502920" y="644652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StatHammer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5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AFB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cap="flat" cmpd="sng" w="12700">
            <a:solidFill>
              <a:srgbClr val="F9FA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6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91B1B"/>
          </a:solidFill>
          <a:ln cap="flat" cmpd="sng" w="12700">
            <a:solidFill>
              <a:srgbClr val="991B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11827"/>
          </a:solidFill>
          <a:ln cap="flat" cmpd="sng" w="12700">
            <a:solidFill>
              <a:srgbClr val="11182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6"/>
          <p:cNvSpPr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Общая архитектура системы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6"/>
          <p:cNvSpPr/>
          <p:nvPr/>
        </p:nvSpPr>
        <p:spPr>
          <a:xfrm>
            <a:off x="530352" y="841248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Клиенты обращаются к серверу; сервер управляет БД и запускает симуляции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8" name="Google Shape;148;p6"/>
          <p:cNvCxnSpPr/>
          <p:nvPr/>
        </p:nvCxnSpPr>
        <p:spPr>
          <a:xfrm>
            <a:off x="2834640" y="1874520"/>
            <a:ext cx="1737360" cy="594360"/>
          </a:xfrm>
          <a:prstGeom prst="straightConnector1">
            <a:avLst/>
          </a:prstGeom>
          <a:noFill/>
          <a:ln cap="flat" cmpd="sng" w="15225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49" name="Google Shape;149;p6"/>
          <p:cNvCxnSpPr/>
          <p:nvPr/>
        </p:nvCxnSpPr>
        <p:spPr>
          <a:xfrm flipH="1" rot="10800000">
            <a:off x="2834640" y="2834640"/>
            <a:ext cx="1737360" cy="137160"/>
          </a:xfrm>
          <a:prstGeom prst="straightConnector1">
            <a:avLst/>
          </a:prstGeom>
          <a:noFill/>
          <a:ln cap="flat" cmpd="sng" w="15225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50" name="Google Shape;150;p6"/>
          <p:cNvCxnSpPr/>
          <p:nvPr/>
        </p:nvCxnSpPr>
        <p:spPr>
          <a:xfrm flipH="1" rot="10800000">
            <a:off x="2834640" y="3200400"/>
            <a:ext cx="1737360" cy="868680"/>
          </a:xfrm>
          <a:prstGeom prst="straightConnector1">
            <a:avLst/>
          </a:prstGeom>
          <a:noFill/>
          <a:ln cap="flat" cmpd="sng" w="15225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51" name="Google Shape;151;p6"/>
          <p:cNvCxnSpPr/>
          <p:nvPr/>
        </p:nvCxnSpPr>
        <p:spPr>
          <a:xfrm flipH="1" rot="10800000">
            <a:off x="6629400" y="2148840"/>
            <a:ext cx="1280160" cy="685800"/>
          </a:xfrm>
          <a:prstGeom prst="straightConnector1">
            <a:avLst/>
          </a:prstGeom>
          <a:noFill/>
          <a:ln cap="flat" cmpd="sng" w="15225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52" name="Google Shape;152;p6"/>
          <p:cNvCxnSpPr/>
          <p:nvPr/>
        </p:nvCxnSpPr>
        <p:spPr>
          <a:xfrm>
            <a:off x="6629400" y="2834640"/>
            <a:ext cx="1280160" cy="411480"/>
          </a:xfrm>
          <a:prstGeom prst="straightConnector1">
            <a:avLst/>
          </a:prstGeom>
          <a:noFill/>
          <a:ln cap="flat" cmpd="sng" w="15225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53" name="Google Shape;153;p6"/>
          <p:cNvCxnSpPr/>
          <p:nvPr/>
        </p:nvCxnSpPr>
        <p:spPr>
          <a:xfrm>
            <a:off x="6629400" y="2834640"/>
            <a:ext cx="1280160" cy="1508760"/>
          </a:xfrm>
          <a:prstGeom prst="straightConnector1">
            <a:avLst/>
          </a:prstGeom>
          <a:noFill/>
          <a:ln cap="flat" cmpd="sng" w="15225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54" name="Google Shape;154;p6"/>
          <p:cNvCxnSpPr/>
          <p:nvPr/>
        </p:nvCxnSpPr>
        <p:spPr>
          <a:xfrm>
            <a:off x="10012680" y="3246120"/>
            <a:ext cx="731520" cy="0"/>
          </a:xfrm>
          <a:prstGeom prst="straightConnector1">
            <a:avLst/>
          </a:prstGeom>
          <a:noFill/>
          <a:ln cap="flat" cmpd="sng" w="15225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55" name="Google Shape;155;p6"/>
          <p:cNvSpPr/>
          <p:nvPr/>
        </p:nvSpPr>
        <p:spPr>
          <a:xfrm>
            <a:off x="777240" y="1417320"/>
            <a:ext cx="2057400" cy="731520"/>
          </a:xfrm>
          <a:prstGeom prst="roundRect">
            <a:avLst>
              <a:gd fmla="val 7500" name="adj"/>
            </a:avLst>
          </a:prstGeom>
          <a:solidFill>
            <a:srgbClr val="DBEAFE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6"/>
          <p:cNvSpPr/>
          <p:nvPr/>
        </p:nvSpPr>
        <p:spPr>
          <a:xfrm>
            <a:off x="832104" y="1472184"/>
            <a:ext cx="194767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Web-клиент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Razor Pages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6"/>
          <p:cNvSpPr/>
          <p:nvPr/>
        </p:nvSpPr>
        <p:spPr>
          <a:xfrm>
            <a:off x="777240" y="2514600"/>
            <a:ext cx="2057400" cy="731520"/>
          </a:xfrm>
          <a:prstGeom prst="roundRect">
            <a:avLst>
              <a:gd fmla="val 7500" name="adj"/>
            </a:avLst>
          </a:prstGeom>
          <a:solidFill>
            <a:srgbClr val="D1FAE5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6"/>
          <p:cNvSpPr/>
          <p:nvPr/>
        </p:nvSpPr>
        <p:spPr>
          <a:xfrm>
            <a:off x="832104" y="2569464"/>
            <a:ext cx="194767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WPF-клиент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JWT + API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6"/>
          <p:cNvSpPr/>
          <p:nvPr/>
        </p:nvSpPr>
        <p:spPr>
          <a:xfrm>
            <a:off x="777240" y="3611880"/>
            <a:ext cx="2057400" cy="731520"/>
          </a:xfrm>
          <a:prstGeom prst="roundRect">
            <a:avLst>
              <a:gd fmla="val 7500" name="adj"/>
            </a:avLst>
          </a:prstGeom>
          <a:solidFill>
            <a:srgbClr val="FEF3C7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6"/>
          <p:cNvSpPr/>
          <p:nvPr/>
        </p:nvSpPr>
        <p:spPr>
          <a:xfrm>
            <a:off x="832104" y="3666744"/>
            <a:ext cx="194767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Swagger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тестирование API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6"/>
          <p:cNvSpPr/>
          <p:nvPr/>
        </p:nvSpPr>
        <p:spPr>
          <a:xfrm>
            <a:off x="4572000" y="2240280"/>
            <a:ext cx="2057400" cy="1097280"/>
          </a:xfrm>
          <a:prstGeom prst="roundRect">
            <a:avLst>
              <a:gd fmla="val 5000" name="adj"/>
            </a:avLst>
          </a:prstGeom>
          <a:solidFill>
            <a:srgbClr val="111827"/>
          </a:solidFill>
          <a:ln cap="flat" cmpd="sng" w="12700">
            <a:solidFill>
              <a:srgbClr val="11182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6"/>
          <p:cNvSpPr/>
          <p:nvPr/>
        </p:nvSpPr>
        <p:spPr>
          <a:xfrm>
            <a:off x="4626864" y="2295144"/>
            <a:ext cx="1947672" cy="9875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ASP.NET Core Server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Controllers + PageServices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6"/>
          <p:cNvSpPr/>
          <p:nvPr/>
        </p:nvSpPr>
        <p:spPr>
          <a:xfrm>
            <a:off x="7909560" y="1783080"/>
            <a:ext cx="2103120" cy="685800"/>
          </a:xfrm>
          <a:prstGeom prst="roundRect">
            <a:avLst>
              <a:gd fmla="val 8000" name="adj"/>
            </a:avLst>
          </a:prstGeom>
          <a:solidFill>
            <a:srgbClr val="EDE9FE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6"/>
          <p:cNvSpPr/>
          <p:nvPr/>
        </p:nvSpPr>
        <p:spPr>
          <a:xfrm>
            <a:off x="7964424" y="1837944"/>
            <a:ext cx="1993392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Identity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роли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6"/>
          <p:cNvSpPr/>
          <p:nvPr/>
        </p:nvSpPr>
        <p:spPr>
          <a:xfrm>
            <a:off x="7909560" y="2880360"/>
            <a:ext cx="2103120" cy="685800"/>
          </a:xfrm>
          <a:prstGeom prst="roundRect">
            <a:avLst>
              <a:gd fmla="val 8000" name="adj"/>
            </a:avLst>
          </a:prstGeom>
          <a:solidFill>
            <a:srgbClr val="FEE2E2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6"/>
          <p:cNvSpPr/>
          <p:nvPr/>
        </p:nvSpPr>
        <p:spPr>
          <a:xfrm>
            <a:off x="7964424" y="2935224"/>
            <a:ext cx="1993392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Simulation Engine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многопоточный расчёт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6"/>
          <p:cNvSpPr/>
          <p:nvPr/>
        </p:nvSpPr>
        <p:spPr>
          <a:xfrm>
            <a:off x="7909560" y="3977640"/>
            <a:ext cx="2103120" cy="685800"/>
          </a:xfrm>
          <a:prstGeom prst="roundRect">
            <a:avLst>
              <a:gd fmla="val 8000" name="adj"/>
            </a:avLst>
          </a:prstGeom>
          <a:solidFill>
            <a:srgbClr val="DBEAFE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6"/>
          <p:cNvSpPr/>
          <p:nvPr/>
        </p:nvSpPr>
        <p:spPr>
          <a:xfrm>
            <a:off x="7964424" y="4032504"/>
            <a:ext cx="1993392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EF Core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6"/>
          <p:cNvSpPr/>
          <p:nvPr/>
        </p:nvSpPr>
        <p:spPr>
          <a:xfrm>
            <a:off x="10744200" y="2834640"/>
            <a:ext cx="1143000" cy="822960"/>
          </a:xfrm>
          <a:prstGeom prst="roundRect">
            <a:avLst>
              <a:gd fmla="val 6667" name="adj"/>
            </a:avLst>
          </a:prstGeom>
          <a:solidFill>
            <a:srgbClr val="E5E7EB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6"/>
          <p:cNvSpPr/>
          <p:nvPr/>
        </p:nvSpPr>
        <p:spPr>
          <a:xfrm>
            <a:off x="10799064" y="2889504"/>
            <a:ext cx="1033272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SQLite DB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игровые данные и результаты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6"/>
          <p:cNvSpPr/>
          <p:nvPr/>
        </p:nvSpPr>
        <p:spPr>
          <a:xfrm>
            <a:off x="502920" y="644652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StatHammer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6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AFB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7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9FAFB"/>
          </a:solidFill>
          <a:ln cap="flat" cmpd="sng" w="12700">
            <a:solidFill>
              <a:srgbClr val="F9FA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7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91B1B"/>
          </a:solidFill>
          <a:ln cap="flat" cmpd="sng" w="12700">
            <a:solidFill>
              <a:srgbClr val="991B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11827"/>
          </a:solidFill>
          <a:ln cap="flat" cmpd="sng" w="12700">
            <a:solidFill>
              <a:srgbClr val="11182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7"/>
          <p:cNvSpPr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Диаграмма прецедентов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7"/>
          <p:cNvSpPr/>
          <p:nvPr/>
        </p:nvSpPr>
        <p:spPr>
          <a:xfrm>
            <a:off x="530352" y="841248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Основные сценарии использования системы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7"/>
          <p:cNvSpPr/>
          <p:nvPr/>
        </p:nvSpPr>
        <p:spPr>
          <a:xfrm>
            <a:off x="4143650" y="4257740"/>
            <a:ext cx="1508700" cy="594300"/>
          </a:xfrm>
          <a:prstGeom prst="roundRect">
            <a:avLst>
              <a:gd fmla="val 9231" name="adj"/>
            </a:avLst>
          </a:prstGeom>
          <a:solidFill>
            <a:srgbClr val="111827"/>
          </a:solidFill>
          <a:ln cap="flat" cmpd="sng" w="12700">
            <a:solidFill>
              <a:srgbClr val="11182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7"/>
          <p:cNvSpPr/>
          <p:nvPr/>
        </p:nvSpPr>
        <p:spPr>
          <a:xfrm>
            <a:off x="4198514" y="4312604"/>
            <a:ext cx="1398900" cy="48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Администратор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7"/>
          <p:cNvSpPr/>
          <p:nvPr/>
        </p:nvSpPr>
        <p:spPr>
          <a:xfrm>
            <a:off x="8017375" y="320118"/>
            <a:ext cx="1508700" cy="594300"/>
          </a:xfrm>
          <a:prstGeom prst="roundRect">
            <a:avLst>
              <a:gd fmla="val 9231" name="adj"/>
            </a:avLst>
          </a:prstGeom>
          <a:solidFill>
            <a:srgbClr val="111827"/>
          </a:solidFill>
          <a:ln cap="flat" cmpd="sng" w="12700">
            <a:solidFill>
              <a:srgbClr val="11182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7"/>
          <p:cNvSpPr/>
          <p:nvPr/>
        </p:nvSpPr>
        <p:spPr>
          <a:xfrm>
            <a:off x="8072264" y="375019"/>
            <a:ext cx="1398900" cy="48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Пользователь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7"/>
          <p:cNvSpPr/>
          <p:nvPr/>
        </p:nvSpPr>
        <p:spPr>
          <a:xfrm>
            <a:off x="3657600" y="1417320"/>
            <a:ext cx="2423100" cy="502800"/>
          </a:xfrm>
          <a:prstGeom prst="roundRect">
            <a:avLst>
              <a:gd fmla="val 10909" name="adj"/>
            </a:avLst>
          </a:prstGeom>
          <a:solidFill>
            <a:srgbClr val="DBEAFE"/>
          </a:solidFill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7"/>
          <p:cNvSpPr/>
          <p:nvPr/>
        </p:nvSpPr>
        <p:spPr>
          <a:xfrm>
            <a:off x="3712464" y="1472184"/>
            <a:ext cx="23133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CRUD оружия, правил, варгира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7"/>
          <p:cNvSpPr/>
          <p:nvPr/>
        </p:nvSpPr>
        <p:spPr>
          <a:xfrm>
            <a:off x="3657600" y="2240280"/>
            <a:ext cx="2423100" cy="502800"/>
          </a:xfrm>
          <a:prstGeom prst="roundRect">
            <a:avLst>
              <a:gd fmla="val 10909" name="adj"/>
            </a:avLst>
          </a:prstGeom>
          <a:solidFill>
            <a:srgbClr val="DBEAFE"/>
          </a:solidFill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7"/>
          <p:cNvSpPr/>
          <p:nvPr/>
        </p:nvSpPr>
        <p:spPr>
          <a:xfrm>
            <a:off x="3712464" y="2295144"/>
            <a:ext cx="23133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CRUD моделей и юнитов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7"/>
          <p:cNvSpPr/>
          <p:nvPr/>
        </p:nvSpPr>
        <p:spPr>
          <a:xfrm>
            <a:off x="7589520" y="1417320"/>
            <a:ext cx="2423160" cy="502920"/>
          </a:xfrm>
          <a:prstGeom prst="roundRect">
            <a:avLst>
              <a:gd fmla="val 10909" name="adj"/>
            </a:avLst>
          </a:prstGeom>
          <a:solidFill>
            <a:srgbClr val="D1FAE5"/>
          </a:solidFill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7"/>
          <p:cNvSpPr/>
          <p:nvPr/>
        </p:nvSpPr>
        <p:spPr>
          <a:xfrm>
            <a:off x="7644384" y="1472184"/>
            <a:ext cx="231343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Вход / регистрация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7"/>
          <p:cNvSpPr/>
          <p:nvPr/>
        </p:nvSpPr>
        <p:spPr>
          <a:xfrm>
            <a:off x="7589520" y="2423160"/>
            <a:ext cx="2423160" cy="502920"/>
          </a:xfrm>
          <a:prstGeom prst="roundRect">
            <a:avLst>
              <a:gd fmla="val 10909" name="adj"/>
            </a:avLst>
          </a:prstGeom>
          <a:solidFill>
            <a:srgbClr val="D1FAE5"/>
          </a:solidFill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7"/>
          <p:cNvSpPr/>
          <p:nvPr/>
        </p:nvSpPr>
        <p:spPr>
          <a:xfrm>
            <a:off x="7644384" y="2478024"/>
            <a:ext cx="231343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Запуск симуляции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"/>
          <p:cNvSpPr/>
          <p:nvPr/>
        </p:nvSpPr>
        <p:spPr>
          <a:xfrm>
            <a:off x="7589520" y="3429000"/>
            <a:ext cx="2423160" cy="502920"/>
          </a:xfrm>
          <a:prstGeom prst="roundRect">
            <a:avLst>
              <a:gd fmla="val 10909" name="adj"/>
            </a:avLst>
          </a:prstGeom>
          <a:solidFill>
            <a:srgbClr val="D1FAE5"/>
          </a:solidFill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7"/>
          <p:cNvSpPr/>
          <p:nvPr/>
        </p:nvSpPr>
        <p:spPr>
          <a:xfrm>
            <a:off x="7644384" y="3483864"/>
            <a:ext cx="231343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Выбор потоков и сохранения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7"/>
          <p:cNvSpPr/>
          <p:nvPr/>
        </p:nvSpPr>
        <p:spPr>
          <a:xfrm>
            <a:off x="7589520" y="4434840"/>
            <a:ext cx="2423160" cy="502920"/>
          </a:xfrm>
          <a:prstGeom prst="roundRect">
            <a:avLst>
              <a:gd fmla="val 10909" name="adj"/>
            </a:avLst>
          </a:prstGeom>
          <a:solidFill>
            <a:srgbClr val="D1FAE5"/>
          </a:solidFill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7"/>
          <p:cNvSpPr/>
          <p:nvPr/>
        </p:nvSpPr>
        <p:spPr>
          <a:xfrm>
            <a:off x="7644384" y="4489704"/>
            <a:ext cx="231343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Просмотр статистики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3429000" y="5212080"/>
            <a:ext cx="5303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Web: админка + </a:t>
            </a:r>
            <a:r>
              <a:rPr lang="en-US" sz="1500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симуляции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WPF: симуляци</a:t>
            </a:r>
            <a:r>
              <a:rPr lang="en-US" sz="1500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и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502920" y="644652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StatHammer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7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7"/>
          <p:cNvSpPr/>
          <p:nvPr/>
        </p:nvSpPr>
        <p:spPr>
          <a:xfrm>
            <a:off x="3657600" y="1417320"/>
            <a:ext cx="2423100" cy="502800"/>
          </a:xfrm>
          <a:prstGeom prst="roundRect">
            <a:avLst>
              <a:gd fmla="val 10909" name="adj"/>
            </a:avLst>
          </a:prstGeom>
          <a:solidFill>
            <a:srgbClr val="DBEAFE"/>
          </a:solidFill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7"/>
          <p:cNvSpPr/>
          <p:nvPr/>
        </p:nvSpPr>
        <p:spPr>
          <a:xfrm>
            <a:off x="3712464" y="1472184"/>
            <a:ext cx="23133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CRUD оружия, правил, варгира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7"/>
          <p:cNvSpPr/>
          <p:nvPr/>
        </p:nvSpPr>
        <p:spPr>
          <a:xfrm>
            <a:off x="3657600" y="2240280"/>
            <a:ext cx="2423100" cy="502800"/>
          </a:xfrm>
          <a:prstGeom prst="roundRect">
            <a:avLst>
              <a:gd fmla="val 10909" name="adj"/>
            </a:avLst>
          </a:prstGeom>
          <a:solidFill>
            <a:srgbClr val="DBEAFE"/>
          </a:solidFill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7"/>
          <p:cNvSpPr/>
          <p:nvPr/>
        </p:nvSpPr>
        <p:spPr>
          <a:xfrm>
            <a:off x="3712464" y="2295144"/>
            <a:ext cx="23133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CRUD моделей и юнитов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7"/>
          <p:cNvSpPr/>
          <p:nvPr/>
        </p:nvSpPr>
        <p:spPr>
          <a:xfrm>
            <a:off x="3657575" y="3003803"/>
            <a:ext cx="2423100" cy="502800"/>
          </a:xfrm>
          <a:prstGeom prst="roundRect">
            <a:avLst>
              <a:gd fmla="val 10909" name="adj"/>
            </a:avLst>
          </a:prstGeom>
          <a:solidFill>
            <a:srgbClr val="DBEAFE"/>
          </a:solidFill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7"/>
          <p:cNvSpPr/>
          <p:nvPr/>
        </p:nvSpPr>
        <p:spPr>
          <a:xfrm>
            <a:off x="3712464" y="3058554"/>
            <a:ext cx="23133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Просмотр результатов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7"/>
          <p:cNvSpPr/>
          <p:nvPr/>
        </p:nvSpPr>
        <p:spPr>
          <a:xfrm>
            <a:off x="3519500" y="1213400"/>
            <a:ext cx="2757000" cy="25944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DBEA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7"/>
          <p:cNvSpPr/>
          <p:nvPr/>
        </p:nvSpPr>
        <p:spPr>
          <a:xfrm>
            <a:off x="7393225" y="1173313"/>
            <a:ext cx="2757000" cy="40176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10" name="Google Shape;210;p7"/>
          <p:cNvCxnSpPr>
            <a:stCxn id="184" idx="0"/>
            <a:endCxn id="208" idx="2"/>
          </p:cNvCxnSpPr>
          <p:nvPr/>
        </p:nvCxnSpPr>
        <p:spPr>
          <a:xfrm rot="10800000">
            <a:off x="4897964" y="3807704"/>
            <a:ext cx="0" cy="504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11" name="Google Shape;211;p7"/>
          <p:cNvCxnSpPr>
            <a:stCxn id="184" idx="3"/>
          </p:cNvCxnSpPr>
          <p:nvPr/>
        </p:nvCxnSpPr>
        <p:spPr>
          <a:xfrm flipH="1" rot="10800000">
            <a:off x="5597414" y="4545254"/>
            <a:ext cx="1797000" cy="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12" name="Google Shape;212;p7"/>
          <p:cNvCxnSpPr>
            <a:stCxn id="186" idx="2"/>
            <a:endCxn id="209" idx="0"/>
          </p:cNvCxnSpPr>
          <p:nvPr/>
        </p:nvCxnSpPr>
        <p:spPr>
          <a:xfrm>
            <a:off x="8771714" y="859519"/>
            <a:ext cx="0" cy="313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AFB"/>
        </a:solidFill>
      </p:bgPr>
    </p:bg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cap="flat" cmpd="sng" w="12700">
            <a:solidFill>
              <a:srgbClr val="F9FA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8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91B1B"/>
          </a:solidFill>
          <a:ln cap="flat" cmpd="sng" w="12700">
            <a:solidFill>
              <a:srgbClr val="991B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8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11827"/>
          </a:solidFill>
          <a:ln cap="flat" cmpd="sng" w="12700">
            <a:solidFill>
              <a:srgbClr val="11182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8"/>
          <p:cNvSpPr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Диаграмма базы данных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8"/>
          <p:cNvSpPr/>
          <p:nvPr/>
        </p:nvSpPr>
        <p:spPr>
          <a:xfrm>
            <a:off x="530352" y="841248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Нормализованная структура игровых данных и результатов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3" name="Google Shape;223;p8"/>
          <p:cNvCxnSpPr/>
          <p:nvPr/>
        </p:nvCxnSpPr>
        <p:spPr>
          <a:xfrm>
            <a:off x="2743200" y="1828800"/>
            <a:ext cx="1005840" cy="0"/>
          </a:xfrm>
          <a:prstGeom prst="straightConnector1">
            <a:avLst/>
          </a:prstGeom>
          <a:noFill/>
          <a:ln cap="flat" cmpd="sng" w="12700">
            <a:solidFill>
              <a:srgbClr val="6B728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4" name="Google Shape;224;p8"/>
          <p:cNvCxnSpPr/>
          <p:nvPr/>
        </p:nvCxnSpPr>
        <p:spPr>
          <a:xfrm>
            <a:off x="4937760" y="1828800"/>
            <a:ext cx="777240" cy="0"/>
          </a:xfrm>
          <a:prstGeom prst="straightConnector1">
            <a:avLst/>
          </a:prstGeom>
          <a:noFill/>
          <a:ln cap="flat" cmpd="sng" w="12700">
            <a:solidFill>
              <a:srgbClr val="6B728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5" name="Google Shape;225;p8"/>
          <p:cNvCxnSpPr/>
          <p:nvPr/>
        </p:nvCxnSpPr>
        <p:spPr>
          <a:xfrm>
            <a:off x="6949440" y="1828800"/>
            <a:ext cx="777240" cy="0"/>
          </a:xfrm>
          <a:prstGeom prst="straightConnector1">
            <a:avLst/>
          </a:prstGeom>
          <a:noFill/>
          <a:ln cap="flat" cmpd="sng" w="12700">
            <a:solidFill>
              <a:srgbClr val="6B728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6" name="Google Shape;226;p8"/>
          <p:cNvCxnSpPr/>
          <p:nvPr/>
        </p:nvCxnSpPr>
        <p:spPr>
          <a:xfrm>
            <a:off x="8961120" y="1828800"/>
            <a:ext cx="777240" cy="0"/>
          </a:xfrm>
          <a:prstGeom prst="straightConnector1">
            <a:avLst/>
          </a:prstGeom>
          <a:noFill/>
          <a:ln cap="flat" cmpd="sng" w="12700">
            <a:solidFill>
              <a:srgbClr val="6B728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7" name="Google Shape;227;p8"/>
          <p:cNvCxnSpPr/>
          <p:nvPr/>
        </p:nvCxnSpPr>
        <p:spPr>
          <a:xfrm>
            <a:off x="2743200" y="4023360"/>
            <a:ext cx="1005840" cy="0"/>
          </a:xfrm>
          <a:prstGeom prst="straightConnector1">
            <a:avLst/>
          </a:prstGeom>
          <a:noFill/>
          <a:ln cap="flat" cmpd="sng" w="12700">
            <a:solidFill>
              <a:srgbClr val="6B728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8" name="Google Shape;228;p8"/>
          <p:cNvCxnSpPr/>
          <p:nvPr/>
        </p:nvCxnSpPr>
        <p:spPr>
          <a:xfrm>
            <a:off x="4937760" y="4023360"/>
            <a:ext cx="777240" cy="0"/>
          </a:xfrm>
          <a:prstGeom prst="straightConnector1">
            <a:avLst/>
          </a:prstGeom>
          <a:noFill/>
          <a:ln cap="flat" cmpd="sng" w="12700">
            <a:solidFill>
              <a:srgbClr val="6B728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9" name="Google Shape;229;p8"/>
          <p:cNvCxnSpPr/>
          <p:nvPr/>
        </p:nvCxnSpPr>
        <p:spPr>
          <a:xfrm>
            <a:off x="6949440" y="4023360"/>
            <a:ext cx="777240" cy="0"/>
          </a:xfrm>
          <a:prstGeom prst="straightConnector1">
            <a:avLst/>
          </a:prstGeom>
          <a:noFill/>
          <a:ln cap="flat" cmpd="sng" w="12700">
            <a:solidFill>
              <a:srgbClr val="6B728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30" name="Google Shape;230;p8"/>
          <p:cNvCxnSpPr/>
          <p:nvPr/>
        </p:nvCxnSpPr>
        <p:spPr>
          <a:xfrm>
            <a:off x="8961120" y="4023360"/>
            <a:ext cx="777240" cy="0"/>
          </a:xfrm>
          <a:prstGeom prst="straightConnector1">
            <a:avLst/>
          </a:prstGeom>
          <a:noFill/>
          <a:ln cap="flat" cmpd="sng" w="12700">
            <a:solidFill>
              <a:srgbClr val="6B728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1" name="Google Shape;231;p8"/>
          <p:cNvSpPr/>
          <p:nvPr/>
        </p:nvSpPr>
        <p:spPr>
          <a:xfrm>
            <a:off x="640080" y="1508760"/>
            <a:ext cx="2103120" cy="640080"/>
          </a:xfrm>
          <a:prstGeom prst="roundRect">
            <a:avLst>
              <a:gd fmla="val 8571" name="adj"/>
            </a:avLst>
          </a:prstGeom>
          <a:solidFill>
            <a:srgbClr val="111827"/>
          </a:solidFill>
          <a:ln cap="flat" cmpd="sng" w="12700">
            <a:solidFill>
              <a:srgbClr val="11182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8"/>
          <p:cNvSpPr/>
          <p:nvPr/>
        </p:nvSpPr>
        <p:spPr>
          <a:xfrm>
            <a:off x="694944" y="1563624"/>
            <a:ext cx="1993392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Units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8"/>
          <p:cNvSpPr/>
          <p:nvPr/>
        </p:nvSpPr>
        <p:spPr>
          <a:xfrm>
            <a:off x="3749040" y="1508760"/>
            <a:ext cx="1188720" cy="640080"/>
          </a:xfrm>
          <a:prstGeom prst="roundRect">
            <a:avLst>
              <a:gd fmla="val 8571" name="adj"/>
            </a:avLst>
          </a:prstGeom>
          <a:solidFill>
            <a:srgbClr val="E5E7EB"/>
          </a:solidFill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8"/>
          <p:cNvSpPr/>
          <p:nvPr/>
        </p:nvSpPr>
        <p:spPr>
          <a:xfrm>
            <a:off x="3803904" y="1563624"/>
            <a:ext cx="1078992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UnitModels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UnitKeywords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8"/>
          <p:cNvSpPr/>
          <p:nvPr/>
        </p:nvSpPr>
        <p:spPr>
          <a:xfrm>
            <a:off x="5715000" y="1508760"/>
            <a:ext cx="1234440" cy="640080"/>
          </a:xfrm>
          <a:prstGeom prst="roundRect">
            <a:avLst>
              <a:gd fmla="val 8571" name="adj"/>
            </a:avLst>
          </a:prstGeom>
          <a:solidFill>
            <a:srgbClr val="DBEAFE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8"/>
          <p:cNvSpPr/>
          <p:nvPr/>
        </p:nvSpPr>
        <p:spPr>
          <a:xfrm>
            <a:off x="5769864" y="1563624"/>
            <a:ext cx="1124712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Models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8"/>
          <p:cNvSpPr/>
          <p:nvPr/>
        </p:nvSpPr>
        <p:spPr>
          <a:xfrm>
            <a:off x="7726680" y="1508760"/>
            <a:ext cx="1234440" cy="640080"/>
          </a:xfrm>
          <a:prstGeom prst="roundRect">
            <a:avLst>
              <a:gd fmla="val 8571" name="adj"/>
            </a:avLst>
          </a:prstGeom>
          <a:solidFill>
            <a:srgbClr val="E5E7EB"/>
          </a:solidFill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8"/>
          <p:cNvSpPr/>
          <p:nvPr/>
        </p:nvSpPr>
        <p:spPr>
          <a:xfrm>
            <a:off x="7781544" y="1563624"/>
            <a:ext cx="1124712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ModelWeapons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ModelWargears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8"/>
          <p:cNvSpPr/>
          <p:nvPr/>
        </p:nvSpPr>
        <p:spPr>
          <a:xfrm>
            <a:off x="9738360" y="1508760"/>
            <a:ext cx="1600200" cy="640080"/>
          </a:xfrm>
          <a:prstGeom prst="roundRect">
            <a:avLst>
              <a:gd fmla="val 8571" name="adj"/>
            </a:avLst>
          </a:prstGeom>
          <a:solidFill>
            <a:srgbClr val="D1FAE5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8"/>
          <p:cNvSpPr/>
          <p:nvPr/>
        </p:nvSpPr>
        <p:spPr>
          <a:xfrm>
            <a:off x="9793224" y="1563624"/>
            <a:ext cx="1490472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Weapons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Wargear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8"/>
          <p:cNvSpPr/>
          <p:nvPr/>
        </p:nvSpPr>
        <p:spPr>
          <a:xfrm>
            <a:off x="9738360" y="2514600"/>
            <a:ext cx="1600200" cy="640080"/>
          </a:xfrm>
          <a:prstGeom prst="roundRect">
            <a:avLst>
              <a:gd fmla="val 8571" name="adj"/>
            </a:avLst>
          </a:prstGeom>
          <a:solidFill>
            <a:srgbClr val="D1FAE5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8"/>
          <p:cNvSpPr/>
          <p:nvPr/>
        </p:nvSpPr>
        <p:spPr>
          <a:xfrm>
            <a:off x="9793224" y="2569464"/>
            <a:ext cx="1490472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WeaponProfiles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3" name="Google Shape;243;p8"/>
          <p:cNvCxnSpPr/>
          <p:nvPr/>
        </p:nvCxnSpPr>
        <p:spPr>
          <a:xfrm>
            <a:off x="10515600" y="2148840"/>
            <a:ext cx="0" cy="365760"/>
          </a:xfrm>
          <a:prstGeom prst="straightConnector1">
            <a:avLst/>
          </a:prstGeom>
          <a:noFill/>
          <a:ln cap="flat" cmpd="sng" w="12700">
            <a:solidFill>
              <a:srgbClr val="6B728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4" name="Google Shape;244;p8"/>
          <p:cNvSpPr/>
          <p:nvPr/>
        </p:nvSpPr>
        <p:spPr>
          <a:xfrm>
            <a:off x="5715000" y="2514600"/>
            <a:ext cx="1234440" cy="640080"/>
          </a:xfrm>
          <a:prstGeom prst="roundRect">
            <a:avLst>
              <a:gd fmla="val 8571" name="adj"/>
            </a:avLst>
          </a:prstGeom>
          <a:solidFill>
            <a:srgbClr val="FEF3C7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8"/>
          <p:cNvSpPr/>
          <p:nvPr/>
        </p:nvSpPr>
        <p:spPr>
          <a:xfrm>
            <a:off x="5769864" y="2569464"/>
            <a:ext cx="1124712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Abilities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Keywords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6" name="Google Shape;246;p8"/>
          <p:cNvCxnSpPr/>
          <p:nvPr/>
        </p:nvCxnSpPr>
        <p:spPr>
          <a:xfrm>
            <a:off x="6949440" y="2834640"/>
            <a:ext cx="2788920" cy="0"/>
          </a:xfrm>
          <a:prstGeom prst="straightConnector1">
            <a:avLst/>
          </a:prstGeom>
          <a:noFill/>
          <a:ln cap="flat" cmpd="sng" w="12700">
            <a:solidFill>
              <a:srgbClr val="6B728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7" name="Google Shape;247;p8"/>
          <p:cNvSpPr/>
          <p:nvPr/>
        </p:nvSpPr>
        <p:spPr>
          <a:xfrm>
            <a:off x="640080" y="3703320"/>
            <a:ext cx="2103120" cy="640080"/>
          </a:xfrm>
          <a:prstGeom prst="roundRect">
            <a:avLst>
              <a:gd fmla="val 8571" name="adj"/>
            </a:avLst>
          </a:prstGeom>
          <a:solidFill>
            <a:srgbClr val="FEE2E2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8"/>
          <p:cNvSpPr/>
          <p:nvPr/>
        </p:nvSpPr>
        <p:spPr>
          <a:xfrm>
            <a:off x="694944" y="3758184"/>
            <a:ext cx="1993392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SimulationResults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8"/>
          <p:cNvSpPr/>
          <p:nvPr/>
        </p:nvSpPr>
        <p:spPr>
          <a:xfrm>
            <a:off x="3749040" y="3703320"/>
            <a:ext cx="1188720" cy="640080"/>
          </a:xfrm>
          <a:prstGeom prst="roundRect">
            <a:avLst>
              <a:gd fmla="val 8571" name="adj"/>
            </a:avLst>
          </a:prstGeom>
          <a:solidFill>
            <a:srgbClr val="EDE9FE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8"/>
          <p:cNvSpPr/>
          <p:nvPr/>
        </p:nvSpPr>
        <p:spPr>
          <a:xfrm>
            <a:off x="3803904" y="3758184"/>
            <a:ext cx="1078992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TurnStats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8"/>
          <p:cNvSpPr/>
          <p:nvPr/>
        </p:nvSpPr>
        <p:spPr>
          <a:xfrm>
            <a:off x="5715000" y="3703320"/>
            <a:ext cx="1234440" cy="640080"/>
          </a:xfrm>
          <a:prstGeom prst="roundRect">
            <a:avLst>
              <a:gd fmla="val 8571" name="adj"/>
            </a:avLst>
          </a:prstGeom>
          <a:solidFill>
            <a:srgbClr val="EDE9FE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8"/>
          <p:cNvSpPr/>
          <p:nvPr/>
        </p:nvSpPr>
        <p:spPr>
          <a:xfrm>
            <a:off x="5769864" y="3758184"/>
            <a:ext cx="1124712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WeaponStats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8"/>
          <p:cNvSpPr/>
          <p:nvPr/>
        </p:nvSpPr>
        <p:spPr>
          <a:xfrm>
            <a:off x="9738360" y="3703320"/>
            <a:ext cx="1600200" cy="640080"/>
          </a:xfrm>
          <a:prstGeom prst="roundRect">
            <a:avLst>
              <a:gd fmla="val 8571" name="adj"/>
            </a:avLst>
          </a:prstGeom>
          <a:solidFill>
            <a:srgbClr val="E5E7EB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8"/>
          <p:cNvSpPr/>
          <p:nvPr/>
        </p:nvSpPr>
        <p:spPr>
          <a:xfrm>
            <a:off x="9793224" y="3758184"/>
            <a:ext cx="1490472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Units A/B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5" name="Google Shape;255;p8"/>
          <p:cNvCxnSpPr/>
          <p:nvPr/>
        </p:nvCxnSpPr>
        <p:spPr>
          <a:xfrm>
            <a:off x="6949440" y="4023360"/>
            <a:ext cx="777240" cy="0"/>
          </a:xfrm>
          <a:prstGeom prst="straightConnector1">
            <a:avLst/>
          </a:prstGeom>
          <a:noFill/>
          <a:ln cap="flat" cmpd="sng" w="12700">
            <a:solidFill>
              <a:srgbClr val="6B728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6" name="Google Shape;256;p8"/>
          <p:cNvSpPr/>
          <p:nvPr/>
        </p:nvSpPr>
        <p:spPr>
          <a:xfrm>
            <a:off x="7726680" y="3703320"/>
            <a:ext cx="1234440" cy="640080"/>
          </a:xfrm>
          <a:prstGeom prst="roundRect">
            <a:avLst>
              <a:gd fmla="val 8571" name="adj"/>
            </a:avLst>
          </a:prstGeom>
          <a:solidFill>
            <a:srgbClr val="D1FAE5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8"/>
          <p:cNvSpPr/>
          <p:nvPr/>
        </p:nvSpPr>
        <p:spPr>
          <a:xfrm>
            <a:off x="7781544" y="3758184"/>
            <a:ext cx="1124712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Weapons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8"/>
          <p:cNvSpPr/>
          <p:nvPr/>
        </p:nvSpPr>
        <p:spPr>
          <a:xfrm>
            <a:off x="713232" y="5303520"/>
            <a:ext cx="10789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550"/>
              <a:buFont typeface="Calibri"/>
              <a:buNone/>
            </a:pPr>
            <a:r>
              <a:rPr b="0" i="0" lang="en-US" sz="15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Отдельно хранятся справочники, составы юнитов и агрегированные результаты расчётов.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8"/>
          <p:cNvSpPr/>
          <p:nvPr/>
        </p:nvSpPr>
        <p:spPr>
          <a:xfrm>
            <a:off x="502920" y="644652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StatHammer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8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AFB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cap="flat" cmpd="sng" w="12700">
            <a:solidFill>
              <a:srgbClr val="F9FA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9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91B1B"/>
          </a:solidFill>
          <a:ln cap="flat" cmpd="sng" w="12700">
            <a:solidFill>
              <a:srgbClr val="991B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11827"/>
          </a:solidFill>
          <a:ln cap="flat" cmpd="sng" w="12700">
            <a:solidFill>
              <a:srgbClr val="11182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9"/>
          <p:cNvSpPr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UML: основные классы и модули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9"/>
          <p:cNvSpPr/>
          <p:nvPr/>
        </p:nvSpPr>
        <p:spPr>
          <a:xfrm>
            <a:off x="530352" y="841248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Серверная логика разделена на API, сервисы, runtime-модели и агрегаторы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1" name="Google Shape;271;p9"/>
          <p:cNvCxnSpPr/>
          <p:nvPr/>
        </p:nvCxnSpPr>
        <p:spPr>
          <a:xfrm>
            <a:off x="2331720" y="2057400"/>
            <a:ext cx="822960" cy="0"/>
          </a:xfrm>
          <a:prstGeom prst="straightConnector1">
            <a:avLst/>
          </a:prstGeom>
          <a:noFill/>
          <a:ln cap="flat" cmpd="sng" w="15225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72" name="Google Shape;272;p9"/>
          <p:cNvCxnSpPr/>
          <p:nvPr/>
        </p:nvCxnSpPr>
        <p:spPr>
          <a:xfrm>
            <a:off x="5349240" y="2057400"/>
            <a:ext cx="914400" cy="0"/>
          </a:xfrm>
          <a:prstGeom prst="straightConnector1">
            <a:avLst/>
          </a:prstGeom>
          <a:noFill/>
          <a:ln cap="flat" cmpd="sng" w="15225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73" name="Google Shape;273;p9"/>
          <p:cNvCxnSpPr/>
          <p:nvPr/>
        </p:nvCxnSpPr>
        <p:spPr>
          <a:xfrm>
            <a:off x="8458200" y="2057400"/>
            <a:ext cx="822960" cy="0"/>
          </a:xfrm>
          <a:prstGeom prst="straightConnector1">
            <a:avLst/>
          </a:prstGeom>
          <a:noFill/>
          <a:ln cap="flat" cmpd="sng" w="15225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74" name="Google Shape;274;p9"/>
          <p:cNvCxnSpPr/>
          <p:nvPr/>
        </p:nvCxnSpPr>
        <p:spPr>
          <a:xfrm>
            <a:off x="5349240" y="4160520"/>
            <a:ext cx="914400" cy="0"/>
          </a:xfrm>
          <a:prstGeom prst="straightConnector1">
            <a:avLst/>
          </a:prstGeom>
          <a:noFill/>
          <a:ln cap="flat" cmpd="sng" w="15225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75" name="Google Shape;275;p9"/>
          <p:cNvCxnSpPr/>
          <p:nvPr/>
        </p:nvCxnSpPr>
        <p:spPr>
          <a:xfrm>
            <a:off x="8458200" y="4160520"/>
            <a:ext cx="822960" cy="0"/>
          </a:xfrm>
          <a:prstGeom prst="straightConnector1">
            <a:avLst/>
          </a:prstGeom>
          <a:noFill/>
          <a:ln cap="flat" cmpd="sng" w="15225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76" name="Google Shape;276;p9"/>
          <p:cNvSpPr/>
          <p:nvPr/>
        </p:nvSpPr>
        <p:spPr>
          <a:xfrm>
            <a:off x="685800" y="1600200"/>
            <a:ext cx="1645920" cy="868680"/>
          </a:xfrm>
          <a:prstGeom prst="roundRect">
            <a:avLst>
              <a:gd fmla="val 6316" name="adj"/>
            </a:avLst>
          </a:prstGeom>
          <a:solidFill>
            <a:srgbClr val="DBEAFE"/>
          </a:solidFill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9"/>
          <p:cNvSpPr/>
          <p:nvPr/>
        </p:nvSpPr>
        <p:spPr>
          <a:xfrm>
            <a:off x="740664" y="1655064"/>
            <a:ext cx="1536192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Controllers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Auth, Units, Simulations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9"/>
          <p:cNvSpPr/>
          <p:nvPr/>
        </p:nvSpPr>
        <p:spPr>
          <a:xfrm>
            <a:off x="3154680" y="1600200"/>
            <a:ext cx="2194560" cy="868680"/>
          </a:xfrm>
          <a:prstGeom prst="roundRect">
            <a:avLst>
              <a:gd fmla="val 6316" name="adj"/>
            </a:avLst>
          </a:prstGeom>
          <a:solidFill>
            <a:srgbClr val="D1FAE5"/>
          </a:solidFill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9"/>
          <p:cNvSpPr/>
          <p:nvPr/>
        </p:nvSpPr>
        <p:spPr>
          <a:xfrm>
            <a:off x="3209544" y="1655064"/>
            <a:ext cx="2084832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PageServices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Admin CRUD / Razor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9"/>
          <p:cNvSpPr/>
          <p:nvPr/>
        </p:nvSpPr>
        <p:spPr>
          <a:xfrm>
            <a:off x="6263640" y="1508760"/>
            <a:ext cx="2194560" cy="868680"/>
          </a:xfrm>
          <a:prstGeom prst="roundRect">
            <a:avLst>
              <a:gd fmla="val 6316" name="adj"/>
            </a:avLst>
          </a:prstGeom>
          <a:solidFill>
            <a:srgbClr val="FEE2E2"/>
          </a:solidFill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9"/>
          <p:cNvSpPr/>
          <p:nvPr/>
        </p:nvSpPr>
        <p:spPr>
          <a:xfrm>
            <a:off x="6318504" y="1563624"/>
            <a:ext cx="2084832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Simulation Services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BattleBatchSimulation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ParallelBatchSimulation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9"/>
          <p:cNvSpPr/>
          <p:nvPr/>
        </p:nvSpPr>
        <p:spPr>
          <a:xfrm>
            <a:off x="9281160" y="1508760"/>
            <a:ext cx="2103120" cy="868680"/>
          </a:xfrm>
          <a:prstGeom prst="roundRect">
            <a:avLst>
              <a:gd fmla="val 6316" name="adj"/>
            </a:avLst>
          </a:prstGeom>
          <a:solidFill>
            <a:srgbClr val="FEF3C7"/>
          </a:solidFill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9"/>
          <p:cNvSpPr/>
          <p:nvPr/>
        </p:nvSpPr>
        <p:spPr>
          <a:xfrm>
            <a:off x="9336024" y="1563624"/>
            <a:ext cx="1993392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Runtime Models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SimulationUnit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SimulationModel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SimulationWeapon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9"/>
          <p:cNvSpPr/>
          <p:nvPr/>
        </p:nvSpPr>
        <p:spPr>
          <a:xfrm>
            <a:off x="3154680" y="3703320"/>
            <a:ext cx="2194560" cy="868680"/>
          </a:xfrm>
          <a:prstGeom prst="roundRect">
            <a:avLst>
              <a:gd fmla="val 6316" name="adj"/>
            </a:avLst>
          </a:prstGeom>
          <a:solidFill>
            <a:srgbClr val="DBEAFE"/>
          </a:solidFill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9"/>
          <p:cNvSpPr/>
          <p:nvPr/>
        </p:nvSpPr>
        <p:spPr>
          <a:xfrm>
            <a:off x="3209544" y="3758184"/>
            <a:ext cx="2084832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Persistence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EF Core / DbContext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9"/>
          <p:cNvSpPr/>
          <p:nvPr/>
        </p:nvSpPr>
        <p:spPr>
          <a:xfrm>
            <a:off x="6263640" y="3703320"/>
            <a:ext cx="2194560" cy="868680"/>
          </a:xfrm>
          <a:prstGeom prst="roundRect">
            <a:avLst>
              <a:gd fmla="val 6316" name="adj"/>
            </a:avLst>
          </a:prstGeom>
          <a:solidFill>
            <a:srgbClr val="EDE9FE"/>
          </a:solidFill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9"/>
          <p:cNvSpPr/>
          <p:nvPr/>
        </p:nvSpPr>
        <p:spPr>
          <a:xfrm>
            <a:off x="6318504" y="3758184"/>
            <a:ext cx="2084832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Aggregator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BattleSimulationAggregator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9"/>
          <p:cNvSpPr/>
          <p:nvPr/>
        </p:nvSpPr>
        <p:spPr>
          <a:xfrm>
            <a:off x="9281160" y="3703320"/>
            <a:ext cx="2103120" cy="868680"/>
          </a:xfrm>
          <a:prstGeom prst="roundRect">
            <a:avLst>
              <a:gd fmla="val 6316" name="adj"/>
            </a:avLst>
          </a:prstGeom>
          <a:solidFill>
            <a:srgbClr val="E5E7EB"/>
          </a:solidFill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9"/>
          <p:cNvSpPr/>
          <p:nvPr/>
        </p:nvSpPr>
        <p:spPr>
          <a:xfrm>
            <a:off x="9336024" y="3758184"/>
            <a:ext cx="1993392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DTO / ViewModels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API + UI contracts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9"/>
          <p:cNvSpPr/>
          <p:nvPr/>
        </p:nvSpPr>
        <p:spPr>
          <a:xfrm>
            <a:off x="914400" y="5532120"/>
            <a:ext cx="102412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550"/>
              <a:buFont typeface="Calibri"/>
              <a:buNone/>
            </a:pPr>
            <a:r>
              <a:rPr b="0" i="0" lang="en-US" sz="15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Принцип: UI не содержит расчётной логики; симуляция изолирована в сервисном слое.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9"/>
          <p:cNvSpPr/>
          <p:nvPr/>
        </p:nvSpPr>
        <p:spPr>
          <a:xfrm>
            <a:off x="502920" y="644652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StatHammer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9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AFB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cap="flat" cmpd="sng" w="12700">
            <a:solidFill>
              <a:srgbClr val="F9FA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1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91B1B"/>
          </a:solidFill>
          <a:ln cap="flat" cmpd="sng" w="12700">
            <a:solidFill>
              <a:srgbClr val="991B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10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11827"/>
          </a:solidFill>
          <a:ln cap="flat" cmpd="sng" w="12700">
            <a:solidFill>
              <a:srgbClr val="11182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10"/>
          <p:cNvSpPr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Алгоритм симуляции боя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0"/>
          <p:cNvSpPr/>
          <p:nvPr/>
        </p:nvSpPr>
        <p:spPr>
          <a:xfrm>
            <a:off x="530352" y="841248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От выбора юнитов до усреднённой статистики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3" name="Google Shape;303;p10"/>
          <p:cNvCxnSpPr/>
          <p:nvPr/>
        </p:nvCxnSpPr>
        <p:spPr>
          <a:xfrm>
            <a:off x="1972798" y="2468860"/>
            <a:ext cx="411600" cy="0"/>
          </a:xfrm>
          <a:prstGeom prst="straightConnector1">
            <a:avLst/>
          </a:prstGeom>
          <a:noFill/>
          <a:ln cap="flat" cmpd="sng" w="15225">
            <a:solidFill>
              <a:srgbClr val="991B1B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304" name="Google Shape;304;p10"/>
          <p:cNvCxnSpPr/>
          <p:nvPr/>
        </p:nvCxnSpPr>
        <p:spPr>
          <a:xfrm>
            <a:off x="3893038" y="2468860"/>
            <a:ext cx="411600" cy="0"/>
          </a:xfrm>
          <a:prstGeom prst="straightConnector1">
            <a:avLst/>
          </a:prstGeom>
          <a:noFill/>
          <a:ln cap="flat" cmpd="sng" w="15225">
            <a:solidFill>
              <a:srgbClr val="991B1B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305" name="Google Shape;305;p10"/>
          <p:cNvSpPr/>
          <p:nvPr/>
        </p:nvSpPr>
        <p:spPr>
          <a:xfrm>
            <a:off x="2468931" y="1828800"/>
            <a:ext cx="1280100" cy="1280100"/>
          </a:xfrm>
          <a:prstGeom prst="ellipse">
            <a:avLst/>
          </a:prstGeom>
          <a:solidFill>
            <a:srgbClr val="D1FAE5"/>
          </a:solidFill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10"/>
          <p:cNvSpPr/>
          <p:nvPr/>
        </p:nvSpPr>
        <p:spPr>
          <a:xfrm>
            <a:off x="2240343" y="2125955"/>
            <a:ext cx="17373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b="0" i="0" lang="en-US" sz="11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DeepClone для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b="0" i="0" lang="en-US" sz="11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каждой симуляции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7" name="Google Shape;307;p10"/>
          <p:cNvCxnSpPr/>
          <p:nvPr/>
        </p:nvCxnSpPr>
        <p:spPr>
          <a:xfrm>
            <a:off x="5813278" y="2468860"/>
            <a:ext cx="411600" cy="0"/>
          </a:xfrm>
          <a:prstGeom prst="straightConnector1">
            <a:avLst/>
          </a:prstGeom>
          <a:noFill/>
          <a:ln cap="flat" cmpd="sng" w="15225">
            <a:solidFill>
              <a:srgbClr val="991B1B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308" name="Google Shape;308;p10"/>
          <p:cNvSpPr/>
          <p:nvPr/>
        </p:nvSpPr>
        <p:spPr>
          <a:xfrm>
            <a:off x="4389183" y="1847100"/>
            <a:ext cx="1280100" cy="1280100"/>
          </a:xfrm>
          <a:prstGeom prst="ellipse">
            <a:avLst/>
          </a:prstGeom>
          <a:solidFill>
            <a:srgbClr val="DBEAFE"/>
          </a:solidFill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10"/>
          <p:cNvSpPr/>
          <p:nvPr/>
        </p:nvSpPr>
        <p:spPr>
          <a:xfrm>
            <a:off x="4160583" y="2125955"/>
            <a:ext cx="17373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b="0" i="0" lang="en-US" sz="11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5 ходов: стрельба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b="0" i="0" lang="en-US" sz="11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и ответная атака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0" name="Google Shape;310;p10"/>
          <p:cNvCxnSpPr/>
          <p:nvPr/>
        </p:nvCxnSpPr>
        <p:spPr>
          <a:xfrm>
            <a:off x="7733518" y="2468860"/>
            <a:ext cx="411600" cy="0"/>
          </a:xfrm>
          <a:prstGeom prst="straightConnector1">
            <a:avLst/>
          </a:prstGeom>
          <a:noFill/>
          <a:ln cap="flat" cmpd="sng" w="15225">
            <a:solidFill>
              <a:srgbClr val="991B1B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311" name="Google Shape;311;p10"/>
          <p:cNvSpPr/>
          <p:nvPr/>
        </p:nvSpPr>
        <p:spPr>
          <a:xfrm>
            <a:off x="6309436" y="1795525"/>
            <a:ext cx="1280100" cy="1280100"/>
          </a:xfrm>
          <a:prstGeom prst="ellipse">
            <a:avLst/>
          </a:prstGeom>
          <a:solidFill>
            <a:srgbClr val="D1FAE5"/>
          </a:solidFill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10"/>
          <p:cNvSpPr/>
          <p:nvPr/>
        </p:nvSpPr>
        <p:spPr>
          <a:xfrm>
            <a:off x="6080823" y="2125955"/>
            <a:ext cx="17373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b="0" i="0" lang="en-US" sz="11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Hit → Wound → </a:t>
            </a:r>
            <a:endParaRPr b="0" i="0" sz="1150" u="none" cap="none" strike="noStrike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b="0" i="0" lang="en-US" sz="11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Save</a:t>
            </a:r>
            <a:r>
              <a:rPr lang="en-US" sz="11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11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→ Damage 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3" name="Google Shape;313;p10"/>
          <p:cNvCxnSpPr/>
          <p:nvPr/>
        </p:nvCxnSpPr>
        <p:spPr>
          <a:xfrm>
            <a:off x="9653758" y="2468860"/>
            <a:ext cx="411600" cy="0"/>
          </a:xfrm>
          <a:prstGeom prst="straightConnector1">
            <a:avLst/>
          </a:prstGeom>
          <a:noFill/>
          <a:ln cap="flat" cmpd="sng" w="15225">
            <a:solidFill>
              <a:srgbClr val="991B1B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314" name="Google Shape;314;p10"/>
          <p:cNvSpPr/>
          <p:nvPr/>
        </p:nvSpPr>
        <p:spPr>
          <a:xfrm>
            <a:off x="8225026" y="1828800"/>
            <a:ext cx="1280100" cy="1280100"/>
          </a:xfrm>
          <a:prstGeom prst="ellipse">
            <a:avLst/>
          </a:prstGeom>
          <a:solidFill>
            <a:srgbClr val="DBEAFE"/>
          </a:solidFill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10"/>
          <p:cNvSpPr/>
          <p:nvPr/>
        </p:nvSpPr>
        <p:spPr>
          <a:xfrm>
            <a:off x="8001063" y="2125955"/>
            <a:ext cx="17373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b="0" i="0" lang="en-US" sz="11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Локальная статистика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b="0" i="0" lang="en-US" sz="11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по оружию и ходам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0"/>
          <p:cNvSpPr/>
          <p:nvPr/>
        </p:nvSpPr>
        <p:spPr>
          <a:xfrm>
            <a:off x="10168128" y="1828800"/>
            <a:ext cx="1280100" cy="1280100"/>
          </a:xfrm>
          <a:prstGeom prst="ellipse">
            <a:avLst/>
          </a:prstGeom>
          <a:solidFill>
            <a:srgbClr val="D1FAE5"/>
          </a:solidFill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10"/>
          <p:cNvSpPr/>
          <p:nvPr/>
        </p:nvSpPr>
        <p:spPr>
          <a:xfrm>
            <a:off x="9921303" y="2125955"/>
            <a:ext cx="17373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b="0" i="0" lang="en-US" sz="11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Агрегация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b="0" i="0" lang="en-US" sz="11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результатов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0"/>
          <p:cNvSpPr/>
          <p:nvPr/>
        </p:nvSpPr>
        <p:spPr>
          <a:xfrm>
            <a:off x="1005840" y="4892040"/>
            <a:ext cx="10058400" cy="685800"/>
          </a:xfrm>
          <a:prstGeom prst="roundRect">
            <a:avLst>
              <a:gd fmla="val 8000" name="adj"/>
            </a:avLst>
          </a:prstGeom>
          <a:solidFill>
            <a:srgbClr val="111827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10"/>
          <p:cNvSpPr/>
          <p:nvPr/>
        </p:nvSpPr>
        <p:spPr>
          <a:xfrm>
            <a:off x="1234440" y="5102352"/>
            <a:ext cx="9601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Главная оптимизация: данные БД загружаются один раз, а внутренний цикл расчёта работает только с объектами в памяти.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0"/>
          <p:cNvSpPr/>
          <p:nvPr/>
        </p:nvSpPr>
        <p:spPr>
          <a:xfrm>
            <a:off x="502920" y="644652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StatHammer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0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0"/>
          <p:cNvSpPr/>
          <p:nvPr/>
        </p:nvSpPr>
        <p:spPr>
          <a:xfrm>
            <a:off x="548733" y="1828800"/>
            <a:ext cx="1280100" cy="1280100"/>
          </a:xfrm>
          <a:prstGeom prst="ellipse">
            <a:avLst/>
          </a:prstGeom>
          <a:solidFill>
            <a:srgbClr val="DBEAFE"/>
          </a:solidFill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10"/>
          <p:cNvSpPr/>
          <p:nvPr/>
        </p:nvSpPr>
        <p:spPr>
          <a:xfrm>
            <a:off x="320103" y="2125955"/>
            <a:ext cx="17373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b="0" i="0" lang="en-US" sz="11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Загрузка прототипов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b="0" i="0" lang="en-US" sz="11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юнитов из БД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AFB"/>
        </a:solidFill>
      </p:bgPr>
    </p:bg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cap="flat" cmpd="sng" w="12700">
            <a:solidFill>
              <a:srgbClr val="F9FA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1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91B1B"/>
          </a:solidFill>
          <a:ln cap="flat" cmpd="sng" w="12700">
            <a:solidFill>
              <a:srgbClr val="991B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1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11827"/>
          </a:solidFill>
          <a:ln cap="flat" cmpd="sng" w="12700">
            <a:solidFill>
              <a:srgbClr val="11182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11"/>
          <p:cNvSpPr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Многопоточность и оптимизация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1"/>
          <p:cNvSpPr/>
          <p:nvPr/>
        </p:nvSpPr>
        <p:spPr>
          <a:xfrm>
            <a:off x="530352" y="841248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Замеры производительности после исключения БД из внутреннего цикла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1"/>
          <p:cNvSpPr/>
          <p:nvPr/>
        </p:nvSpPr>
        <p:spPr>
          <a:xfrm>
            <a:off x="658368" y="1170432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150 000 симуляций, 5 ходов, сохранение в БД отключено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1"/>
          <p:cNvSpPr/>
          <p:nvPr/>
        </p:nvSpPr>
        <p:spPr>
          <a:xfrm>
            <a:off x="749808" y="1719072"/>
            <a:ext cx="10972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1 поток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1"/>
          <p:cNvSpPr/>
          <p:nvPr/>
        </p:nvSpPr>
        <p:spPr>
          <a:xfrm>
            <a:off x="1965960" y="1719072"/>
            <a:ext cx="5764469" cy="292608"/>
          </a:xfrm>
          <a:prstGeom prst="rect">
            <a:avLst/>
          </a:prstGeom>
          <a:solidFill>
            <a:srgbClr val="6B7280"/>
          </a:solidFill>
          <a:ln cap="flat" cmpd="sng" w="12700">
            <a:solidFill>
              <a:srgbClr val="6B72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11"/>
          <p:cNvSpPr/>
          <p:nvPr/>
        </p:nvSpPr>
        <p:spPr>
          <a:xfrm>
            <a:off x="8183880" y="170078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22.924 c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1"/>
          <p:cNvSpPr/>
          <p:nvPr/>
        </p:nvSpPr>
        <p:spPr>
          <a:xfrm>
            <a:off x="9464040" y="1700784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047857"/>
                </a:solidFill>
                <a:latin typeface="Calibri"/>
                <a:ea typeface="Calibri"/>
                <a:cs typeface="Calibri"/>
                <a:sym typeface="Calibri"/>
              </a:rPr>
              <a:t>1.00×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1"/>
          <p:cNvSpPr/>
          <p:nvPr/>
        </p:nvSpPr>
        <p:spPr>
          <a:xfrm>
            <a:off x="749808" y="2468880"/>
            <a:ext cx="10972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2 потока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1"/>
          <p:cNvSpPr/>
          <p:nvPr/>
        </p:nvSpPr>
        <p:spPr>
          <a:xfrm>
            <a:off x="1965960" y="2468880"/>
            <a:ext cx="3359254" cy="292608"/>
          </a:xfrm>
          <a:prstGeom prst="rect">
            <a:avLst/>
          </a:prstGeom>
          <a:solidFill>
            <a:srgbClr val="991B1B"/>
          </a:solidFill>
          <a:ln cap="flat" cmpd="sng" w="12700">
            <a:solidFill>
              <a:srgbClr val="991B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11"/>
          <p:cNvSpPr/>
          <p:nvPr/>
        </p:nvSpPr>
        <p:spPr>
          <a:xfrm>
            <a:off x="8183880" y="245059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13.359 c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1"/>
          <p:cNvSpPr/>
          <p:nvPr/>
        </p:nvSpPr>
        <p:spPr>
          <a:xfrm>
            <a:off x="9464040" y="2450592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047857"/>
                </a:solidFill>
                <a:latin typeface="Calibri"/>
                <a:ea typeface="Calibri"/>
                <a:cs typeface="Calibri"/>
                <a:sym typeface="Calibri"/>
              </a:rPr>
              <a:t>1.72×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1"/>
          <p:cNvSpPr/>
          <p:nvPr/>
        </p:nvSpPr>
        <p:spPr>
          <a:xfrm>
            <a:off x="749808" y="3218688"/>
            <a:ext cx="10972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5 потоков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1"/>
          <p:cNvSpPr/>
          <p:nvPr/>
        </p:nvSpPr>
        <p:spPr>
          <a:xfrm>
            <a:off x="1965960" y="3218688"/>
            <a:ext cx="2269678" cy="292608"/>
          </a:xfrm>
          <a:prstGeom prst="rect">
            <a:avLst/>
          </a:prstGeom>
          <a:solidFill>
            <a:srgbClr val="991B1B"/>
          </a:solidFill>
          <a:ln cap="flat" cmpd="sng" w="12700">
            <a:solidFill>
              <a:srgbClr val="991B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11"/>
          <p:cNvSpPr/>
          <p:nvPr/>
        </p:nvSpPr>
        <p:spPr>
          <a:xfrm>
            <a:off x="8183880" y="320040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9.026 c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1"/>
          <p:cNvSpPr/>
          <p:nvPr/>
        </p:nvSpPr>
        <p:spPr>
          <a:xfrm>
            <a:off x="9464040" y="320040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047857"/>
                </a:solidFill>
                <a:latin typeface="Calibri"/>
                <a:ea typeface="Calibri"/>
                <a:cs typeface="Calibri"/>
                <a:sym typeface="Calibri"/>
              </a:rPr>
              <a:t>2.54×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1"/>
          <p:cNvSpPr/>
          <p:nvPr/>
        </p:nvSpPr>
        <p:spPr>
          <a:xfrm>
            <a:off x="749808" y="3968496"/>
            <a:ext cx="10972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15 потоков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1"/>
          <p:cNvSpPr/>
          <p:nvPr/>
        </p:nvSpPr>
        <p:spPr>
          <a:xfrm>
            <a:off x="1965960" y="3968496"/>
            <a:ext cx="1838173" cy="292608"/>
          </a:xfrm>
          <a:prstGeom prst="rect">
            <a:avLst/>
          </a:prstGeom>
          <a:solidFill>
            <a:srgbClr val="991B1B"/>
          </a:solidFill>
          <a:ln cap="flat" cmpd="sng" w="12700">
            <a:solidFill>
              <a:srgbClr val="991B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11"/>
          <p:cNvSpPr/>
          <p:nvPr/>
        </p:nvSpPr>
        <p:spPr>
          <a:xfrm>
            <a:off x="8183880" y="395020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7.310 c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1"/>
          <p:cNvSpPr/>
          <p:nvPr/>
        </p:nvSpPr>
        <p:spPr>
          <a:xfrm>
            <a:off x="9464040" y="3950208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047857"/>
                </a:solidFill>
                <a:latin typeface="Calibri"/>
                <a:ea typeface="Calibri"/>
                <a:cs typeface="Calibri"/>
                <a:sym typeface="Calibri"/>
              </a:rPr>
              <a:t>3.14×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1"/>
          <p:cNvSpPr/>
          <p:nvPr/>
        </p:nvSpPr>
        <p:spPr>
          <a:xfrm>
            <a:off x="713232" y="4892040"/>
            <a:ext cx="5074920" cy="777240"/>
          </a:xfrm>
          <a:prstGeom prst="roundRect">
            <a:avLst>
              <a:gd fmla="val 7059" name="adj"/>
            </a:avLst>
          </a:prstGeom>
          <a:solidFill>
            <a:srgbClr val="D1FAE5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1"/>
          <p:cNvSpPr/>
          <p:nvPr/>
        </p:nvSpPr>
        <p:spPr>
          <a:xfrm>
            <a:off x="960120" y="5120640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Результат: 15 </a:t>
            </a:r>
            <a:r>
              <a:rPr b="1" lang="en-US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рабочих потоков</a:t>
            </a:r>
            <a:r>
              <a:rPr b="1" i="0" lang="en-US" sz="14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 сократили время с 22,9 с до 7,3 с — ускорение ≈ 3,14×.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1"/>
          <p:cNvSpPr/>
          <p:nvPr/>
        </p:nvSpPr>
        <p:spPr>
          <a:xfrm>
            <a:off x="6172200" y="4892040"/>
            <a:ext cx="5166360" cy="777240"/>
          </a:xfrm>
          <a:prstGeom prst="roundRect">
            <a:avLst>
              <a:gd fmla="val 7059" name="adj"/>
            </a:avLst>
          </a:prstGeom>
          <a:solidFill>
            <a:srgbClr val="FEF3C7"/>
          </a:solidFill>
          <a:ln cap="flat" cmpd="sng" w="12700">
            <a:solidFill>
              <a:srgbClr val="FEF3C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11"/>
          <p:cNvSpPr/>
          <p:nvPr/>
        </p:nvSpPr>
        <p:spPr>
          <a:xfrm>
            <a:off x="6446520" y="5120640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До оптимизации 15 потоков работали медленнее из-за повторных запросов к SQLite.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1"/>
          <p:cNvSpPr/>
          <p:nvPr/>
        </p:nvSpPr>
        <p:spPr>
          <a:xfrm>
            <a:off x="502920" y="644652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StatHammer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1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AFB"/>
        </a:solid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1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cap="flat" cmpd="sng" w="12700">
            <a:solidFill>
              <a:srgbClr val="F9FA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1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91B1B"/>
          </a:solidFill>
          <a:ln cap="flat" cmpd="sng" w="12700">
            <a:solidFill>
              <a:srgbClr val="991B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1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11827"/>
          </a:solidFill>
          <a:ln cap="flat" cmpd="sng" w="12700">
            <a:solidFill>
              <a:srgbClr val="11182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12"/>
          <p:cNvSpPr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Демонстрация: web-клиент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2"/>
          <p:cNvSpPr/>
          <p:nvPr/>
        </p:nvSpPr>
        <p:spPr>
          <a:xfrm>
            <a:off x="530352" y="841248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Razor Pages: администрирование, запуск расчётов и просмотр результатов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2"/>
          <p:cNvSpPr/>
          <p:nvPr/>
        </p:nvSpPr>
        <p:spPr>
          <a:xfrm>
            <a:off x="731520" y="1417320"/>
            <a:ext cx="4892040" cy="1325880"/>
          </a:xfrm>
          <a:prstGeom prst="roundRect">
            <a:avLst>
              <a:gd fmla="val 4138" name="adj"/>
            </a:avLst>
          </a:prstGeom>
          <a:solidFill>
            <a:srgbClr val="FFFFFF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12"/>
          <p:cNvSpPr/>
          <p:nvPr/>
        </p:nvSpPr>
        <p:spPr>
          <a:xfrm>
            <a:off x="987552" y="1618488"/>
            <a:ext cx="1737360" cy="310896"/>
          </a:xfrm>
          <a:prstGeom prst="roundRect">
            <a:avLst>
              <a:gd fmla="val 23529" name="adj"/>
            </a:avLst>
          </a:prstGeom>
          <a:solidFill>
            <a:srgbClr val="DBEAFE"/>
          </a:solidFill>
          <a:ln cap="flat" cmpd="sng" w="12700">
            <a:solidFill>
              <a:srgbClr val="DBEA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12"/>
          <p:cNvSpPr/>
          <p:nvPr/>
        </p:nvSpPr>
        <p:spPr>
          <a:xfrm>
            <a:off x="1060704" y="1677924"/>
            <a:ext cx="159105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Авторизация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2"/>
          <p:cNvSpPr/>
          <p:nvPr/>
        </p:nvSpPr>
        <p:spPr>
          <a:xfrm>
            <a:off x="987552" y="2112264"/>
            <a:ext cx="43891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550"/>
              <a:buFont typeface="Calibri"/>
              <a:buNone/>
            </a:pPr>
            <a:r>
              <a:rPr b="0" i="0" lang="en-US" sz="15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вход, регистрация, роли Admin/User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2"/>
          <p:cNvSpPr/>
          <p:nvPr/>
        </p:nvSpPr>
        <p:spPr>
          <a:xfrm>
            <a:off x="6263640" y="1417320"/>
            <a:ext cx="4892040" cy="1325880"/>
          </a:xfrm>
          <a:prstGeom prst="roundRect">
            <a:avLst>
              <a:gd fmla="val 4138" name="adj"/>
            </a:avLst>
          </a:prstGeom>
          <a:solidFill>
            <a:srgbClr val="FFFFFF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12"/>
          <p:cNvSpPr/>
          <p:nvPr/>
        </p:nvSpPr>
        <p:spPr>
          <a:xfrm>
            <a:off x="6519672" y="1618488"/>
            <a:ext cx="1737360" cy="310896"/>
          </a:xfrm>
          <a:prstGeom prst="roundRect">
            <a:avLst>
              <a:gd fmla="val 23529" name="adj"/>
            </a:avLst>
          </a:prstGeom>
          <a:solidFill>
            <a:srgbClr val="D1FAE5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p12"/>
          <p:cNvSpPr/>
          <p:nvPr/>
        </p:nvSpPr>
        <p:spPr>
          <a:xfrm>
            <a:off x="6592824" y="1677924"/>
            <a:ext cx="159105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Админка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2"/>
          <p:cNvSpPr/>
          <p:nvPr/>
        </p:nvSpPr>
        <p:spPr>
          <a:xfrm>
            <a:off x="6519672" y="2112264"/>
            <a:ext cx="43891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550"/>
              <a:buFont typeface="Calibri"/>
              <a:buNone/>
            </a:pPr>
            <a:r>
              <a:rPr b="0" i="0" lang="en-US" sz="15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CRUD оружия, правил, варгира, моделей, юнитов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2"/>
          <p:cNvSpPr/>
          <p:nvPr/>
        </p:nvSpPr>
        <p:spPr>
          <a:xfrm>
            <a:off x="731520" y="3383280"/>
            <a:ext cx="4892040" cy="1325880"/>
          </a:xfrm>
          <a:prstGeom prst="roundRect">
            <a:avLst>
              <a:gd fmla="val 4138" name="adj"/>
            </a:avLst>
          </a:prstGeom>
          <a:solidFill>
            <a:srgbClr val="FFFFFF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2"/>
          <p:cNvSpPr/>
          <p:nvPr/>
        </p:nvSpPr>
        <p:spPr>
          <a:xfrm>
            <a:off x="987552" y="3584448"/>
            <a:ext cx="1737360" cy="310896"/>
          </a:xfrm>
          <a:prstGeom prst="roundRect">
            <a:avLst>
              <a:gd fmla="val 23529" name="adj"/>
            </a:avLst>
          </a:prstGeom>
          <a:solidFill>
            <a:srgbClr val="DBEAFE"/>
          </a:solidFill>
          <a:ln cap="flat" cmpd="sng" w="12700">
            <a:solidFill>
              <a:srgbClr val="DBEA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7" name="Google Shape;377;p12"/>
          <p:cNvSpPr/>
          <p:nvPr/>
        </p:nvSpPr>
        <p:spPr>
          <a:xfrm>
            <a:off x="1060704" y="3643884"/>
            <a:ext cx="159105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Симуляции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2"/>
          <p:cNvSpPr/>
          <p:nvPr/>
        </p:nvSpPr>
        <p:spPr>
          <a:xfrm>
            <a:off x="987552" y="4078224"/>
            <a:ext cx="43891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550"/>
              <a:buFont typeface="Calibri"/>
              <a:buNone/>
            </a:pPr>
            <a:r>
              <a:rPr b="0" i="0" lang="en-US" sz="15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выбор юнитов, потоков, количества расчётов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2"/>
          <p:cNvSpPr/>
          <p:nvPr/>
        </p:nvSpPr>
        <p:spPr>
          <a:xfrm>
            <a:off x="6263640" y="3383280"/>
            <a:ext cx="4892040" cy="1325880"/>
          </a:xfrm>
          <a:prstGeom prst="roundRect">
            <a:avLst>
              <a:gd fmla="val 4138" name="adj"/>
            </a:avLst>
          </a:prstGeom>
          <a:solidFill>
            <a:srgbClr val="FFFFFF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12"/>
          <p:cNvSpPr/>
          <p:nvPr/>
        </p:nvSpPr>
        <p:spPr>
          <a:xfrm>
            <a:off x="6519672" y="3584448"/>
            <a:ext cx="1737360" cy="310896"/>
          </a:xfrm>
          <a:prstGeom prst="roundRect">
            <a:avLst>
              <a:gd fmla="val 23529" name="adj"/>
            </a:avLst>
          </a:prstGeom>
          <a:solidFill>
            <a:srgbClr val="D1FAE5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12"/>
          <p:cNvSpPr/>
          <p:nvPr/>
        </p:nvSpPr>
        <p:spPr>
          <a:xfrm>
            <a:off x="6592824" y="3643884"/>
            <a:ext cx="159105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Результаты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2"/>
          <p:cNvSpPr/>
          <p:nvPr/>
        </p:nvSpPr>
        <p:spPr>
          <a:xfrm>
            <a:off x="6519672" y="4078224"/>
            <a:ext cx="43891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550"/>
              <a:buFont typeface="Calibri"/>
              <a:buNone/>
            </a:pPr>
            <a:r>
              <a:rPr b="0" i="0" lang="en-US" sz="15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сохранение, список запусков, детализация по ходам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2"/>
          <p:cNvSpPr/>
          <p:nvPr/>
        </p:nvSpPr>
        <p:spPr>
          <a:xfrm>
            <a:off x="914400" y="5623560"/>
            <a:ext cx="10241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50"/>
              <a:buFont typeface="Calibri"/>
              <a:buNone/>
            </a:pPr>
            <a:r>
              <a:rPr b="0" i="0" lang="en-US" sz="14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Демонстрационный сценарий: войти как администратор → открыть справочники → запустить расчёт → открыть сохранённый результат.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2"/>
          <p:cNvSpPr/>
          <p:nvPr/>
        </p:nvSpPr>
        <p:spPr>
          <a:xfrm>
            <a:off x="502920" y="644652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StatHammer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2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AFB"/>
        </a:solidFill>
      </p:bgPr>
    </p:bg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cap="flat" cmpd="sng" w="12700">
            <a:solidFill>
              <a:srgbClr val="F9FA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1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91B1B"/>
          </a:solidFill>
          <a:ln cap="flat" cmpd="sng" w="12700">
            <a:solidFill>
              <a:srgbClr val="991B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1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11827"/>
          </a:solidFill>
          <a:ln cap="flat" cmpd="sng" w="12700">
            <a:solidFill>
              <a:srgbClr val="11182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13"/>
          <p:cNvSpPr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Демонстрация: WPF-клиент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3"/>
          <p:cNvSpPr/>
          <p:nvPr/>
        </p:nvSpPr>
        <p:spPr>
          <a:xfrm>
            <a:off x="530352" y="841248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Desktop-клиент использует тот же серверный API и JWT-авторизацию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3"/>
          <p:cNvSpPr/>
          <p:nvPr/>
        </p:nvSpPr>
        <p:spPr>
          <a:xfrm>
            <a:off x="4069080" y="3986784"/>
            <a:ext cx="1508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Запустить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3"/>
          <p:cNvSpPr/>
          <p:nvPr/>
        </p:nvSpPr>
        <p:spPr>
          <a:xfrm>
            <a:off x="6629400" y="1508760"/>
            <a:ext cx="457200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авторизация через JWT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получение списка юнитов через API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запуск одно- и многопоточного режима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вывод агрегированной статистики по ходам и оружию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3"/>
          <p:cNvSpPr/>
          <p:nvPr/>
        </p:nvSpPr>
        <p:spPr>
          <a:xfrm>
            <a:off x="6629400" y="4846320"/>
            <a:ext cx="4572000" cy="475488"/>
          </a:xfrm>
          <a:prstGeom prst="roundRect">
            <a:avLst>
              <a:gd fmla="val 15385" name="adj"/>
            </a:avLst>
          </a:prstGeom>
          <a:solidFill>
            <a:srgbClr val="DBEAFE"/>
          </a:solidFill>
          <a:ln cap="flat" cmpd="sng" w="12700">
            <a:solidFill>
              <a:srgbClr val="DBEA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13"/>
          <p:cNvSpPr/>
          <p:nvPr/>
        </p:nvSpPr>
        <p:spPr>
          <a:xfrm>
            <a:off x="6739128" y="4946904"/>
            <a:ext cx="435254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WPF-клиент не дублирует админку: он решает пользовательскую задачу запуска расчётов.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3"/>
          <p:cNvSpPr/>
          <p:nvPr/>
        </p:nvSpPr>
        <p:spPr>
          <a:xfrm>
            <a:off x="502920" y="644652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StatHammer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3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2" name="Google Shape;402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220950" y="1471525"/>
            <a:ext cx="6515824" cy="40340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AFB"/>
        </a:solidFill>
      </p:bgPr>
    </p:bg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cap="flat" cmpd="sng" w="12700">
            <a:solidFill>
              <a:srgbClr val="F9FA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14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91B1B"/>
          </a:solidFill>
          <a:ln cap="flat" cmpd="sng" w="12700">
            <a:solidFill>
              <a:srgbClr val="991B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1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11827"/>
          </a:solidFill>
          <a:ln cap="flat" cmpd="sng" w="12700">
            <a:solidFill>
              <a:srgbClr val="11182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14"/>
          <p:cNvSpPr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Авторизация и разграничение доступа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4"/>
          <p:cNvSpPr/>
          <p:nvPr/>
        </p:nvSpPr>
        <p:spPr>
          <a:xfrm>
            <a:off x="530352" y="841248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Один сервер обслуживает web и desktop-клиенты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13" name="Google Shape;413;p14"/>
          <p:cNvCxnSpPr/>
          <p:nvPr/>
        </p:nvCxnSpPr>
        <p:spPr>
          <a:xfrm>
            <a:off x="2834640" y="1828800"/>
            <a:ext cx="1325880" cy="0"/>
          </a:xfrm>
          <a:prstGeom prst="straightConnector1">
            <a:avLst/>
          </a:prstGeom>
          <a:noFill/>
          <a:ln cap="flat" cmpd="sng" w="15225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414" name="Google Shape;414;p14"/>
          <p:cNvCxnSpPr/>
          <p:nvPr/>
        </p:nvCxnSpPr>
        <p:spPr>
          <a:xfrm>
            <a:off x="6400800" y="1828800"/>
            <a:ext cx="1280160" cy="0"/>
          </a:xfrm>
          <a:prstGeom prst="straightConnector1">
            <a:avLst/>
          </a:prstGeom>
          <a:noFill/>
          <a:ln cap="flat" cmpd="sng" w="15225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415" name="Google Shape;415;p14"/>
          <p:cNvCxnSpPr/>
          <p:nvPr/>
        </p:nvCxnSpPr>
        <p:spPr>
          <a:xfrm>
            <a:off x="2834640" y="3931920"/>
            <a:ext cx="1325880" cy="0"/>
          </a:xfrm>
          <a:prstGeom prst="straightConnector1">
            <a:avLst/>
          </a:prstGeom>
          <a:noFill/>
          <a:ln cap="flat" cmpd="sng" w="15225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416" name="Google Shape;416;p14"/>
          <p:cNvCxnSpPr/>
          <p:nvPr/>
        </p:nvCxnSpPr>
        <p:spPr>
          <a:xfrm>
            <a:off x="6400800" y="3931920"/>
            <a:ext cx="1280160" cy="0"/>
          </a:xfrm>
          <a:prstGeom prst="straightConnector1">
            <a:avLst/>
          </a:prstGeom>
          <a:noFill/>
          <a:ln cap="flat" cmpd="sng" w="15225">
            <a:solidFill>
              <a:srgbClr val="6B728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417" name="Google Shape;417;p14"/>
          <p:cNvSpPr/>
          <p:nvPr/>
        </p:nvSpPr>
        <p:spPr>
          <a:xfrm>
            <a:off x="685800" y="1463040"/>
            <a:ext cx="2148840" cy="731520"/>
          </a:xfrm>
          <a:prstGeom prst="roundRect">
            <a:avLst>
              <a:gd fmla="val 7500" name="adj"/>
            </a:avLst>
          </a:prstGeom>
          <a:solidFill>
            <a:srgbClr val="DBEAFE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14"/>
          <p:cNvSpPr/>
          <p:nvPr/>
        </p:nvSpPr>
        <p:spPr>
          <a:xfrm>
            <a:off x="740664" y="1517904"/>
            <a:ext cx="203911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Razor Pages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Cookie Auth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4"/>
          <p:cNvSpPr/>
          <p:nvPr/>
        </p:nvSpPr>
        <p:spPr>
          <a:xfrm>
            <a:off x="4160520" y="1417320"/>
            <a:ext cx="2240280" cy="822960"/>
          </a:xfrm>
          <a:prstGeom prst="roundRect">
            <a:avLst>
              <a:gd fmla="val 6667" name="adj"/>
            </a:avLst>
          </a:prstGeom>
          <a:solidFill>
            <a:srgbClr val="111827"/>
          </a:solidFill>
          <a:ln cap="flat" cmpd="sng" w="12700">
            <a:solidFill>
              <a:srgbClr val="11182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14"/>
          <p:cNvSpPr/>
          <p:nvPr/>
        </p:nvSpPr>
        <p:spPr>
          <a:xfrm>
            <a:off x="4215384" y="1472184"/>
            <a:ext cx="2130552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Identity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UserManager / Roles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4"/>
          <p:cNvSpPr/>
          <p:nvPr/>
        </p:nvSpPr>
        <p:spPr>
          <a:xfrm>
            <a:off x="7680960" y="1463040"/>
            <a:ext cx="2331720" cy="731520"/>
          </a:xfrm>
          <a:prstGeom prst="roundRect">
            <a:avLst>
              <a:gd fmla="val 7500" name="adj"/>
            </a:avLst>
          </a:prstGeom>
          <a:solidFill>
            <a:srgbClr val="D1FAE5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14"/>
          <p:cNvSpPr/>
          <p:nvPr/>
        </p:nvSpPr>
        <p:spPr>
          <a:xfrm>
            <a:off x="7735824" y="1517904"/>
            <a:ext cx="22219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Admin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CRUD БД + симуляции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4"/>
          <p:cNvSpPr/>
          <p:nvPr/>
        </p:nvSpPr>
        <p:spPr>
          <a:xfrm>
            <a:off x="685800" y="3566160"/>
            <a:ext cx="2148840" cy="731520"/>
          </a:xfrm>
          <a:prstGeom prst="roundRect">
            <a:avLst>
              <a:gd fmla="val 7500" name="adj"/>
            </a:avLst>
          </a:prstGeom>
          <a:solidFill>
            <a:srgbClr val="FEF3C7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14"/>
          <p:cNvSpPr/>
          <p:nvPr/>
        </p:nvSpPr>
        <p:spPr>
          <a:xfrm>
            <a:off x="740664" y="3621024"/>
            <a:ext cx="203911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WPF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JWT Bearer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4"/>
          <p:cNvSpPr/>
          <p:nvPr/>
        </p:nvSpPr>
        <p:spPr>
          <a:xfrm>
            <a:off x="4160520" y="3520440"/>
            <a:ext cx="2240280" cy="822960"/>
          </a:xfrm>
          <a:prstGeom prst="roundRect">
            <a:avLst>
              <a:gd fmla="val 6667" name="adj"/>
            </a:avLst>
          </a:prstGeom>
          <a:solidFill>
            <a:srgbClr val="EDE9FE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14"/>
          <p:cNvSpPr/>
          <p:nvPr/>
        </p:nvSpPr>
        <p:spPr>
          <a:xfrm>
            <a:off x="4215384" y="3575304"/>
            <a:ext cx="2130552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AuthController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login / me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4"/>
          <p:cNvSpPr/>
          <p:nvPr/>
        </p:nvSpPr>
        <p:spPr>
          <a:xfrm>
            <a:off x="7680960" y="3566160"/>
            <a:ext cx="2331720" cy="731520"/>
          </a:xfrm>
          <a:prstGeom prst="roundRect">
            <a:avLst>
              <a:gd fmla="val 7500" name="adj"/>
            </a:avLst>
          </a:prstGeom>
          <a:solidFill>
            <a:srgbClr val="D1FAE5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p14"/>
          <p:cNvSpPr/>
          <p:nvPr/>
        </p:nvSpPr>
        <p:spPr>
          <a:xfrm>
            <a:off x="7735824" y="3621024"/>
            <a:ext cx="22219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User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запуск симуляций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14"/>
          <p:cNvSpPr/>
          <p:nvPr/>
        </p:nvSpPr>
        <p:spPr>
          <a:xfrm>
            <a:off x="1097280" y="5166360"/>
            <a:ext cx="9601200" cy="502920"/>
          </a:xfrm>
          <a:prstGeom prst="roundRect">
            <a:avLst>
              <a:gd fmla="val 10909" name="adj"/>
            </a:avLst>
          </a:prstGeom>
          <a:solidFill>
            <a:srgbClr val="F3F4F6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p14"/>
          <p:cNvSpPr/>
          <p:nvPr/>
        </p:nvSpPr>
        <p:spPr>
          <a:xfrm>
            <a:off x="1325880" y="5321808"/>
            <a:ext cx="9144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50"/>
              <a:buFont typeface="Calibri"/>
              <a:buNone/>
            </a:pPr>
            <a:r>
              <a:rPr b="0" i="0" lang="en-US" sz="14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Роли: Admin управляет справочниками; User запускает симуляции и смотрит результаты.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4"/>
          <p:cNvSpPr/>
          <p:nvPr/>
        </p:nvSpPr>
        <p:spPr>
          <a:xfrm>
            <a:off x="502920" y="644652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StatHammer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4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AFB"/>
        </a:solidFill>
      </p:bgPr>
    </p:bg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cap="flat" cmpd="sng" w="12700">
            <a:solidFill>
              <a:srgbClr val="F9FA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15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91B1B"/>
          </a:solidFill>
          <a:ln cap="flat" cmpd="sng" w="12700">
            <a:solidFill>
              <a:srgbClr val="991B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15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11827"/>
          </a:solidFill>
          <a:ln cap="flat" cmpd="sng" w="12700">
            <a:solidFill>
              <a:srgbClr val="11182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p15"/>
          <p:cNvSpPr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Итоги реализации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5"/>
          <p:cNvSpPr/>
          <p:nvPr/>
        </p:nvSpPr>
        <p:spPr>
          <a:xfrm>
            <a:off x="530352" y="841248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Что уже готово в MVP системы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5"/>
          <p:cNvSpPr/>
          <p:nvPr/>
        </p:nvSpPr>
        <p:spPr>
          <a:xfrm>
            <a:off x="822960" y="1325880"/>
            <a:ext cx="4892040" cy="475488"/>
          </a:xfrm>
          <a:prstGeom prst="roundRect">
            <a:avLst>
              <a:gd fmla="val 15385" name="adj"/>
            </a:avLst>
          </a:prstGeom>
          <a:solidFill>
            <a:srgbClr val="D1FAE5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15"/>
          <p:cNvSpPr/>
          <p:nvPr/>
        </p:nvSpPr>
        <p:spPr>
          <a:xfrm>
            <a:off x="932688" y="1426464"/>
            <a:ext cx="467258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сервер ASP.NET Core Web API и Razor Pages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5"/>
          <p:cNvSpPr/>
          <p:nvPr/>
        </p:nvSpPr>
        <p:spPr>
          <a:xfrm>
            <a:off x="6263640" y="1325880"/>
            <a:ext cx="4892040" cy="475488"/>
          </a:xfrm>
          <a:prstGeom prst="roundRect">
            <a:avLst>
              <a:gd fmla="val 15385" name="adj"/>
            </a:avLst>
          </a:prstGeom>
          <a:solidFill>
            <a:srgbClr val="DBEAFE"/>
          </a:solidFill>
          <a:ln cap="flat" cmpd="sng" w="12700">
            <a:solidFill>
              <a:srgbClr val="DBEA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15"/>
          <p:cNvSpPr/>
          <p:nvPr/>
        </p:nvSpPr>
        <p:spPr>
          <a:xfrm>
            <a:off x="6373368" y="1426464"/>
            <a:ext cx="467258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БД игровых сущностей через EF Core и SQLite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5"/>
          <p:cNvSpPr/>
          <p:nvPr/>
        </p:nvSpPr>
        <p:spPr>
          <a:xfrm>
            <a:off x="822960" y="2313432"/>
            <a:ext cx="4892040" cy="475488"/>
          </a:xfrm>
          <a:prstGeom prst="roundRect">
            <a:avLst>
              <a:gd fmla="val 15385" name="adj"/>
            </a:avLst>
          </a:prstGeom>
          <a:solidFill>
            <a:srgbClr val="D1FAE5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8" name="Google Shape;448;p15"/>
          <p:cNvSpPr/>
          <p:nvPr/>
        </p:nvSpPr>
        <p:spPr>
          <a:xfrm>
            <a:off x="932688" y="2414016"/>
            <a:ext cx="467258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админский CRUD основных сущностей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5"/>
          <p:cNvSpPr/>
          <p:nvPr/>
        </p:nvSpPr>
        <p:spPr>
          <a:xfrm>
            <a:off x="6263640" y="2313432"/>
            <a:ext cx="4892040" cy="475488"/>
          </a:xfrm>
          <a:prstGeom prst="roundRect">
            <a:avLst>
              <a:gd fmla="val 15385" name="adj"/>
            </a:avLst>
          </a:prstGeom>
          <a:solidFill>
            <a:srgbClr val="DBEAFE"/>
          </a:solidFill>
          <a:ln cap="flat" cmpd="sng" w="12700">
            <a:solidFill>
              <a:srgbClr val="DBEA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p15"/>
          <p:cNvSpPr/>
          <p:nvPr/>
        </p:nvSpPr>
        <p:spPr>
          <a:xfrm>
            <a:off x="6373368" y="2414016"/>
            <a:ext cx="467258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Identity, роли, JWT для desktop-клиента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5"/>
          <p:cNvSpPr/>
          <p:nvPr/>
        </p:nvSpPr>
        <p:spPr>
          <a:xfrm>
            <a:off x="822960" y="3300984"/>
            <a:ext cx="4892040" cy="475488"/>
          </a:xfrm>
          <a:prstGeom prst="roundRect">
            <a:avLst>
              <a:gd fmla="val 15385" name="adj"/>
            </a:avLst>
          </a:prstGeom>
          <a:solidFill>
            <a:srgbClr val="D1FAE5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2" name="Google Shape;452;p15"/>
          <p:cNvSpPr/>
          <p:nvPr/>
        </p:nvSpPr>
        <p:spPr>
          <a:xfrm>
            <a:off x="932688" y="3401568"/>
            <a:ext cx="467258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симуляционное ядро: hit, wound, save, damage allocation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5"/>
          <p:cNvSpPr/>
          <p:nvPr/>
        </p:nvSpPr>
        <p:spPr>
          <a:xfrm>
            <a:off x="6263640" y="3300984"/>
            <a:ext cx="4892040" cy="475488"/>
          </a:xfrm>
          <a:prstGeom prst="roundRect">
            <a:avLst>
              <a:gd fmla="val 15385" name="adj"/>
            </a:avLst>
          </a:prstGeom>
          <a:solidFill>
            <a:srgbClr val="DBEAFE"/>
          </a:solidFill>
          <a:ln cap="flat" cmpd="sng" w="12700">
            <a:solidFill>
              <a:srgbClr val="DBEA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4" name="Google Shape;454;p15"/>
          <p:cNvSpPr/>
          <p:nvPr/>
        </p:nvSpPr>
        <p:spPr>
          <a:xfrm>
            <a:off x="6373368" y="3401568"/>
            <a:ext cx="467258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однопоточный и многопоточный batch-режимы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5"/>
          <p:cNvSpPr/>
          <p:nvPr/>
        </p:nvSpPr>
        <p:spPr>
          <a:xfrm>
            <a:off x="822960" y="4288536"/>
            <a:ext cx="4892040" cy="475488"/>
          </a:xfrm>
          <a:prstGeom prst="roundRect">
            <a:avLst>
              <a:gd fmla="val 15385" name="adj"/>
            </a:avLst>
          </a:prstGeom>
          <a:solidFill>
            <a:srgbClr val="D1FAE5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15"/>
          <p:cNvSpPr/>
          <p:nvPr/>
        </p:nvSpPr>
        <p:spPr>
          <a:xfrm>
            <a:off x="932688" y="4389120"/>
            <a:ext cx="467258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сохранение и просмотр агрегированных результатов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5"/>
          <p:cNvSpPr/>
          <p:nvPr/>
        </p:nvSpPr>
        <p:spPr>
          <a:xfrm>
            <a:off x="6263640" y="4288536"/>
            <a:ext cx="4892040" cy="475488"/>
          </a:xfrm>
          <a:prstGeom prst="roundRect">
            <a:avLst>
              <a:gd fmla="val 15385" name="adj"/>
            </a:avLst>
          </a:prstGeom>
          <a:solidFill>
            <a:srgbClr val="DBEAFE"/>
          </a:solidFill>
          <a:ln cap="flat" cmpd="sng" w="12700">
            <a:solidFill>
              <a:srgbClr val="DBEA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8" name="Google Shape;458;p15"/>
          <p:cNvSpPr/>
          <p:nvPr/>
        </p:nvSpPr>
        <p:spPr>
          <a:xfrm>
            <a:off x="6373368" y="4389120"/>
            <a:ext cx="467258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WPF-клиент для запуска расчётов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15"/>
          <p:cNvSpPr/>
          <p:nvPr/>
        </p:nvSpPr>
        <p:spPr>
          <a:xfrm>
            <a:off x="502920" y="644652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StatHammer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15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AFB"/>
        </a:solidFill>
      </p:bgPr>
    </p:bg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 cap="flat" cmpd="sng" w="12700">
            <a:solidFill>
              <a:srgbClr val="F9FA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7" name="Google Shape;467;p16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91B1B"/>
          </a:solidFill>
          <a:ln cap="flat" cmpd="sng" w="12700">
            <a:solidFill>
              <a:srgbClr val="991B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8" name="Google Shape;468;p1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11827"/>
          </a:solidFill>
          <a:ln cap="flat" cmpd="sng" w="12700">
            <a:solidFill>
              <a:srgbClr val="11182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9" name="Google Shape;469;p16"/>
          <p:cNvSpPr/>
          <p:nvPr/>
        </p:nvSpPr>
        <p:spPr>
          <a:xfrm>
            <a:off x="502920" y="320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700"/>
              <a:buFont typeface="Calibri"/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Планы развития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16"/>
          <p:cNvSpPr/>
          <p:nvPr/>
        </p:nvSpPr>
        <p:spPr>
          <a:xfrm>
            <a:off x="530352" y="841248"/>
            <a:ext cx="10698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Что можно расширить после предзащиты и перед основной защитой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6"/>
          <p:cNvSpPr/>
          <p:nvPr/>
        </p:nvSpPr>
        <p:spPr>
          <a:xfrm>
            <a:off x="822960" y="1234440"/>
            <a:ext cx="10515600" cy="603504"/>
          </a:xfrm>
          <a:prstGeom prst="roundRect">
            <a:avLst>
              <a:gd fmla="val 9091" name="adj"/>
            </a:avLst>
          </a:prstGeom>
          <a:solidFill>
            <a:srgbClr val="F3F4F6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p16"/>
          <p:cNvSpPr/>
          <p:nvPr/>
        </p:nvSpPr>
        <p:spPr>
          <a:xfrm>
            <a:off x="1051560" y="1380744"/>
            <a:ext cx="2103120" cy="310896"/>
          </a:xfrm>
          <a:prstGeom prst="roundRect">
            <a:avLst>
              <a:gd fmla="val 23529" name="adj"/>
            </a:avLst>
          </a:prstGeom>
          <a:solidFill>
            <a:srgbClr val="EDE9FE"/>
          </a:solidFill>
          <a:ln cap="flat" cmpd="sng" w="12700">
            <a:solidFill>
              <a:srgbClr val="EDE9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3" name="Google Shape;473;p16"/>
          <p:cNvSpPr/>
          <p:nvPr/>
        </p:nvSpPr>
        <p:spPr>
          <a:xfrm>
            <a:off x="1124712" y="1440180"/>
            <a:ext cx="195681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Настройки симуляции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6"/>
          <p:cNvSpPr/>
          <p:nvPr/>
        </p:nvSpPr>
        <p:spPr>
          <a:xfrm>
            <a:off x="3429000" y="1399032"/>
            <a:ext cx="7589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80"/>
              <a:buFont typeface="Calibri"/>
              <a:buNone/>
            </a:pPr>
            <a:r>
              <a:rPr b="0" i="0" lang="en-US" sz="138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+1 к BS/WS, AP, Save, дистанция, стремление в ближний бой</a:t>
            </a:r>
            <a:endParaRPr b="0" i="0" sz="13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6"/>
          <p:cNvSpPr/>
          <p:nvPr/>
        </p:nvSpPr>
        <p:spPr>
          <a:xfrm>
            <a:off x="822960" y="2103120"/>
            <a:ext cx="10515600" cy="603504"/>
          </a:xfrm>
          <a:prstGeom prst="roundRect">
            <a:avLst>
              <a:gd fmla="val 9091" name="adj"/>
            </a:avLst>
          </a:prstGeom>
          <a:solidFill>
            <a:srgbClr val="FFFFFF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6" name="Google Shape;476;p16"/>
          <p:cNvSpPr/>
          <p:nvPr/>
        </p:nvSpPr>
        <p:spPr>
          <a:xfrm>
            <a:off x="1051560" y="2249424"/>
            <a:ext cx="2103120" cy="310896"/>
          </a:xfrm>
          <a:prstGeom prst="roundRect">
            <a:avLst>
              <a:gd fmla="val 23529" name="adj"/>
            </a:avLst>
          </a:prstGeom>
          <a:solidFill>
            <a:srgbClr val="FEF3C7"/>
          </a:solidFill>
          <a:ln cap="flat" cmpd="sng" w="12700">
            <a:solidFill>
              <a:srgbClr val="FEF3C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7" name="Google Shape;477;p16"/>
          <p:cNvSpPr/>
          <p:nvPr/>
        </p:nvSpPr>
        <p:spPr>
          <a:xfrm>
            <a:off x="1124712" y="2308860"/>
            <a:ext cx="195681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Loadout редактор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6"/>
          <p:cNvSpPr/>
          <p:nvPr/>
        </p:nvSpPr>
        <p:spPr>
          <a:xfrm>
            <a:off x="3429000" y="2267712"/>
            <a:ext cx="7589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80"/>
              <a:buFont typeface="Calibri"/>
              <a:buNone/>
            </a:pPr>
            <a:r>
              <a:rPr b="0" i="0" lang="en-US" sz="138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фактическое количество моделей и выбор специального оружия</a:t>
            </a:r>
            <a:endParaRPr b="0" i="0" sz="13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6"/>
          <p:cNvSpPr/>
          <p:nvPr/>
        </p:nvSpPr>
        <p:spPr>
          <a:xfrm>
            <a:off x="822960" y="2971800"/>
            <a:ext cx="10515600" cy="603504"/>
          </a:xfrm>
          <a:prstGeom prst="roundRect">
            <a:avLst>
              <a:gd fmla="val 9091" name="adj"/>
            </a:avLst>
          </a:prstGeom>
          <a:solidFill>
            <a:srgbClr val="F3F4F6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16"/>
          <p:cNvSpPr/>
          <p:nvPr/>
        </p:nvSpPr>
        <p:spPr>
          <a:xfrm>
            <a:off x="1051560" y="3118104"/>
            <a:ext cx="2103120" cy="310896"/>
          </a:xfrm>
          <a:prstGeom prst="roundRect">
            <a:avLst>
              <a:gd fmla="val 23529" name="adj"/>
            </a:avLst>
          </a:prstGeom>
          <a:solidFill>
            <a:srgbClr val="EDE9FE"/>
          </a:solidFill>
          <a:ln cap="flat" cmpd="sng" w="12700">
            <a:solidFill>
              <a:srgbClr val="EDE9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1" name="Google Shape;481;p16"/>
          <p:cNvSpPr/>
          <p:nvPr/>
        </p:nvSpPr>
        <p:spPr>
          <a:xfrm>
            <a:off x="1124712" y="3177540"/>
            <a:ext cx="195681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Массовые запуски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6"/>
          <p:cNvSpPr/>
          <p:nvPr/>
        </p:nvSpPr>
        <p:spPr>
          <a:xfrm>
            <a:off x="3429000" y="3136392"/>
            <a:ext cx="7589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80"/>
              <a:buFont typeface="Calibri"/>
              <a:buNone/>
            </a:pPr>
            <a:r>
              <a:rPr b="0" i="0" lang="en-US" sz="138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сравнение одного юнита со всеми юнитами по ключевым словам</a:t>
            </a:r>
            <a:endParaRPr b="0" i="0" sz="13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16"/>
          <p:cNvSpPr/>
          <p:nvPr/>
        </p:nvSpPr>
        <p:spPr>
          <a:xfrm>
            <a:off x="822960" y="3840480"/>
            <a:ext cx="10515600" cy="603504"/>
          </a:xfrm>
          <a:prstGeom prst="roundRect">
            <a:avLst>
              <a:gd fmla="val 9091" name="adj"/>
            </a:avLst>
          </a:prstGeom>
          <a:solidFill>
            <a:srgbClr val="FFFFFF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4" name="Google Shape;484;p16"/>
          <p:cNvSpPr/>
          <p:nvPr/>
        </p:nvSpPr>
        <p:spPr>
          <a:xfrm>
            <a:off x="1051560" y="3986784"/>
            <a:ext cx="2103120" cy="310896"/>
          </a:xfrm>
          <a:prstGeom prst="roundRect">
            <a:avLst>
              <a:gd fmla="val 23529" name="adj"/>
            </a:avLst>
          </a:prstGeom>
          <a:solidFill>
            <a:srgbClr val="FEF3C7"/>
          </a:solidFill>
          <a:ln cap="flat" cmpd="sng" w="12700">
            <a:solidFill>
              <a:srgbClr val="FEF3C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5" name="Google Shape;485;p16"/>
          <p:cNvSpPr/>
          <p:nvPr/>
        </p:nvSpPr>
        <p:spPr>
          <a:xfrm>
            <a:off x="1124712" y="4046220"/>
            <a:ext cx="195681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Расчёт до сходимости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16"/>
          <p:cNvSpPr/>
          <p:nvPr/>
        </p:nvSpPr>
        <p:spPr>
          <a:xfrm>
            <a:off x="3429000" y="4005072"/>
            <a:ext cx="7589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80"/>
              <a:buFont typeface="Calibri"/>
              <a:buNone/>
            </a:pPr>
            <a:r>
              <a:rPr b="0" i="0" lang="en-US" sz="138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остановка при стабилизации среднего результата</a:t>
            </a:r>
            <a:endParaRPr b="0" i="0" sz="13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16"/>
          <p:cNvSpPr/>
          <p:nvPr/>
        </p:nvSpPr>
        <p:spPr>
          <a:xfrm>
            <a:off x="822960" y="4709160"/>
            <a:ext cx="10515600" cy="603504"/>
          </a:xfrm>
          <a:prstGeom prst="roundRect">
            <a:avLst>
              <a:gd fmla="val 9091" name="adj"/>
            </a:avLst>
          </a:prstGeom>
          <a:solidFill>
            <a:srgbClr val="F3F4F6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8" name="Google Shape;488;p16"/>
          <p:cNvSpPr/>
          <p:nvPr/>
        </p:nvSpPr>
        <p:spPr>
          <a:xfrm>
            <a:off x="1051560" y="4855464"/>
            <a:ext cx="2103120" cy="310896"/>
          </a:xfrm>
          <a:prstGeom prst="roundRect">
            <a:avLst>
              <a:gd fmla="val 23529" name="adj"/>
            </a:avLst>
          </a:prstGeom>
          <a:solidFill>
            <a:srgbClr val="EDE9FE"/>
          </a:solidFill>
          <a:ln cap="flat" cmpd="sng" w="12700">
            <a:solidFill>
              <a:srgbClr val="EDE9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16"/>
          <p:cNvSpPr/>
          <p:nvPr/>
        </p:nvSpPr>
        <p:spPr>
          <a:xfrm>
            <a:off x="1124712" y="4914900"/>
            <a:ext cx="1956816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Визуализация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16"/>
          <p:cNvSpPr/>
          <p:nvPr/>
        </p:nvSpPr>
        <p:spPr>
          <a:xfrm>
            <a:off x="3429000" y="4873752"/>
            <a:ext cx="7589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80"/>
              <a:buFont typeface="Calibri"/>
              <a:buNone/>
            </a:pPr>
            <a:r>
              <a:rPr b="0" i="0" lang="en-US" sz="138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графики, экспорт отчёта, сравнение запусков</a:t>
            </a:r>
            <a:endParaRPr b="0" i="0" sz="13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16"/>
          <p:cNvSpPr/>
          <p:nvPr/>
        </p:nvSpPr>
        <p:spPr>
          <a:xfrm>
            <a:off x="502920" y="644652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StatHammer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6"/>
          <p:cNvSpPr/>
          <p:nvPr/>
        </p:nvSpPr>
        <p:spPr>
          <a:xfrm>
            <a:off x="11292840" y="6446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827"/>
        </a:solidFill>
      </p:bgPr>
    </p:bg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 cap="flat" cmpd="sng" w="12700">
            <a:solidFill>
              <a:srgbClr val="11182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9" name="Google Shape;499;p17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91B1B"/>
          </a:solidFill>
          <a:ln cap="flat" cmpd="sng" w="12700">
            <a:solidFill>
              <a:srgbClr val="991B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0" name="Google Shape;500;p17"/>
          <p:cNvSpPr/>
          <p:nvPr/>
        </p:nvSpPr>
        <p:spPr>
          <a:xfrm>
            <a:off x="749808" y="109728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Контакты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17"/>
          <p:cNvSpPr/>
          <p:nvPr/>
        </p:nvSpPr>
        <p:spPr>
          <a:xfrm>
            <a:off x="786384" y="2011680"/>
            <a:ext cx="676656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2100"/>
              <a:buFont typeface="Calibri"/>
              <a:buNone/>
            </a:pPr>
            <a:r>
              <a:rPr lang="en-US" sz="21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Большаков </a:t>
            </a:r>
            <a:r>
              <a:rPr b="0" i="0" lang="en-US" sz="2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Никита Андреевич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2100"/>
              <a:buFont typeface="Calibri"/>
              <a:buNone/>
            </a:pPr>
            <a:r>
              <a:rPr b="0" i="0" lang="en-US" sz="2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Email: bolnick09rus@gmail.com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5E7EB"/>
              </a:buClr>
              <a:buSzPts val="2100"/>
              <a:buFont typeface="Calibri"/>
              <a:buNone/>
            </a:pPr>
            <a:r>
              <a:rPr b="0" i="0" lang="en-US" sz="2100" u="none" cap="none" strike="noStrike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GitHub: </a:t>
            </a:r>
            <a:r>
              <a:rPr lang="en-US" sz="21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https://github.com/BolNick09/StatHammer.git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7"/>
          <p:cNvSpPr/>
          <p:nvPr/>
        </p:nvSpPr>
        <p:spPr>
          <a:xfrm>
            <a:off x="786384" y="5303520"/>
            <a:ext cx="6858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Спасибо за внимание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2026-06-15T18:18:18Z</dcterms:created>
  <dc:creator>StatHammer</dc:creator>
</cp:coreProperties>
</file>