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harbfQEYbbpYXAVs4aKxEcWf71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779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5" name="Google Shape;35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1" name="Google Shape;40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1" name="Google Shape;43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9" name="Google Shape;45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1" name="Google Shape;49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91B1B"/>
          </a:solidFill>
          <a:ln w="12700" cap="flat" cmpd="sng">
            <a:solidFill>
              <a:srgbClr val="991B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13232" y="1051560"/>
            <a:ext cx="6766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lang="en-US" sz="4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StatHammer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49808" y="1901952"/>
            <a:ext cx="8686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Разработка программной системы для статистического моделирования боевых сценариев настольной игры «Warhammer 40000» 10 </a:t>
            </a:r>
            <a:r>
              <a:rPr lang="en-US" sz="2200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редакции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68096" y="4709160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Дипломный проект по направлению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«Разработка программного обеспечения»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498080" y="470916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Студент: Большаков Никита Андрееви</a:t>
            </a:r>
            <a:r>
              <a:rPr lang="en-US" sz="160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ч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Группа</a:t>
            </a:r>
            <a:r>
              <a:rPr lang="en-US" sz="160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60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ПВ311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68096" y="589788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C# • ASP.NET Core • EF Core • Razor Pages • WPF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2" tIns="0" rIns="27432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>
                <a:solidFill>
                  <a:srgbClr val="475569"/>
                </a:solidFill>
                <a:latin typeface="Calibri"/>
              </a:rPr>
              <a:t>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 cap="flat" cmpd="sng">
            <a:solidFill>
              <a:srgbClr val="F9FA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91B1B"/>
          </a:solidFill>
          <a:ln w="12700" cap="flat" cmpd="sng">
            <a:solidFill>
              <a:srgbClr val="991B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Оглавление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30352" y="841248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Структура защиты проекта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85800" y="1417320"/>
            <a:ext cx="438912" cy="438912"/>
          </a:xfrm>
          <a:prstGeom prst="ellipse">
            <a:avLst/>
          </a:prstGeom>
          <a:solidFill>
            <a:srgbClr val="991B1B"/>
          </a:solidFill>
          <a:ln w="12700" cap="flat" cmpd="sng">
            <a:solidFill>
              <a:srgbClr val="991B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685800" y="1527048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325880" y="138988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Тема и обоснование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325880" y="1709928"/>
            <a:ext cx="530352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задача, актуальность, ценность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85800" y="2167128"/>
            <a:ext cx="438912" cy="438912"/>
          </a:xfrm>
          <a:prstGeom prst="ellipse">
            <a:avLst/>
          </a:prstGeom>
          <a:solidFill>
            <a:srgbClr val="991B1B"/>
          </a:solidFill>
          <a:ln w="12700" cap="flat" cmpd="sng">
            <a:solidFill>
              <a:srgbClr val="991B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85800" y="227685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325880" y="213969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Технологии и ПО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325880" y="2459736"/>
            <a:ext cx="530352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стек разработки и инструменты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85800" y="2916936"/>
            <a:ext cx="438912" cy="438912"/>
          </a:xfrm>
          <a:prstGeom prst="ellipse">
            <a:avLst/>
          </a:prstGeom>
          <a:solidFill>
            <a:srgbClr val="991B1B"/>
          </a:solidFill>
          <a:ln w="12700" cap="flat" cmpd="sng">
            <a:solidFill>
              <a:srgbClr val="991B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85800" y="3026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325880" y="288950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Архитектура системы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325880" y="3209544"/>
            <a:ext cx="530352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сервер, клиенты, БД, сервисы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85800" y="3666744"/>
            <a:ext cx="438912" cy="438912"/>
          </a:xfrm>
          <a:prstGeom prst="ellipse">
            <a:avLst/>
          </a:prstGeom>
          <a:solidFill>
            <a:srgbClr val="991B1B"/>
          </a:solidFill>
          <a:ln w="12700" cap="flat" cmpd="sng">
            <a:solidFill>
              <a:srgbClr val="991B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685800" y="377647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325880" y="363931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Демонстрация работы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325880" y="3959352"/>
            <a:ext cx="530352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web-клиент и WPF-клиент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85800" y="4416552"/>
            <a:ext cx="438912" cy="438912"/>
          </a:xfrm>
          <a:prstGeom prst="ellipse">
            <a:avLst/>
          </a:prstGeom>
          <a:solidFill>
            <a:srgbClr val="991B1B"/>
          </a:solidFill>
          <a:ln w="12700" cap="flat" cmpd="sng">
            <a:solidFill>
              <a:srgbClr val="991B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685800" y="4526280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325880" y="43891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Диаграммы проекта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325880" y="4709160"/>
            <a:ext cx="530352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прецеденты, классы, БД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85800" y="5166360"/>
            <a:ext cx="438912" cy="438912"/>
          </a:xfrm>
          <a:prstGeom prst="ellipse">
            <a:avLst/>
          </a:prstGeom>
          <a:solidFill>
            <a:srgbClr val="991B1B"/>
          </a:solidFill>
          <a:ln w="12700" cap="flat" cmpd="sng">
            <a:solidFill>
              <a:srgbClr val="991B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685800" y="5276088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325880" y="513892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Результаты и контакты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325880" y="5458968"/>
            <a:ext cx="530352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производительность и ссылка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949440" y="1353312"/>
            <a:ext cx="4480560" cy="4389120"/>
          </a:xfrm>
          <a:prstGeom prst="roundRect">
            <a:avLst>
              <a:gd name="adj" fmla="val 1250"/>
            </a:avLst>
          </a:prstGeom>
          <a:solidFill>
            <a:srgbClr val="111827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7269480" y="16916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Логика рассказа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7269480" y="2240280"/>
            <a:ext cx="3703320" cy="233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почему система нужна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как она устроена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как работает расчёт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что уже реализовано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как подтверждена производительность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2" tIns="0" rIns="27432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>
                <a:solidFill>
                  <a:srgbClr val="475569"/>
                </a:solidFill>
                <a:latin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91B1B"/>
          </a:solidFill>
          <a:ln w="12700" cap="flat" cmpd="sng">
            <a:solidFill>
              <a:srgbClr val="991B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Обоснование выбора темы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30352" y="841248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Задача, актуальность, ценность и целевая аудитория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85800" y="1417320"/>
            <a:ext cx="50749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14400" y="1618488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987552" y="1677924"/>
            <a:ext cx="136245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Задача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914400" y="210312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Автоматизировать оценку исходов боевых столкновений двух игровых юнитов с учётом случайности бросков кубиков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263640" y="1417320"/>
            <a:ext cx="50749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6492240" y="1618488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6565392" y="1677924"/>
            <a:ext cx="136245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Актуальность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492240" y="210312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Calibri"/>
              <a:buNone/>
            </a:pPr>
            <a:r>
              <a:rPr lang="ru-RU" sz="16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Наглядные результаты работы теории вероятностей помогут лучше ориентироваться в эффективности игровых юнитов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85800" y="3794760"/>
            <a:ext cx="50749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914400" y="3995928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987552" y="4055364"/>
            <a:ext cx="136245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Ценность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914400" y="448056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Система быстро выдаёт статистику: средний урон, выживаемость, победы, вклад оружия по ходам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263640" y="3794760"/>
            <a:ext cx="50749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6492240" y="3995928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6565392" y="4055364"/>
            <a:ext cx="136245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Аудитория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492240" y="448056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Игроки Warhammer 40000, разработчики ростеров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2" tIns="0" rIns="27432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>
                <a:solidFill>
                  <a:srgbClr val="475569"/>
                </a:solidFill>
                <a:latin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 cap="flat" cmpd="sng">
            <a:solidFill>
              <a:srgbClr val="F9FA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91B1B"/>
          </a:solidFill>
          <a:ln w="12700" cap="flat" cmpd="sng">
            <a:solidFill>
              <a:srgbClr val="991B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Цель и задачи проекта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30352" y="841248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Что должна делать система StatHammer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85800" y="1298448"/>
            <a:ext cx="4937760" cy="4480560"/>
          </a:xfrm>
          <a:prstGeom prst="roundRect">
            <a:avLst>
              <a:gd name="adj" fmla="val 1224"/>
            </a:avLst>
          </a:prstGeom>
          <a:solidFill>
            <a:srgbClr val="111827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1005840" y="1645920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Цель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005840" y="2148840"/>
            <a:ext cx="425196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 err="1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Создать</a:t>
            </a:r>
            <a:r>
              <a:rPr lang="en-US" sz="1800" b="0" i="0" u="none" strike="noStrike" cap="none" dirty="0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программную</a:t>
            </a:r>
            <a:r>
              <a:rPr lang="en-US" sz="1800" b="0" i="0" u="none" strike="noStrike" cap="none" dirty="0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систему</a:t>
            </a:r>
            <a:r>
              <a:rPr lang="en-US" sz="1800" b="0" i="0" u="none" strike="noStrike" cap="none" dirty="0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для</a:t>
            </a:r>
            <a:r>
              <a:rPr lang="en-US" sz="1800" b="0" i="0" u="none" strike="noStrike" cap="none" dirty="0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многократного</a:t>
            </a:r>
            <a:r>
              <a:rPr lang="en-US" sz="1800" b="0" i="0" u="none" strike="noStrike" cap="none" dirty="0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статистического</a:t>
            </a:r>
            <a:r>
              <a:rPr lang="en-US" sz="1800" b="0" i="0" u="none" strike="noStrike" cap="none" dirty="0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моделирования</a:t>
            </a:r>
            <a:r>
              <a:rPr lang="en-US" sz="1800" b="0" i="0" u="none" strike="noStrike" cap="none" dirty="0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боевых</a:t>
            </a:r>
            <a:r>
              <a:rPr lang="en-US" sz="1800" b="0" i="0" u="none" strike="noStrike" cap="none" dirty="0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сценариев</a:t>
            </a:r>
            <a:r>
              <a:rPr lang="en-US" sz="1800" b="0" i="0" u="none" strike="noStrike" cap="none" dirty="0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с </a:t>
            </a:r>
            <a:r>
              <a:rPr lang="en-US" sz="1800" b="0" i="0" u="none" strike="noStrike" cap="none" dirty="0" err="1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хранением</a:t>
            </a:r>
            <a:r>
              <a:rPr lang="en-US" sz="1800" b="0" i="0" u="none" strike="noStrike" cap="none" dirty="0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игровых</a:t>
            </a:r>
            <a:r>
              <a:rPr lang="en-US" sz="1800" b="0" i="0" u="none" strike="noStrike" cap="none" dirty="0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данных</a:t>
            </a:r>
            <a:r>
              <a:rPr lang="en-US" sz="1800" b="0" i="0" u="none" strike="noStrike" cap="none" dirty="0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en-US" sz="1800" b="0" i="0" u="none" strike="noStrike" cap="none" dirty="0" err="1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выводом</a:t>
            </a:r>
            <a:r>
              <a:rPr lang="en-US" sz="1800" b="0" i="0" u="none" strike="noStrike" cap="none" dirty="0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усреднённых</a:t>
            </a:r>
            <a:r>
              <a:rPr lang="en-US" sz="1800" b="0" i="0" u="none" strike="noStrike" cap="none" dirty="0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результатов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4"/>
          <p:cNvCxnSpPr/>
          <p:nvPr/>
        </p:nvCxnSpPr>
        <p:spPr>
          <a:xfrm>
            <a:off x="1005840" y="3886200"/>
            <a:ext cx="4114800" cy="0"/>
          </a:xfrm>
          <a:prstGeom prst="straightConnector1">
            <a:avLst/>
          </a:prstGeom>
          <a:noFill/>
          <a:ln w="25400" cap="flat" cmpd="sng">
            <a:solidFill>
              <a:srgbClr val="991B1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6" name="Google Shape;106;p4"/>
          <p:cNvSpPr/>
          <p:nvPr/>
        </p:nvSpPr>
        <p:spPr>
          <a:xfrm>
            <a:off x="1005840" y="416052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Ключев</a:t>
            </a:r>
            <a:r>
              <a:rPr lang="ru-RU" sz="1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ая</a:t>
            </a:r>
            <a:r>
              <a:rPr lang="en-US" sz="1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1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технология</a:t>
            </a:r>
            <a:r>
              <a:rPr lang="en-US" sz="1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многопоточный</a:t>
            </a:r>
            <a:r>
              <a:rPr lang="en-US" sz="1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режим</a:t>
            </a:r>
            <a:r>
              <a:rPr lang="en-US" sz="1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расчёта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172200" y="1417320"/>
            <a:ext cx="516636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проектирование базы данных игровых сущностей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реализация API и серверной бизнес-логики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создание симуляционного ядра и агрегатора статистики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реализация web-интерфейса администратора и пользователя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создание WPF-клиента для запуска симуляций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замеры и оптимизация производительности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2" tIns="0" rIns="27432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>
                <a:solidFill>
                  <a:srgbClr val="475569"/>
                </a:solidFill>
                <a:latin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 cap="flat" cmpd="sng">
            <a:solidFill>
              <a:srgbClr val="F9FA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91B1B"/>
          </a:solidFill>
          <a:ln w="12700" cap="flat" cmpd="sng">
            <a:solidFill>
              <a:srgbClr val="991B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Технологии, сервисы и ПО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30352" y="841248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Стек выбран с упором на C#, серверную архитектуру и быстрый MVP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21792" y="1371600"/>
            <a:ext cx="2578608" cy="438912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877824" y="1627632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950976" y="1687068"/>
            <a:ext cx="191109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877824" y="2148840"/>
            <a:ext cx="2066544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70"/>
              <a:buFont typeface="Calibri"/>
              <a:buNone/>
            </a:pPr>
            <a:r>
              <a:rPr lang="en-US" sz="127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ASP.NET Core Web API</a:t>
            </a:r>
            <a:endParaRPr sz="12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70"/>
              <a:buFont typeface="Calibri"/>
              <a:buNone/>
            </a:pPr>
            <a:r>
              <a:rPr lang="en-US" sz="127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REST-контроллеры</a:t>
            </a:r>
            <a:endParaRPr sz="12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70"/>
              <a:buFont typeface="Calibri"/>
              <a:buNone/>
            </a:pPr>
            <a:r>
              <a:rPr lang="en-US" sz="127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Swagger / OpenAPI</a:t>
            </a:r>
            <a:endParaRPr sz="12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70"/>
              <a:buFont typeface="Calibri"/>
              <a:buNone/>
            </a:pPr>
            <a:r>
              <a:rPr lang="en-US" sz="127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ILogger</a:t>
            </a:r>
            <a:endParaRPr sz="12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502152" y="1371600"/>
            <a:ext cx="2578608" cy="438912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3758184" y="1627632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3831336" y="1687068"/>
            <a:ext cx="191109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Данные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3758184" y="2148840"/>
            <a:ext cx="2066544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70"/>
              <a:buFont typeface="Calibri"/>
              <a:buNone/>
            </a:pPr>
            <a:r>
              <a:rPr lang="en-US" sz="127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Entity Framework Core</a:t>
            </a:r>
            <a:endParaRPr sz="12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70"/>
              <a:buFont typeface="Calibri"/>
              <a:buNone/>
            </a:pPr>
            <a:r>
              <a:rPr lang="en-US" sz="127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SQLite (на этапе отладки)</a:t>
            </a:r>
            <a:endParaRPr sz="12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70"/>
              <a:buFont typeface="Calibri"/>
              <a:buNone/>
            </a:pPr>
            <a:r>
              <a:rPr lang="en-US" sz="127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миграции EF Core</a:t>
            </a:r>
            <a:endParaRPr sz="12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382512" y="1371600"/>
            <a:ext cx="2578608" cy="438912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6638544" y="1627632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EDE9FE"/>
          </a:solidFill>
          <a:ln w="12700" cap="flat" cmpd="sng">
            <a:solidFill>
              <a:srgbClr val="EDE9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6711696" y="1687068"/>
            <a:ext cx="191109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Клиенты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638544" y="2148840"/>
            <a:ext cx="2066544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70"/>
              <a:buFont typeface="Calibri"/>
              <a:buNone/>
            </a:pPr>
            <a:r>
              <a:rPr lang="en-US" sz="127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Razor Pages web-клиент</a:t>
            </a:r>
            <a:endParaRPr sz="12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70"/>
              <a:buFont typeface="Calibri"/>
              <a:buNone/>
            </a:pPr>
            <a:r>
              <a:rPr lang="en-US" sz="127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WPF desktop-клиент</a:t>
            </a:r>
            <a:endParaRPr sz="12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70"/>
              <a:buFont typeface="Calibri"/>
              <a:buNone/>
            </a:pPr>
            <a:r>
              <a:rPr lang="en-US" sz="127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MVVM в WPF</a:t>
            </a:r>
            <a:endParaRPr sz="12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70"/>
              <a:buFont typeface="Calibri"/>
              <a:buNone/>
            </a:pPr>
            <a:r>
              <a:rPr lang="en-US" sz="127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JWT для desktop</a:t>
            </a:r>
            <a:endParaRPr sz="12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9262872" y="1371600"/>
            <a:ext cx="2578608" cy="438912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9518904" y="1627632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9592056" y="1687068"/>
            <a:ext cx="191109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Безопасность и ПО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9518904" y="2148840"/>
            <a:ext cx="2066544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70"/>
              <a:buFont typeface="Calibri"/>
              <a:buNone/>
            </a:pPr>
            <a:r>
              <a:rPr lang="en-US" sz="127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ASP.NET Core Identity</a:t>
            </a:r>
            <a:endParaRPr sz="12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70"/>
              <a:buFont typeface="Calibri"/>
              <a:buNone/>
            </a:pPr>
            <a:r>
              <a:rPr lang="en-US" sz="127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роли Admin/User</a:t>
            </a:r>
            <a:endParaRPr sz="12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70"/>
              <a:buFont typeface="Calibri"/>
              <a:buNone/>
            </a:pPr>
            <a:r>
              <a:rPr lang="en-US" sz="127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Visual Studio 2022</a:t>
            </a:r>
            <a:endParaRPr sz="12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70"/>
              <a:buFont typeface="Calibri"/>
              <a:buNone/>
            </a:pPr>
            <a:r>
              <a:rPr lang="en-US" sz="127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DB Browser for SQLite</a:t>
            </a:r>
            <a:endParaRPr sz="12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2" tIns="0" rIns="27432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>
                <a:solidFill>
                  <a:srgbClr val="475569"/>
                </a:solidFill>
                <a:latin typeface="Calibri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 cap="flat" cmpd="sng">
            <a:solidFill>
              <a:srgbClr val="F9FA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91B1B"/>
          </a:solidFill>
          <a:ln w="12700" cap="flat" cmpd="sng">
            <a:solidFill>
              <a:srgbClr val="991B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Общая архитектура системы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530352" y="841248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Клиенты обращаются к серверу; сервер управляет БД и запускает симуляции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6"/>
          <p:cNvCxnSpPr/>
          <p:nvPr/>
        </p:nvCxnSpPr>
        <p:spPr>
          <a:xfrm>
            <a:off x="2834640" y="1874520"/>
            <a:ext cx="1737360" cy="594360"/>
          </a:xfrm>
          <a:prstGeom prst="straightConnector1">
            <a:avLst/>
          </a:prstGeom>
          <a:noFill/>
          <a:ln w="15225" cap="flat" cmpd="sng">
            <a:solidFill>
              <a:srgbClr val="6B728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9" name="Google Shape;149;p6"/>
          <p:cNvCxnSpPr/>
          <p:nvPr/>
        </p:nvCxnSpPr>
        <p:spPr>
          <a:xfrm rot="10800000" flipH="1">
            <a:off x="2834640" y="2834640"/>
            <a:ext cx="1737360" cy="137160"/>
          </a:xfrm>
          <a:prstGeom prst="straightConnector1">
            <a:avLst/>
          </a:prstGeom>
          <a:noFill/>
          <a:ln w="15225" cap="flat" cmpd="sng">
            <a:solidFill>
              <a:srgbClr val="6B728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0" name="Google Shape;150;p6"/>
          <p:cNvCxnSpPr/>
          <p:nvPr/>
        </p:nvCxnSpPr>
        <p:spPr>
          <a:xfrm rot="10800000" flipH="1">
            <a:off x="2834640" y="3200400"/>
            <a:ext cx="1737360" cy="868680"/>
          </a:xfrm>
          <a:prstGeom prst="straightConnector1">
            <a:avLst/>
          </a:prstGeom>
          <a:noFill/>
          <a:ln w="15225" cap="flat" cmpd="sng">
            <a:solidFill>
              <a:srgbClr val="6B728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1" name="Google Shape;151;p6"/>
          <p:cNvCxnSpPr/>
          <p:nvPr/>
        </p:nvCxnSpPr>
        <p:spPr>
          <a:xfrm rot="10800000" flipH="1">
            <a:off x="6629400" y="2148840"/>
            <a:ext cx="1280160" cy="685800"/>
          </a:xfrm>
          <a:prstGeom prst="straightConnector1">
            <a:avLst/>
          </a:prstGeom>
          <a:noFill/>
          <a:ln w="15225" cap="flat" cmpd="sng">
            <a:solidFill>
              <a:srgbClr val="6B728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2" name="Google Shape;152;p6"/>
          <p:cNvCxnSpPr/>
          <p:nvPr/>
        </p:nvCxnSpPr>
        <p:spPr>
          <a:xfrm>
            <a:off x="6629400" y="2834640"/>
            <a:ext cx="1280160" cy="411480"/>
          </a:xfrm>
          <a:prstGeom prst="straightConnector1">
            <a:avLst/>
          </a:prstGeom>
          <a:noFill/>
          <a:ln w="15225" cap="flat" cmpd="sng">
            <a:solidFill>
              <a:srgbClr val="6B728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3" name="Google Shape;153;p6"/>
          <p:cNvCxnSpPr/>
          <p:nvPr/>
        </p:nvCxnSpPr>
        <p:spPr>
          <a:xfrm>
            <a:off x="6629400" y="2834640"/>
            <a:ext cx="1280160" cy="1508760"/>
          </a:xfrm>
          <a:prstGeom prst="straightConnector1">
            <a:avLst/>
          </a:prstGeom>
          <a:noFill/>
          <a:ln w="15225" cap="flat" cmpd="sng">
            <a:solidFill>
              <a:srgbClr val="6B728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4" name="Google Shape;154;p6"/>
          <p:cNvCxnSpPr/>
          <p:nvPr/>
        </p:nvCxnSpPr>
        <p:spPr>
          <a:xfrm>
            <a:off x="10012680" y="3246120"/>
            <a:ext cx="731520" cy="0"/>
          </a:xfrm>
          <a:prstGeom prst="straightConnector1">
            <a:avLst/>
          </a:prstGeom>
          <a:noFill/>
          <a:ln w="15225" cap="flat" cmpd="sng">
            <a:solidFill>
              <a:srgbClr val="6B728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5" name="Google Shape;155;p6"/>
          <p:cNvSpPr/>
          <p:nvPr/>
        </p:nvSpPr>
        <p:spPr>
          <a:xfrm>
            <a:off x="777240" y="1417320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832104" y="1472184"/>
            <a:ext cx="194767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Web-клиент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Razor Pages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777240" y="2514600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D1FAE5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832104" y="2569464"/>
            <a:ext cx="194767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WPF-клиент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JWT + API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777240" y="3611880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EF3C7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832104" y="3666744"/>
            <a:ext cx="194767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Swagger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тестирование API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572000" y="2240280"/>
            <a:ext cx="2057400" cy="10972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4626864" y="2295144"/>
            <a:ext cx="194767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ASP.NET Core Server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Controllers + PageServices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7909560" y="178308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7964424" y="1837944"/>
            <a:ext cx="1993392" cy="576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Identity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роли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7909560" y="288036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7964424" y="2935224"/>
            <a:ext cx="1993392" cy="576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Simulation Engine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многопоточный расчёт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7909560" y="397764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7964424" y="4032504"/>
            <a:ext cx="1993392" cy="576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EF Core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744200" y="2834640"/>
            <a:ext cx="1143000" cy="822960"/>
          </a:xfrm>
          <a:prstGeom prst="roundRect">
            <a:avLst>
              <a:gd name="adj" fmla="val 6667"/>
            </a:avLst>
          </a:prstGeom>
          <a:solidFill>
            <a:srgbClr val="E5E7E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10799064" y="2889504"/>
            <a:ext cx="103327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 fontScale="92500"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SQLite DB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 err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игровые</a:t>
            </a:r>
            <a:r>
              <a:rPr lang="en-US" sz="1300" b="1" i="0" u="none" strike="noStrike" cap="none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i="0" u="none" strike="noStrike" cap="none" dirty="0" err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данные</a:t>
            </a:r>
            <a:r>
              <a:rPr lang="en-US" sz="1300" b="1" i="0" u="none" strike="noStrike" cap="none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en-US" sz="1300" b="1" i="0" u="none" strike="noStrike" cap="none" dirty="0" err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результаты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2" tIns="0" rIns="27432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>
                <a:solidFill>
                  <a:srgbClr val="475569"/>
                </a:solidFill>
                <a:latin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9FAFB"/>
          </a:solidFill>
          <a:ln w="12700" cap="flat" cmpd="sng">
            <a:solidFill>
              <a:srgbClr val="F9FA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91B1B"/>
          </a:solidFill>
          <a:ln w="12700" cap="flat" cmpd="sng">
            <a:solidFill>
              <a:srgbClr val="991B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Диаграмма прецедентов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30352" y="841248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Основные сценарии использования системы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5497625" y="2473840"/>
            <a:ext cx="1508700" cy="594300"/>
          </a:xfrm>
          <a:prstGeom prst="roundRect">
            <a:avLst>
              <a:gd name="adj" fmla="val 9231"/>
            </a:avLst>
          </a:prstGeom>
          <a:solidFill>
            <a:srgbClr val="111827"/>
          </a:solidFill>
          <a:ln w="127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5552489" y="2528704"/>
            <a:ext cx="13989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Администратор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470163" y="3401993"/>
            <a:ext cx="1508700" cy="594300"/>
          </a:xfrm>
          <a:prstGeom prst="roundRect">
            <a:avLst>
              <a:gd name="adj" fmla="val 9231"/>
            </a:avLst>
          </a:prstGeom>
          <a:solidFill>
            <a:srgbClr val="111827"/>
          </a:solidFill>
          <a:ln w="127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5525052" y="3456894"/>
            <a:ext cx="13989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Пользователь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8527270" y="2245433"/>
            <a:ext cx="2423100" cy="502800"/>
          </a:xfrm>
          <a:prstGeom prst="roundRect">
            <a:avLst>
              <a:gd name="adj" fmla="val 10909"/>
            </a:avLst>
          </a:prstGeom>
          <a:solidFill>
            <a:srgbClr val="D1FAE5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8582134" y="2300297"/>
            <a:ext cx="23133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Вход / регистрация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8527270" y="3251273"/>
            <a:ext cx="2423100" cy="502800"/>
          </a:xfrm>
          <a:prstGeom prst="roundRect">
            <a:avLst>
              <a:gd name="adj" fmla="val 10909"/>
            </a:avLst>
          </a:prstGeom>
          <a:solidFill>
            <a:srgbClr val="D1FAE5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8582134" y="3306137"/>
            <a:ext cx="23133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Запуск симуляции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8527270" y="4257113"/>
            <a:ext cx="2423100" cy="502800"/>
          </a:xfrm>
          <a:prstGeom prst="roundRect">
            <a:avLst>
              <a:gd name="adj" fmla="val 10909"/>
            </a:avLst>
          </a:prstGeom>
          <a:solidFill>
            <a:srgbClr val="D1FAE5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8582134" y="4311977"/>
            <a:ext cx="23133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Выбор потоков и сохранения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8527270" y="5262953"/>
            <a:ext cx="2423100" cy="502800"/>
          </a:xfrm>
          <a:prstGeom prst="roundRect">
            <a:avLst>
              <a:gd name="adj" fmla="val 10909"/>
            </a:avLst>
          </a:prstGeom>
          <a:solidFill>
            <a:srgbClr val="D1FAE5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8582134" y="5317817"/>
            <a:ext cx="23133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Просмотр статистики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3429000" y="5212080"/>
            <a:ext cx="5303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Web: админка + </a:t>
            </a:r>
            <a:r>
              <a:rPr lang="en-US" sz="15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симуляции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WPF: симуляци</a:t>
            </a:r>
            <a:r>
              <a:rPr lang="en-US" sz="15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и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2" tIns="0" rIns="27432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>
                <a:solidFill>
                  <a:srgbClr val="475569"/>
                </a:solidFill>
                <a:latin typeface="Calibri"/>
              </a:rPr>
              <a:t>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1553588" y="1713645"/>
            <a:ext cx="2423100" cy="50280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1608452" y="1768509"/>
            <a:ext cx="23133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CRUD оружия, правил, варгира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553588" y="2536605"/>
            <a:ext cx="2423100" cy="50280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1608452" y="2591469"/>
            <a:ext cx="23133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CRUD моделей и юнитов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1553563" y="3300128"/>
            <a:ext cx="2423100" cy="50280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1608452" y="3354879"/>
            <a:ext cx="23133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Просмотр результатов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1386625" y="1472175"/>
            <a:ext cx="2757000" cy="259440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8360338" y="1996838"/>
            <a:ext cx="2757000" cy="401760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6" name="Google Shape;206;p7"/>
          <p:cNvCxnSpPr>
            <a:cxnSpLocks/>
            <a:stCxn id="183" idx="1"/>
            <a:endCxn id="204" idx="3"/>
          </p:cNvCxnSpPr>
          <p:nvPr/>
        </p:nvCxnSpPr>
        <p:spPr>
          <a:xfrm flipH="1" flipV="1">
            <a:off x="4143625" y="2769375"/>
            <a:ext cx="1354000" cy="161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7" name="Google Shape;207;p7"/>
          <p:cNvCxnSpPr>
            <a:cxnSpLocks/>
            <a:stCxn id="183" idx="3"/>
          </p:cNvCxnSpPr>
          <p:nvPr/>
        </p:nvCxnSpPr>
        <p:spPr>
          <a:xfrm>
            <a:off x="7006325" y="2770990"/>
            <a:ext cx="135401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8" name="Google Shape;208;p7"/>
          <p:cNvCxnSpPr>
            <a:cxnSpLocks/>
            <a:stCxn id="185" idx="3"/>
          </p:cNvCxnSpPr>
          <p:nvPr/>
        </p:nvCxnSpPr>
        <p:spPr>
          <a:xfrm>
            <a:off x="6978863" y="3699143"/>
            <a:ext cx="1400989" cy="150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</a:rPr>
              <a:t>Диаграмма базы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9144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Предметные таблицы, результаты расчётов и основные связи между ними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1828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197864"/>
            <a:ext cx="1158972" cy="1231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dirty="0" err="1">
                <a:solidFill>
                  <a:srgbClr val="059669"/>
                </a:solidFill>
              </a:rPr>
              <a:t>Предметные</a:t>
            </a:r>
            <a:r>
              <a:rPr sz="800" b="1" dirty="0">
                <a:solidFill>
                  <a:srgbClr val="059669"/>
                </a:solidFill>
              </a:rPr>
              <a:t> </a:t>
            </a:r>
            <a:r>
              <a:rPr sz="800" b="1" dirty="0" err="1">
                <a:solidFill>
                  <a:srgbClr val="059669"/>
                </a:solidFill>
              </a:rPr>
              <a:t>таблицы</a:t>
            </a:r>
            <a:endParaRPr sz="800" b="1" dirty="0">
              <a:solidFill>
                <a:srgbClr val="059669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4060445"/>
            <a:ext cx="10012680" cy="7589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" y="4133597"/>
            <a:ext cx="97566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475569"/>
                </a:solidFill>
              </a:rPr>
              <a:t>Служебные таблицы</a:t>
            </a:r>
          </a:p>
        </p:txBody>
      </p:sp>
      <p:sp>
        <p:nvSpPr>
          <p:cNvPr id="91" name="Rounded Rectangle 7">
            <a:extLst>
              <a:ext uri="{FF2B5EF4-FFF2-40B4-BE49-F238E27FC236}">
                <a16:creationId xmlns:a16="http://schemas.microsoft.com/office/drawing/2014/main" id="{D92F5D66-54DC-41C5-9971-654875279DFD}"/>
              </a:ext>
            </a:extLst>
          </p:cNvPr>
          <p:cNvSpPr/>
          <p:nvPr/>
        </p:nvSpPr>
        <p:spPr>
          <a:xfrm>
            <a:off x="502920" y="1393697"/>
            <a:ext cx="10012680" cy="2593596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31520" y="4389629"/>
            <a:ext cx="94183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Identity: AspNetUsers, AspNetRoles и связанные таблицы ролей/claims/tokens; EF Core / SQLite: __EFMigrationsHistory, __EFMigrationsLock, sqlite_sequence.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27632" y="1650492"/>
            <a:ext cx="201168" cy="0"/>
          </a:xfrm>
          <a:prstGeom prst="line">
            <a:avLst/>
          </a:prstGeom>
          <a:ln w="1143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816352" y="1650492"/>
            <a:ext cx="201168" cy="0"/>
          </a:xfrm>
          <a:prstGeom prst="line">
            <a:avLst/>
          </a:prstGeom>
          <a:ln w="1143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005072" y="1650492"/>
            <a:ext cx="201168" cy="0"/>
          </a:xfrm>
          <a:prstGeom prst="line">
            <a:avLst/>
          </a:prstGeom>
          <a:ln w="1143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193792" y="1650492"/>
            <a:ext cx="201168" cy="0"/>
          </a:xfrm>
          <a:prstGeom prst="line">
            <a:avLst/>
          </a:prstGeom>
          <a:ln w="1143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382512" y="1650492"/>
            <a:ext cx="201168" cy="0"/>
          </a:xfrm>
          <a:prstGeom prst="line">
            <a:avLst/>
          </a:prstGeom>
          <a:ln w="1143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71232" y="1650492"/>
            <a:ext cx="201168" cy="0"/>
          </a:xfrm>
          <a:prstGeom prst="line">
            <a:avLst/>
          </a:prstGeom>
          <a:ln w="1143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cxnSpLocks/>
            <a:endCxn id="75" idx="1"/>
          </p:cNvCxnSpPr>
          <p:nvPr/>
        </p:nvCxnSpPr>
        <p:spPr>
          <a:xfrm>
            <a:off x="8759952" y="1650492"/>
            <a:ext cx="370332" cy="1778"/>
          </a:xfrm>
          <a:prstGeom prst="line">
            <a:avLst/>
          </a:prstGeom>
          <a:ln w="1143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33856" y="1792224"/>
            <a:ext cx="694944" cy="498348"/>
          </a:xfrm>
          <a:prstGeom prst="line">
            <a:avLst/>
          </a:prstGeom>
          <a:ln w="1143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16352" y="2290572"/>
            <a:ext cx="201168" cy="0"/>
          </a:xfrm>
          <a:prstGeom prst="line">
            <a:avLst/>
          </a:prstGeom>
          <a:ln w="1143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cxnSpLocks/>
            <a:endCxn id="70" idx="1"/>
          </p:cNvCxnSpPr>
          <p:nvPr/>
        </p:nvCxnSpPr>
        <p:spPr>
          <a:xfrm>
            <a:off x="1133856" y="1792224"/>
            <a:ext cx="694944" cy="1050544"/>
          </a:xfrm>
          <a:prstGeom prst="line">
            <a:avLst/>
          </a:prstGeom>
          <a:ln w="1143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>
            <a:cxnSpLocks/>
            <a:endCxn id="73" idx="1"/>
          </p:cNvCxnSpPr>
          <p:nvPr/>
        </p:nvCxnSpPr>
        <p:spPr>
          <a:xfrm>
            <a:off x="3511296" y="1792224"/>
            <a:ext cx="1115568" cy="484124"/>
          </a:xfrm>
          <a:prstGeom prst="line">
            <a:avLst/>
          </a:prstGeom>
          <a:ln w="1143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>
            <a:cxnSpLocks/>
            <a:stCxn id="73" idx="3"/>
          </p:cNvCxnSpPr>
          <p:nvPr/>
        </p:nvCxnSpPr>
        <p:spPr>
          <a:xfrm flipV="1">
            <a:off x="5614416" y="2273808"/>
            <a:ext cx="225044" cy="2540"/>
          </a:xfrm>
          <a:prstGeom prst="line">
            <a:avLst/>
          </a:prstGeom>
          <a:ln w="1143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627632" y="3482847"/>
            <a:ext cx="201168" cy="0"/>
          </a:xfrm>
          <a:prstGeom prst="line">
            <a:avLst/>
          </a:prstGeom>
          <a:ln w="11430">
            <a:solidFill>
              <a:srgbClr val="BE12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816352" y="3482847"/>
            <a:ext cx="201168" cy="0"/>
          </a:xfrm>
          <a:prstGeom prst="line">
            <a:avLst/>
          </a:prstGeom>
          <a:ln w="11430">
            <a:solidFill>
              <a:srgbClr val="BE12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892040" y="1650492"/>
            <a:ext cx="502920" cy="0"/>
          </a:xfrm>
          <a:prstGeom prst="line">
            <a:avLst/>
          </a:prstGeom>
          <a:ln w="11430">
            <a:solidFill>
              <a:srgbClr val="2563EB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640080" y="1508760"/>
            <a:ext cx="987552" cy="28346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/>
            <a:r>
              <a:rPr sz="680" b="1">
                <a:solidFill>
                  <a:srgbClr val="111827"/>
                </a:solidFill>
              </a:rPr>
              <a:t>Units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828800" y="1508760"/>
            <a:ext cx="987552" cy="283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/>
            <a:r>
              <a:rPr sz="590" b="1">
                <a:solidFill>
                  <a:srgbClr val="111827"/>
                </a:solidFill>
              </a:rPr>
              <a:t>UnitModels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017520" y="1508760"/>
            <a:ext cx="987552" cy="28346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/>
            <a:r>
              <a:rPr sz="680" b="1">
                <a:solidFill>
                  <a:srgbClr val="111827"/>
                </a:solidFill>
              </a:rPr>
              <a:t>Models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206240" y="1508760"/>
            <a:ext cx="987552" cy="283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/>
            <a:r>
              <a:rPr sz="590" b="1">
                <a:solidFill>
                  <a:srgbClr val="111827"/>
                </a:solidFill>
              </a:rPr>
              <a:t>ModelWeapons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772400" y="1508760"/>
            <a:ext cx="987552" cy="283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/>
            <a:r>
              <a:rPr sz="590" b="1">
                <a:solidFill>
                  <a:srgbClr val="111827"/>
                </a:solidFill>
              </a:rPr>
              <a:t>WeaponProfileAbilities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828800" y="2148840"/>
            <a:ext cx="987552" cy="283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/>
            <a:r>
              <a:rPr sz="590" b="1">
                <a:solidFill>
                  <a:srgbClr val="111827"/>
                </a:solidFill>
              </a:rPr>
              <a:t>UnitKeywords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008376" y="2148840"/>
            <a:ext cx="987552" cy="2834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/>
            <a:r>
              <a:rPr sz="680" b="1">
                <a:solidFill>
                  <a:srgbClr val="111827"/>
                </a:solidFill>
              </a:rPr>
              <a:t>Keywords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828800" y="2701036"/>
            <a:ext cx="987552" cy="283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/>
            <a:r>
              <a:rPr sz="590" b="1">
                <a:solidFill>
                  <a:srgbClr val="111827"/>
                </a:solidFill>
              </a:rPr>
              <a:t>UnitOptions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626864" y="2134616"/>
            <a:ext cx="987552" cy="283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/>
            <a:r>
              <a:rPr sz="590" b="1" dirty="0" err="1">
                <a:solidFill>
                  <a:srgbClr val="111827"/>
                </a:solidFill>
              </a:rPr>
              <a:t>ModelWargears</a:t>
            </a:r>
            <a:endParaRPr sz="590" b="1" dirty="0">
              <a:solidFill>
                <a:srgbClr val="111827"/>
              </a:solidFill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9130284" y="1510538"/>
            <a:ext cx="987552" cy="2834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/>
            <a:r>
              <a:rPr sz="680" b="1" dirty="0">
                <a:solidFill>
                  <a:srgbClr val="111827"/>
                </a:solidFill>
              </a:rPr>
              <a:t>Abilities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40080" y="3341115"/>
            <a:ext cx="987552" cy="283464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/>
            <a:r>
              <a:rPr sz="640" b="1" dirty="0" err="1">
                <a:solidFill>
                  <a:srgbClr val="111827"/>
                </a:solidFill>
              </a:rPr>
              <a:t>SimulationResults</a:t>
            </a:r>
            <a:endParaRPr sz="640" b="1" dirty="0">
              <a:solidFill>
                <a:srgbClr val="111827"/>
              </a:solidFill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1828800" y="3341115"/>
            <a:ext cx="987552" cy="283464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/>
            <a:r>
              <a:rPr sz="640" b="1">
                <a:solidFill>
                  <a:srgbClr val="111827"/>
                </a:solidFill>
              </a:rPr>
              <a:t>TurnStats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017520" y="3341115"/>
            <a:ext cx="987552" cy="283464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/>
            <a:r>
              <a:rPr sz="640" b="1">
                <a:solidFill>
                  <a:srgbClr val="111827"/>
                </a:solidFill>
              </a:rPr>
              <a:t>WeaponStats</a:t>
            </a:r>
          </a:p>
        </p:txBody>
      </p:sp>
      <p:sp>
        <p:nvSpPr>
          <p:cNvPr id="92" name="Rounded Rectangle 67">
            <a:extLst>
              <a:ext uri="{FF2B5EF4-FFF2-40B4-BE49-F238E27FC236}">
                <a16:creationId xmlns:a16="http://schemas.microsoft.com/office/drawing/2014/main" id="{668BB858-6E86-4224-AF03-1D139DF3B06F}"/>
              </a:ext>
            </a:extLst>
          </p:cNvPr>
          <p:cNvSpPr/>
          <p:nvPr/>
        </p:nvSpPr>
        <p:spPr>
          <a:xfrm>
            <a:off x="5815584" y="2132076"/>
            <a:ext cx="987552" cy="2834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/>
            <a:r>
              <a:rPr lang="en-US" sz="680" b="1" dirty="0" err="1">
                <a:solidFill>
                  <a:srgbClr val="111827"/>
                </a:solidFill>
              </a:rPr>
              <a:t>Wargears</a:t>
            </a:r>
            <a:endParaRPr sz="680" b="1" dirty="0">
              <a:solidFill>
                <a:srgbClr val="111827"/>
              </a:solidFill>
            </a:endParaRPr>
          </a:p>
        </p:txBody>
      </p:sp>
      <p:sp>
        <p:nvSpPr>
          <p:cNvPr id="93" name="Rounded Rectangle 67">
            <a:extLst>
              <a:ext uri="{FF2B5EF4-FFF2-40B4-BE49-F238E27FC236}">
                <a16:creationId xmlns:a16="http://schemas.microsoft.com/office/drawing/2014/main" id="{C1C27E9B-DEE2-4915-AF54-39F39D831F4A}"/>
              </a:ext>
            </a:extLst>
          </p:cNvPr>
          <p:cNvSpPr/>
          <p:nvPr/>
        </p:nvSpPr>
        <p:spPr>
          <a:xfrm>
            <a:off x="3008376" y="2701035"/>
            <a:ext cx="987552" cy="2834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/>
            <a:r>
              <a:rPr lang="en-US" sz="680" b="1" dirty="0">
                <a:solidFill>
                  <a:srgbClr val="111827"/>
                </a:solidFill>
              </a:rPr>
              <a:t>Options</a:t>
            </a:r>
            <a:endParaRPr sz="680" b="1" dirty="0">
              <a:solidFill>
                <a:srgbClr val="111827"/>
              </a:solidFill>
            </a:endParaRPr>
          </a:p>
        </p:txBody>
      </p:sp>
      <p:cxnSp>
        <p:nvCxnSpPr>
          <p:cNvPr id="94" name="Connector 27">
            <a:extLst>
              <a:ext uri="{FF2B5EF4-FFF2-40B4-BE49-F238E27FC236}">
                <a16:creationId xmlns:a16="http://schemas.microsoft.com/office/drawing/2014/main" id="{3BC407E2-4BA0-4A65-8E89-07DDC06C337D}"/>
              </a:ext>
            </a:extLst>
          </p:cNvPr>
          <p:cNvCxnSpPr/>
          <p:nvPr/>
        </p:nvCxnSpPr>
        <p:spPr>
          <a:xfrm>
            <a:off x="2807208" y="2847339"/>
            <a:ext cx="201168" cy="0"/>
          </a:xfrm>
          <a:prstGeom prst="line">
            <a:avLst/>
          </a:prstGeom>
          <a:ln w="1143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61">
            <a:extLst>
              <a:ext uri="{FF2B5EF4-FFF2-40B4-BE49-F238E27FC236}">
                <a16:creationId xmlns:a16="http://schemas.microsoft.com/office/drawing/2014/main" id="{1FCF60AF-D21B-4C6F-A480-C294B45A0B91}"/>
              </a:ext>
            </a:extLst>
          </p:cNvPr>
          <p:cNvSpPr/>
          <p:nvPr/>
        </p:nvSpPr>
        <p:spPr>
          <a:xfrm>
            <a:off x="5410962" y="1504695"/>
            <a:ext cx="987552" cy="28346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/>
            <a:r>
              <a:rPr lang="en-US" sz="680" b="1" dirty="0">
                <a:solidFill>
                  <a:srgbClr val="111827"/>
                </a:solidFill>
              </a:rPr>
              <a:t>Weapons</a:t>
            </a:r>
            <a:endParaRPr sz="680" b="1" dirty="0">
              <a:solidFill>
                <a:srgbClr val="111827"/>
              </a:solidFill>
            </a:endParaRPr>
          </a:p>
        </p:txBody>
      </p:sp>
      <p:sp>
        <p:nvSpPr>
          <p:cNvPr id="96" name="Rounded Rectangle 61">
            <a:extLst>
              <a:ext uri="{FF2B5EF4-FFF2-40B4-BE49-F238E27FC236}">
                <a16:creationId xmlns:a16="http://schemas.microsoft.com/office/drawing/2014/main" id="{93932B9C-E41D-4232-B3D8-B6F6091BEBAE}"/>
              </a:ext>
            </a:extLst>
          </p:cNvPr>
          <p:cNvSpPr/>
          <p:nvPr/>
        </p:nvSpPr>
        <p:spPr>
          <a:xfrm>
            <a:off x="6583680" y="1504695"/>
            <a:ext cx="987552" cy="28346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/>
            <a:r>
              <a:rPr lang="en-US" sz="680" b="1" dirty="0" err="1">
                <a:solidFill>
                  <a:srgbClr val="111827"/>
                </a:solidFill>
              </a:rPr>
              <a:t>Weaponprofiles</a:t>
            </a:r>
            <a:endParaRPr lang="en-US" sz="680" b="1" dirty="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91B1B"/>
          </a:solidFill>
          <a:ln w="12700" cap="flat" cmpd="sng">
            <a:solidFill>
              <a:srgbClr val="991B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UML: основные классы и модули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530352" y="841248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Серверная логика разделена на API, сервисы, runtime-модели и агрегаторы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p9"/>
          <p:cNvCxnSpPr/>
          <p:nvPr/>
        </p:nvCxnSpPr>
        <p:spPr>
          <a:xfrm>
            <a:off x="2331720" y="2057400"/>
            <a:ext cx="822960" cy="0"/>
          </a:xfrm>
          <a:prstGeom prst="straightConnector1">
            <a:avLst/>
          </a:prstGeom>
          <a:noFill/>
          <a:ln w="15225" cap="flat" cmpd="sng">
            <a:solidFill>
              <a:srgbClr val="6B728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8" name="Google Shape;268;p9"/>
          <p:cNvCxnSpPr/>
          <p:nvPr/>
        </p:nvCxnSpPr>
        <p:spPr>
          <a:xfrm>
            <a:off x="5349240" y="2057400"/>
            <a:ext cx="914400" cy="0"/>
          </a:xfrm>
          <a:prstGeom prst="straightConnector1">
            <a:avLst/>
          </a:prstGeom>
          <a:noFill/>
          <a:ln w="15225" cap="flat" cmpd="sng">
            <a:solidFill>
              <a:srgbClr val="6B728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9" name="Google Shape;269;p9"/>
          <p:cNvCxnSpPr/>
          <p:nvPr/>
        </p:nvCxnSpPr>
        <p:spPr>
          <a:xfrm>
            <a:off x="8458200" y="2057400"/>
            <a:ext cx="822960" cy="0"/>
          </a:xfrm>
          <a:prstGeom prst="straightConnector1">
            <a:avLst/>
          </a:prstGeom>
          <a:noFill/>
          <a:ln w="15225" cap="flat" cmpd="sng">
            <a:solidFill>
              <a:srgbClr val="6B728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0" name="Google Shape;270;p9"/>
          <p:cNvCxnSpPr/>
          <p:nvPr/>
        </p:nvCxnSpPr>
        <p:spPr>
          <a:xfrm>
            <a:off x="5349240" y="4160520"/>
            <a:ext cx="914400" cy="0"/>
          </a:xfrm>
          <a:prstGeom prst="straightConnector1">
            <a:avLst/>
          </a:prstGeom>
          <a:noFill/>
          <a:ln w="15225" cap="flat" cmpd="sng">
            <a:solidFill>
              <a:srgbClr val="6B728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1" name="Google Shape;271;p9"/>
          <p:cNvCxnSpPr/>
          <p:nvPr/>
        </p:nvCxnSpPr>
        <p:spPr>
          <a:xfrm>
            <a:off x="8458200" y="4160520"/>
            <a:ext cx="822960" cy="0"/>
          </a:xfrm>
          <a:prstGeom prst="straightConnector1">
            <a:avLst/>
          </a:prstGeom>
          <a:noFill/>
          <a:ln w="15225" cap="flat" cmpd="sng">
            <a:solidFill>
              <a:srgbClr val="6B728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2" name="Google Shape;272;p9"/>
          <p:cNvSpPr/>
          <p:nvPr/>
        </p:nvSpPr>
        <p:spPr>
          <a:xfrm>
            <a:off x="685800" y="1600200"/>
            <a:ext cx="1645920" cy="868680"/>
          </a:xfrm>
          <a:prstGeom prst="roundRect">
            <a:avLst>
              <a:gd name="adj" fmla="val 6316"/>
            </a:avLst>
          </a:prstGeom>
          <a:solidFill>
            <a:srgbClr val="DBEAFE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740664" y="1655064"/>
            <a:ext cx="1536192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Controllers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Auth, Units, Simulations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3154680" y="1600200"/>
            <a:ext cx="2194560" cy="868680"/>
          </a:xfrm>
          <a:prstGeom prst="roundRect">
            <a:avLst>
              <a:gd name="adj" fmla="val 6316"/>
            </a:avLst>
          </a:prstGeom>
          <a:solidFill>
            <a:srgbClr val="D1FAE5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3209544" y="1655064"/>
            <a:ext cx="2084832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PageServices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Admin CRUD / Razor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6263640" y="1508760"/>
            <a:ext cx="2194560" cy="868680"/>
          </a:xfrm>
          <a:prstGeom prst="roundRect">
            <a:avLst>
              <a:gd name="adj" fmla="val 6316"/>
            </a:avLst>
          </a:prstGeom>
          <a:solidFill>
            <a:srgbClr val="FEE2E2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6318504" y="1563624"/>
            <a:ext cx="2084832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Simulation Services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BattleBatchSimulation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ParallelBatchSimulation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9281160" y="150876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FEF3C7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9336024" y="1563624"/>
            <a:ext cx="1993392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Runtime Models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SimulationUnit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SimulationModel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SimulationWeapon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3154680" y="3703320"/>
            <a:ext cx="2194560" cy="868680"/>
          </a:xfrm>
          <a:prstGeom prst="roundRect">
            <a:avLst>
              <a:gd name="adj" fmla="val 6316"/>
            </a:avLst>
          </a:prstGeom>
          <a:solidFill>
            <a:srgbClr val="DBEAFE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3209544" y="3758184"/>
            <a:ext cx="2084832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Persistence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EF Core / DbContext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6263640" y="3703320"/>
            <a:ext cx="2194560" cy="868680"/>
          </a:xfrm>
          <a:prstGeom prst="roundRect">
            <a:avLst>
              <a:gd name="adj" fmla="val 6316"/>
            </a:avLst>
          </a:prstGeom>
          <a:solidFill>
            <a:srgbClr val="EDE9FE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6318504" y="3758184"/>
            <a:ext cx="2084832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Aggregator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BattleSimulationAggregator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9281160" y="370332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E5E7EB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9336024" y="3758184"/>
            <a:ext cx="1993392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DTO / ViewModels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API + UI contracts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914400" y="553212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50"/>
              <a:buFont typeface="Calibri"/>
              <a:buNone/>
            </a:pPr>
            <a:r>
              <a:rPr lang="en-US" sz="155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Принцип</a:t>
            </a:r>
            <a:r>
              <a:rPr lang="en-US" sz="155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: UI не </a:t>
            </a:r>
            <a:r>
              <a:rPr lang="en-US" sz="155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содержит</a:t>
            </a:r>
            <a:r>
              <a:rPr lang="en-US" sz="155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5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расчётной</a:t>
            </a:r>
            <a:r>
              <a:rPr lang="en-US" sz="155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5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логики</a:t>
            </a:r>
            <a:r>
              <a:rPr lang="en-US" sz="155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lang="en-US" sz="155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симуляция</a:t>
            </a:r>
            <a:r>
              <a:rPr lang="en-US" sz="155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5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изолирована</a:t>
            </a:r>
            <a:r>
              <a:rPr lang="en-US" sz="155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в </a:t>
            </a:r>
            <a:r>
              <a:rPr lang="en-US" sz="155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сервисном</a:t>
            </a:r>
            <a:r>
              <a:rPr lang="en-US" sz="155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5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слое</a:t>
            </a:r>
            <a:endParaRPr sz="15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2" tIns="0" rIns="27432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>
                <a:solidFill>
                  <a:srgbClr val="475569"/>
                </a:solidFill>
                <a:latin typeface="Calibri"/>
              </a:rPr>
              <a:t>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 cap="flat" cmpd="sng">
            <a:solidFill>
              <a:srgbClr val="F9FA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91B1B"/>
          </a:solidFill>
          <a:ln w="12700" cap="flat" cmpd="sng">
            <a:solidFill>
              <a:srgbClr val="991B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Алгоритм симуляции боя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530352" y="841248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От выбора юнитов до усреднённой статистики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10"/>
          <p:cNvCxnSpPr/>
          <p:nvPr/>
        </p:nvCxnSpPr>
        <p:spPr>
          <a:xfrm>
            <a:off x="1972798" y="2468860"/>
            <a:ext cx="411600" cy="0"/>
          </a:xfrm>
          <a:prstGeom prst="straightConnector1">
            <a:avLst/>
          </a:prstGeom>
          <a:noFill/>
          <a:ln w="15225" cap="flat" cmpd="sng">
            <a:solidFill>
              <a:srgbClr val="991B1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0" name="Google Shape;300;p10"/>
          <p:cNvCxnSpPr/>
          <p:nvPr/>
        </p:nvCxnSpPr>
        <p:spPr>
          <a:xfrm>
            <a:off x="3893038" y="2468860"/>
            <a:ext cx="411600" cy="0"/>
          </a:xfrm>
          <a:prstGeom prst="straightConnector1">
            <a:avLst/>
          </a:prstGeom>
          <a:noFill/>
          <a:ln w="15225" cap="flat" cmpd="sng">
            <a:solidFill>
              <a:srgbClr val="991B1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1" name="Google Shape;301;p10"/>
          <p:cNvSpPr/>
          <p:nvPr/>
        </p:nvSpPr>
        <p:spPr>
          <a:xfrm>
            <a:off x="2468931" y="1828800"/>
            <a:ext cx="1280100" cy="1280100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2240343" y="2125955"/>
            <a:ext cx="1737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1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DeepClone для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1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каждой симуляции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p10"/>
          <p:cNvCxnSpPr/>
          <p:nvPr/>
        </p:nvCxnSpPr>
        <p:spPr>
          <a:xfrm>
            <a:off x="5813278" y="2468860"/>
            <a:ext cx="411600" cy="0"/>
          </a:xfrm>
          <a:prstGeom prst="straightConnector1">
            <a:avLst/>
          </a:prstGeom>
          <a:noFill/>
          <a:ln w="15225" cap="flat" cmpd="sng">
            <a:solidFill>
              <a:srgbClr val="991B1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4" name="Google Shape;304;p10"/>
          <p:cNvSpPr/>
          <p:nvPr/>
        </p:nvSpPr>
        <p:spPr>
          <a:xfrm>
            <a:off x="4389183" y="1847100"/>
            <a:ext cx="1280100" cy="1280100"/>
          </a:xfrm>
          <a:prstGeom prst="ellipse">
            <a:avLst/>
          </a:prstGeom>
          <a:solidFill>
            <a:srgbClr val="DBEAFE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4160583" y="2125955"/>
            <a:ext cx="1737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1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5 ходов: стрельба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1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и ответная атака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" name="Google Shape;306;p10"/>
          <p:cNvCxnSpPr/>
          <p:nvPr/>
        </p:nvCxnSpPr>
        <p:spPr>
          <a:xfrm>
            <a:off x="7733518" y="2468860"/>
            <a:ext cx="411600" cy="0"/>
          </a:xfrm>
          <a:prstGeom prst="straightConnector1">
            <a:avLst/>
          </a:prstGeom>
          <a:noFill/>
          <a:ln w="15225" cap="flat" cmpd="sng">
            <a:solidFill>
              <a:srgbClr val="991B1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7" name="Google Shape;307;p10"/>
          <p:cNvSpPr/>
          <p:nvPr/>
        </p:nvSpPr>
        <p:spPr>
          <a:xfrm>
            <a:off x="6309436" y="1795525"/>
            <a:ext cx="1280100" cy="1280100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6080823" y="2125955"/>
            <a:ext cx="1737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1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Hit → Wound → </a:t>
            </a:r>
            <a:endParaRPr sz="1150" b="0" i="0" u="none" strike="noStrike" cap="none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1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Save</a:t>
            </a:r>
            <a:r>
              <a:rPr lang="en-U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→ Damage 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10"/>
          <p:cNvCxnSpPr/>
          <p:nvPr/>
        </p:nvCxnSpPr>
        <p:spPr>
          <a:xfrm>
            <a:off x="9653758" y="2468860"/>
            <a:ext cx="411600" cy="0"/>
          </a:xfrm>
          <a:prstGeom prst="straightConnector1">
            <a:avLst/>
          </a:prstGeom>
          <a:noFill/>
          <a:ln w="15225" cap="flat" cmpd="sng">
            <a:solidFill>
              <a:srgbClr val="991B1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0" name="Google Shape;310;p10"/>
          <p:cNvSpPr/>
          <p:nvPr/>
        </p:nvSpPr>
        <p:spPr>
          <a:xfrm>
            <a:off x="8225026" y="1828800"/>
            <a:ext cx="1280100" cy="1280100"/>
          </a:xfrm>
          <a:prstGeom prst="ellipse">
            <a:avLst/>
          </a:prstGeom>
          <a:solidFill>
            <a:srgbClr val="DBEAFE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8001063" y="2125955"/>
            <a:ext cx="1737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05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Локальная</a:t>
            </a:r>
            <a:r>
              <a:rPr lang="en-US" sz="105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статистика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05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по</a:t>
            </a:r>
            <a:r>
              <a:rPr lang="en-US" sz="105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оружию</a:t>
            </a:r>
            <a:r>
              <a:rPr lang="en-US" sz="105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en-US" sz="105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ходам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10168128" y="1828800"/>
            <a:ext cx="1280100" cy="1280100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9921303" y="2125955"/>
            <a:ext cx="1737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1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Агрегация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1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результатов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1005840" y="489204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1234440" y="5102352"/>
            <a:ext cx="9601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Главная оптимизация: данные БД загружаются один раз, а внутренний цикл расчёта работает только с объектами в памяти.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2" tIns="0" rIns="27432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>
                <a:solidFill>
                  <a:srgbClr val="475569"/>
                </a:solidFill>
                <a:latin typeface="Calibri"/>
              </a:rPr>
              <a:t>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548733" y="1828800"/>
            <a:ext cx="1280100" cy="1280100"/>
          </a:xfrm>
          <a:prstGeom prst="ellipse">
            <a:avLst/>
          </a:prstGeom>
          <a:solidFill>
            <a:srgbClr val="DBEAFE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320103" y="2125955"/>
            <a:ext cx="1737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10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Загрузка</a:t>
            </a:r>
            <a:r>
              <a:rPr lang="en-US" sz="11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прототипов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10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юнитов</a:t>
            </a:r>
            <a:r>
              <a:rPr lang="en-US" sz="11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из</a:t>
            </a:r>
            <a:r>
              <a:rPr lang="en-US" sz="11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БД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Calibri"/>
              </a:rPr>
              <a:t>Оптимизация работы с БД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698480" cy="31089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До и после исключения повторной сборки юнитов из внутреннего цикла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731520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15 000 симуляций, 5 ходов, сохранение в БД отключено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2377440" cy="347472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1300" b="1">
                <a:solidFill>
                  <a:srgbClr val="B91C1C"/>
                </a:solidFill>
                <a:latin typeface="Calibri"/>
              </a:rPr>
              <a:t>Было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39112"/>
            <a:ext cx="2466316" cy="353943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l"/>
            <a:r>
              <a:rPr sz="850" b="0" dirty="0">
                <a:solidFill>
                  <a:srgbClr val="0F172A"/>
                </a:solidFill>
                <a:latin typeface="Calibri"/>
              </a:rPr>
              <a:t>В </a:t>
            </a:r>
            <a:r>
              <a:rPr sz="850" b="0" dirty="0" err="1">
                <a:solidFill>
                  <a:srgbClr val="0F172A"/>
                </a:solidFill>
                <a:latin typeface="Calibri"/>
              </a:rPr>
              <a:t>каждой</a:t>
            </a:r>
            <a:r>
              <a:rPr sz="850" b="0" dirty="0">
                <a:solidFill>
                  <a:srgbClr val="0F172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0F172A"/>
                </a:solidFill>
                <a:latin typeface="Calibri"/>
              </a:rPr>
              <a:t>итерации</a:t>
            </a:r>
            <a:r>
              <a:rPr sz="850" b="0" dirty="0">
                <a:solidFill>
                  <a:srgbClr val="0F172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0F172A"/>
                </a:solidFill>
                <a:latin typeface="Calibri"/>
              </a:rPr>
              <a:t>заново</a:t>
            </a:r>
            <a:r>
              <a:rPr sz="850" b="0" dirty="0">
                <a:solidFill>
                  <a:srgbClr val="0F172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0F172A"/>
                </a:solidFill>
                <a:latin typeface="Calibri"/>
              </a:rPr>
              <a:t>выполнялись</a:t>
            </a:r>
            <a:r>
              <a:rPr sz="850" b="0" dirty="0">
                <a:solidFill>
                  <a:srgbClr val="0F172A"/>
                </a:solidFill>
                <a:latin typeface="Calibri"/>
              </a:rPr>
              <a:t> </a:t>
            </a:r>
            <a:endParaRPr lang="ru-RU" sz="850" b="0" dirty="0">
              <a:solidFill>
                <a:srgbClr val="0F172A"/>
              </a:solidFill>
              <a:latin typeface="Calibri"/>
            </a:endParaRPr>
          </a:p>
          <a:p>
            <a:pPr algn="l"/>
            <a:r>
              <a:rPr sz="850" b="0" dirty="0">
                <a:solidFill>
                  <a:srgbClr val="0F172A"/>
                </a:solidFill>
                <a:latin typeface="Calibri"/>
              </a:rPr>
              <a:t>EF Core </a:t>
            </a:r>
            <a:r>
              <a:rPr sz="850" b="0" dirty="0" err="1">
                <a:solidFill>
                  <a:srgbClr val="0F172A"/>
                </a:solidFill>
                <a:latin typeface="Calibri"/>
              </a:rPr>
              <a:t>запросы</a:t>
            </a:r>
            <a:r>
              <a:rPr sz="850" b="0" dirty="0">
                <a:solidFill>
                  <a:srgbClr val="0F172A"/>
                </a:solidFill>
                <a:latin typeface="Calibri"/>
              </a:rPr>
              <a:t> и </a:t>
            </a:r>
            <a:r>
              <a:rPr sz="850" b="0" dirty="0" err="1">
                <a:solidFill>
                  <a:srgbClr val="0F172A"/>
                </a:solidFill>
                <a:latin typeface="Calibri"/>
              </a:rPr>
              <a:t>сборка</a:t>
            </a:r>
            <a:r>
              <a:rPr sz="850" b="0" dirty="0">
                <a:solidFill>
                  <a:srgbClr val="0F172A"/>
                </a:solidFill>
                <a:latin typeface="Calibri"/>
              </a:rPr>
              <a:t> runtime-</a:t>
            </a:r>
            <a:r>
              <a:rPr sz="850" b="0" dirty="0" err="1">
                <a:solidFill>
                  <a:srgbClr val="0F172A"/>
                </a:solidFill>
                <a:latin typeface="Calibri"/>
              </a:rPr>
              <a:t>моделей</a:t>
            </a:r>
            <a:r>
              <a:rPr sz="850" b="0" dirty="0">
                <a:solidFill>
                  <a:srgbClr val="0F172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0F172A"/>
                </a:solidFill>
                <a:latin typeface="Calibri"/>
              </a:rPr>
              <a:t>юнитов</a:t>
            </a:r>
            <a:endParaRPr sz="850" b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1826719" cy="353943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l"/>
            <a:r>
              <a:rPr sz="850" b="1" dirty="0">
                <a:solidFill>
                  <a:srgbClr val="B91C1C"/>
                </a:solidFill>
                <a:latin typeface="Calibri"/>
              </a:rPr>
              <a:t>15 000 </a:t>
            </a:r>
            <a:r>
              <a:rPr sz="850" b="1" dirty="0" err="1">
                <a:solidFill>
                  <a:srgbClr val="B91C1C"/>
                </a:solidFill>
                <a:latin typeface="Calibri"/>
              </a:rPr>
              <a:t>симуляций</a:t>
            </a:r>
            <a:r>
              <a:rPr sz="850" b="1" dirty="0">
                <a:solidFill>
                  <a:srgbClr val="B91C1C"/>
                </a:solidFill>
                <a:latin typeface="Calibri"/>
              </a:rPr>
              <a:t> </a:t>
            </a:r>
            <a:r>
              <a:rPr lang="ru-RU" sz="850" b="1" dirty="0">
                <a:solidFill>
                  <a:srgbClr val="B91C1C"/>
                </a:solidFill>
                <a:latin typeface="Calibri"/>
              </a:rPr>
              <a:t>порождали</a:t>
            </a:r>
            <a:r>
              <a:rPr sz="850" b="1" dirty="0">
                <a:solidFill>
                  <a:srgbClr val="B91C1C"/>
                </a:solidFill>
                <a:latin typeface="Calibri"/>
              </a:rPr>
              <a:t> 30 000 </a:t>
            </a:r>
            <a:endParaRPr lang="ru-RU" sz="850" b="1" dirty="0">
              <a:solidFill>
                <a:srgbClr val="B91C1C"/>
              </a:solidFill>
              <a:latin typeface="Calibri"/>
            </a:endParaRPr>
          </a:p>
          <a:p>
            <a:pPr algn="l"/>
            <a:r>
              <a:rPr sz="850" b="1" dirty="0" err="1">
                <a:solidFill>
                  <a:srgbClr val="B91C1C"/>
                </a:solidFill>
                <a:latin typeface="Calibri"/>
              </a:rPr>
              <a:t>сборок</a:t>
            </a:r>
            <a:r>
              <a:rPr sz="850" b="1" dirty="0">
                <a:solidFill>
                  <a:srgbClr val="B91C1C"/>
                </a:solidFill>
                <a:latin typeface="Calibri"/>
              </a:rPr>
              <a:t> </a:t>
            </a:r>
            <a:r>
              <a:rPr sz="850" b="1" dirty="0" err="1">
                <a:solidFill>
                  <a:srgbClr val="B91C1C"/>
                </a:solidFill>
                <a:latin typeface="Calibri"/>
              </a:rPr>
              <a:t>юнитов</a:t>
            </a:r>
            <a:r>
              <a:rPr sz="850" b="1" dirty="0">
                <a:solidFill>
                  <a:srgbClr val="B91C1C"/>
                </a:solidFill>
                <a:latin typeface="Calibri"/>
              </a:rPr>
              <a:t> </a:t>
            </a:r>
            <a:r>
              <a:rPr sz="850" b="1" dirty="0" err="1">
                <a:solidFill>
                  <a:srgbClr val="B91C1C"/>
                </a:solidFill>
                <a:latin typeface="Calibri"/>
              </a:rPr>
              <a:t>из</a:t>
            </a:r>
            <a:r>
              <a:rPr sz="850" b="1" dirty="0">
                <a:solidFill>
                  <a:srgbClr val="B91C1C"/>
                </a:solidFill>
                <a:latin typeface="Calibri"/>
              </a:rPr>
              <a:t> БД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456432"/>
            <a:ext cx="2377440" cy="347472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1300" b="1">
                <a:solidFill>
                  <a:srgbClr val="047857"/>
                </a:solidFill>
                <a:latin typeface="Calibri"/>
              </a:rPr>
              <a:t>Стало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86200"/>
            <a:ext cx="2477538" cy="353943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l"/>
            <a:r>
              <a:rPr sz="850" b="0" dirty="0" err="1">
                <a:solidFill>
                  <a:srgbClr val="0F172A"/>
                </a:solidFill>
                <a:latin typeface="Calibri"/>
              </a:rPr>
              <a:t>Юниты</a:t>
            </a:r>
            <a:r>
              <a:rPr sz="850" b="0" dirty="0">
                <a:solidFill>
                  <a:srgbClr val="0F172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0F172A"/>
                </a:solidFill>
                <a:latin typeface="Calibri"/>
              </a:rPr>
              <a:t>загружаются</a:t>
            </a:r>
            <a:r>
              <a:rPr sz="850" b="0" dirty="0">
                <a:solidFill>
                  <a:srgbClr val="0F172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0F172A"/>
                </a:solidFill>
                <a:latin typeface="Calibri"/>
              </a:rPr>
              <a:t>из</a:t>
            </a:r>
            <a:r>
              <a:rPr sz="850" b="0" dirty="0">
                <a:solidFill>
                  <a:srgbClr val="0F172A"/>
                </a:solidFill>
                <a:latin typeface="Calibri"/>
              </a:rPr>
              <a:t> БД </a:t>
            </a:r>
            <a:r>
              <a:rPr sz="850" b="0" dirty="0" err="1">
                <a:solidFill>
                  <a:srgbClr val="0F172A"/>
                </a:solidFill>
                <a:latin typeface="Calibri"/>
              </a:rPr>
              <a:t>один</a:t>
            </a:r>
            <a:r>
              <a:rPr sz="850" b="0" dirty="0">
                <a:solidFill>
                  <a:srgbClr val="0F172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0F172A"/>
                </a:solidFill>
                <a:latin typeface="Calibri"/>
              </a:rPr>
              <a:t>раз</a:t>
            </a:r>
            <a:r>
              <a:rPr sz="850" b="0" dirty="0">
                <a:solidFill>
                  <a:srgbClr val="0F172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0F172A"/>
                </a:solidFill>
                <a:latin typeface="Calibri"/>
              </a:rPr>
              <a:t>как</a:t>
            </a:r>
            <a:r>
              <a:rPr sz="850" b="0" dirty="0">
                <a:solidFill>
                  <a:srgbClr val="0F172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0F172A"/>
                </a:solidFill>
                <a:latin typeface="Calibri"/>
              </a:rPr>
              <a:t>прототипы</a:t>
            </a:r>
            <a:r>
              <a:rPr sz="850" b="0" dirty="0">
                <a:solidFill>
                  <a:srgbClr val="0F172A"/>
                </a:solidFill>
                <a:latin typeface="Calibri"/>
              </a:rPr>
              <a:t>, </a:t>
            </a:r>
            <a:endParaRPr lang="ru-RU" sz="850" b="0" dirty="0">
              <a:solidFill>
                <a:srgbClr val="0F172A"/>
              </a:solidFill>
              <a:latin typeface="Calibri"/>
            </a:endParaRPr>
          </a:p>
          <a:p>
            <a:pPr algn="l"/>
            <a:r>
              <a:rPr sz="850" b="0" dirty="0" err="1">
                <a:solidFill>
                  <a:srgbClr val="0F172A"/>
                </a:solidFill>
                <a:latin typeface="Calibri"/>
              </a:rPr>
              <a:t>затем</a:t>
            </a:r>
            <a:r>
              <a:rPr sz="850" b="0" dirty="0">
                <a:solidFill>
                  <a:srgbClr val="0F172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0F172A"/>
                </a:solidFill>
                <a:latin typeface="Calibri"/>
              </a:rPr>
              <a:t>для</a:t>
            </a:r>
            <a:r>
              <a:rPr sz="850" b="0" dirty="0">
                <a:solidFill>
                  <a:srgbClr val="0F172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0F172A"/>
                </a:solidFill>
                <a:latin typeface="Calibri"/>
              </a:rPr>
              <a:t>боя</a:t>
            </a:r>
            <a:r>
              <a:rPr sz="850" b="0" dirty="0">
                <a:solidFill>
                  <a:srgbClr val="0F172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0F172A"/>
                </a:solidFill>
                <a:latin typeface="Calibri"/>
              </a:rPr>
              <a:t>используется</a:t>
            </a:r>
            <a:r>
              <a:rPr sz="850" b="0" dirty="0">
                <a:solidFill>
                  <a:srgbClr val="0F172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0F172A"/>
                </a:solidFill>
                <a:latin typeface="Calibri"/>
              </a:rPr>
              <a:t>DeepClone</a:t>
            </a:r>
            <a:r>
              <a:rPr sz="850" b="0" dirty="0">
                <a:solidFill>
                  <a:srgbClr val="0F172A"/>
                </a:solidFill>
                <a:latin typeface="Calibri"/>
              </a:rPr>
              <a:t> в </a:t>
            </a:r>
            <a:r>
              <a:rPr sz="850" b="0" dirty="0" err="1">
                <a:solidFill>
                  <a:srgbClr val="0F172A"/>
                </a:solidFill>
                <a:latin typeface="Calibri"/>
              </a:rPr>
              <a:t>памяти</a:t>
            </a:r>
            <a:endParaRPr sz="850" b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645152"/>
            <a:ext cx="2044727" cy="22313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l"/>
            <a:r>
              <a:rPr lang="ru-RU" sz="850" b="1" dirty="0">
                <a:solidFill>
                  <a:srgbClr val="047857"/>
                </a:solidFill>
                <a:latin typeface="Calibri"/>
              </a:rPr>
              <a:t>Ц</a:t>
            </a:r>
            <a:r>
              <a:rPr sz="850" b="1" dirty="0" err="1">
                <a:solidFill>
                  <a:srgbClr val="047857"/>
                </a:solidFill>
                <a:latin typeface="Calibri"/>
              </a:rPr>
              <a:t>икл</a:t>
            </a:r>
            <a:r>
              <a:rPr sz="850" b="1" dirty="0">
                <a:solidFill>
                  <a:srgbClr val="047857"/>
                </a:solidFill>
                <a:latin typeface="Calibri"/>
              </a:rPr>
              <a:t> </a:t>
            </a:r>
            <a:r>
              <a:rPr sz="850" b="1" dirty="0" err="1">
                <a:solidFill>
                  <a:srgbClr val="047857"/>
                </a:solidFill>
                <a:latin typeface="Calibri"/>
              </a:rPr>
              <a:t>расчёта</a:t>
            </a:r>
            <a:r>
              <a:rPr sz="850" b="1" dirty="0">
                <a:solidFill>
                  <a:srgbClr val="047857"/>
                </a:solidFill>
                <a:latin typeface="Calibri"/>
              </a:rPr>
              <a:t> </a:t>
            </a:r>
            <a:r>
              <a:rPr sz="850" b="1" dirty="0" err="1">
                <a:solidFill>
                  <a:srgbClr val="047857"/>
                </a:solidFill>
                <a:latin typeface="Calibri"/>
              </a:rPr>
              <a:t>больше</a:t>
            </a:r>
            <a:r>
              <a:rPr sz="850" b="1" dirty="0">
                <a:solidFill>
                  <a:srgbClr val="047857"/>
                </a:solidFill>
                <a:latin typeface="Calibri"/>
              </a:rPr>
              <a:t> не </a:t>
            </a:r>
            <a:r>
              <a:rPr sz="850" b="1" dirty="0" err="1">
                <a:solidFill>
                  <a:srgbClr val="047857"/>
                </a:solidFill>
                <a:latin typeface="Calibri"/>
              </a:rPr>
              <a:t>зависит</a:t>
            </a:r>
            <a:r>
              <a:rPr sz="850" b="1" dirty="0">
                <a:solidFill>
                  <a:srgbClr val="047857"/>
                </a:solidFill>
                <a:latin typeface="Calibri"/>
              </a:rPr>
              <a:t> </a:t>
            </a:r>
            <a:r>
              <a:rPr sz="850" b="1" dirty="0" err="1">
                <a:solidFill>
                  <a:srgbClr val="047857"/>
                </a:solidFill>
                <a:latin typeface="Calibri"/>
              </a:rPr>
              <a:t>от</a:t>
            </a:r>
            <a:r>
              <a:rPr sz="850" b="1" dirty="0">
                <a:solidFill>
                  <a:srgbClr val="047857"/>
                </a:solidFill>
                <a:latin typeface="Calibri"/>
              </a:rPr>
              <a:t> SQLite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600200"/>
            <a:ext cx="1325880" cy="347472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Режим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1600200"/>
            <a:ext cx="1600200" cy="347472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До правки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600200"/>
            <a:ext cx="1600200" cy="347472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После правки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1600200"/>
            <a:ext cx="2240280" cy="347472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Calibri"/>
              </a:rPr>
              <a:t>Ускорение</a:t>
            </a:r>
            <a:endParaRPr sz="95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83280" y="1947672"/>
            <a:ext cx="132588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919" b="1">
                <a:solidFill>
                  <a:srgbClr val="0F172A"/>
                </a:solidFill>
                <a:latin typeface="Calibri"/>
              </a:rPr>
              <a:t>1 поток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1947672"/>
            <a:ext cx="160020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919" b="0">
                <a:solidFill>
                  <a:srgbClr val="B91C1C"/>
                </a:solidFill>
                <a:latin typeface="Calibri"/>
              </a:rPr>
              <a:t>~29 000 мс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947672"/>
            <a:ext cx="160020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919" b="0">
                <a:solidFill>
                  <a:srgbClr val="047857"/>
                </a:solidFill>
                <a:latin typeface="Calibri"/>
              </a:rPr>
              <a:t>2 726 мс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1947672"/>
            <a:ext cx="224028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919" b="1" dirty="0">
                <a:solidFill>
                  <a:srgbClr val="111827"/>
                </a:solidFill>
                <a:latin typeface="Calibri"/>
              </a:rPr>
              <a:t>1</a:t>
            </a:r>
            <a:r>
              <a:rPr lang="ru-RU" sz="919" b="1" dirty="0">
                <a:solidFill>
                  <a:srgbClr val="111827"/>
                </a:solidFill>
                <a:latin typeface="Calibri"/>
              </a:rPr>
              <a:t>0</a:t>
            </a:r>
            <a:r>
              <a:rPr sz="919" b="1" dirty="0">
                <a:solidFill>
                  <a:srgbClr val="111827"/>
                </a:solidFill>
                <a:latin typeface="Calibri"/>
              </a:rPr>
              <a:t>,</a:t>
            </a:r>
            <a:r>
              <a:rPr lang="ru-RU" sz="919" b="1" dirty="0">
                <a:solidFill>
                  <a:srgbClr val="111827"/>
                </a:solidFill>
                <a:latin typeface="Calibri"/>
              </a:rPr>
              <a:t>6</a:t>
            </a:r>
            <a:r>
              <a:rPr sz="919" b="1" dirty="0">
                <a:solidFill>
                  <a:srgbClr val="111827"/>
                </a:solidFill>
                <a:latin typeface="Calibri"/>
              </a:rPr>
              <a:t>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2368296"/>
            <a:ext cx="1325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919" b="1">
                <a:solidFill>
                  <a:srgbClr val="0F172A"/>
                </a:solidFill>
                <a:latin typeface="Calibri"/>
              </a:rPr>
              <a:t>2 потока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368296"/>
            <a:ext cx="1600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919" b="0">
                <a:solidFill>
                  <a:srgbClr val="B91C1C"/>
                </a:solidFill>
                <a:latin typeface="Calibri"/>
              </a:rPr>
              <a:t>~20 500 мс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368296"/>
            <a:ext cx="1600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919" b="0">
                <a:solidFill>
                  <a:srgbClr val="047857"/>
                </a:solidFill>
                <a:latin typeface="Calibri"/>
              </a:rPr>
              <a:t>1 325 мс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60" y="2368296"/>
            <a:ext cx="22402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lang="ru-RU" sz="919" b="1">
                <a:solidFill>
                  <a:srgbClr val="111827"/>
                </a:solidFill>
                <a:latin typeface="Calibri"/>
              </a:rPr>
              <a:t>15</a:t>
            </a:r>
            <a:r>
              <a:rPr sz="919" b="1" dirty="0">
                <a:solidFill>
                  <a:srgbClr val="111827"/>
                </a:solidFill>
                <a:latin typeface="Calibri"/>
              </a:rPr>
              <a:t>,</a:t>
            </a:r>
            <a:r>
              <a:rPr lang="ru-RU" sz="919" b="1" dirty="0">
                <a:solidFill>
                  <a:srgbClr val="111827"/>
                </a:solidFill>
                <a:latin typeface="Calibri"/>
              </a:rPr>
              <a:t>5</a:t>
            </a:r>
            <a:r>
              <a:rPr sz="919" b="1" dirty="0">
                <a:solidFill>
                  <a:srgbClr val="111827"/>
                </a:solidFill>
                <a:latin typeface="Calibri"/>
              </a:rPr>
              <a:t>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2788920"/>
            <a:ext cx="132588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919" b="1">
                <a:solidFill>
                  <a:srgbClr val="0F172A"/>
                </a:solidFill>
                <a:latin typeface="Calibri"/>
              </a:rPr>
              <a:t>5 потоков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2788920"/>
            <a:ext cx="160020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919" b="0" dirty="0">
                <a:solidFill>
                  <a:srgbClr val="B91C1C"/>
                </a:solidFill>
                <a:latin typeface="Calibri"/>
              </a:rPr>
              <a:t>~29</a:t>
            </a:r>
            <a:r>
              <a:rPr lang="ru-RU" sz="919" b="0">
                <a:solidFill>
                  <a:srgbClr val="B91C1C"/>
                </a:solidFill>
                <a:latin typeface="Calibri"/>
              </a:rPr>
              <a:t> 000</a:t>
            </a:r>
            <a:r>
              <a:rPr sz="919" b="0" dirty="0">
                <a:solidFill>
                  <a:srgbClr val="B91C1C"/>
                </a:solidFill>
                <a:latin typeface="Calibri"/>
              </a:rPr>
              <a:t> </a:t>
            </a:r>
            <a:r>
              <a:rPr sz="919" b="0" dirty="0" err="1">
                <a:solidFill>
                  <a:srgbClr val="B91C1C"/>
                </a:solidFill>
                <a:latin typeface="Calibri"/>
              </a:rPr>
              <a:t>мс</a:t>
            </a:r>
            <a:endParaRPr sz="919" b="0" dirty="0">
              <a:solidFill>
                <a:srgbClr val="B91C1C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309360" y="2788920"/>
            <a:ext cx="160020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919" b="0">
                <a:solidFill>
                  <a:srgbClr val="047857"/>
                </a:solidFill>
                <a:latin typeface="Calibri"/>
              </a:rPr>
              <a:t>857 мс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9560" y="2788920"/>
            <a:ext cx="224028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lang="ru-RU" sz="919" b="1" dirty="0">
                <a:solidFill>
                  <a:srgbClr val="111827"/>
                </a:solidFill>
                <a:latin typeface="Calibri"/>
              </a:rPr>
              <a:t>3</a:t>
            </a:r>
            <a:r>
              <a:rPr sz="919" b="1" dirty="0">
                <a:solidFill>
                  <a:srgbClr val="111827"/>
                </a:solidFill>
                <a:latin typeface="Calibri"/>
              </a:rPr>
              <a:t>3,</a:t>
            </a:r>
            <a:r>
              <a:rPr lang="ru-RU" sz="919" b="1" dirty="0">
                <a:solidFill>
                  <a:srgbClr val="111827"/>
                </a:solidFill>
                <a:latin typeface="Calibri"/>
              </a:rPr>
              <a:t>9</a:t>
            </a:r>
            <a:r>
              <a:rPr sz="919" b="1" dirty="0">
                <a:solidFill>
                  <a:srgbClr val="111827"/>
                </a:solidFill>
                <a:latin typeface="Calibri"/>
              </a:rPr>
              <a:t>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3209544"/>
            <a:ext cx="1325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919" b="1">
                <a:solidFill>
                  <a:srgbClr val="0F172A"/>
                </a:solidFill>
                <a:latin typeface="Calibri"/>
              </a:rPr>
              <a:t>15 потоков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09160" y="3209544"/>
            <a:ext cx="1600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919" b="0">
                <a:solidFill>
                  <a:srgbClr val="B91C1C"/>
                </a:solidFill>
                <a:latin typeface="Calibri"/>
              </a:rPr>
              <a:t>~60 800 мс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209544"/>
            <a:ext cx="1600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919" b="0" dirty="0">
                <a:solidFill>
                  <a:srgbClr val="047857"/>
                </a:solidFill>
                <a:latin typeface="Calibri"/>
              </a:rPr>
              <a:t>651 </a:t>
            </a:r>
            <a:r>
              <a:rPr sz="919" b="0" dirty="0" err="1">
                <a:solidFill>
                  <a:srgbClr val="047857"/>
                </a:solidFill>
                <a:latin typeface="Calibri"/>
              </a:rPr>
              <a:t>мс</a:t>
            </a:r>
            <a:endParaRPr sz="919" b="0" dirty="0">
              <a:solidFill>
                <a:srgbClr val="047857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909560" y="3209544"/>
            <a:ext cx="22402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lang="ru-RU" sz="919" b="1" dirty="0">
                <a:solidFill>
                  <a:srgbClr val="111827"/>
                </a:solidFill>
                <a:latin typeface="Calibri"/>
              </a:rPr>
              <a:t>93</a:t>
            </a:r>
            <a:r>
              <a:rPr sz="919" b="1" dirty="0">
                <a:solidFill>
                  <a:srgbClr val="111827"/>
                </a:solidFill>
                <a:latin typeface="Calibri"/>
              </a:rPr>
              <a:t>,</a:t>
            </a:r>
            <a:r>
              <a:rPr lang="ru-RU" sz="919" b="1" dirty="0">
                <a:solidFill>
                  <a:srgbClr val="111827"/>
                </a:solidFill>
                <a:latin typeface="Calibri"/>
              </a:rPr>
              <a:t>4</a:t>
            </a:r>
            <a:r>
              <a:rPr sz="919" b="1" dirty="0">
                <a:solidFill>
                  <a:srgbClr val="111827"/>
                </a:solidFill>
                <a:latin typeface="Calibri"/>
              </a:rPr>
              <a:t>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069080"/>
            <a:ext cx="2743200" cy="20116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  <a:latin typeface="Calibri"/>
              </a:rPr>
              <a:t>Время выполнения, мс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398264"/>
            <a:ext cx="731520" cy="16459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l"/>
            <a:r>
              <a:rPr sz="730" b="0">
                <a:solidFill>
                  <a:srgbClr val="0F172A"/>
                </a:solidFill>
                <a:latin typeface="Calibri"/>
              </a:rPr>
              <a:t>1 поток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4443984"/>
            <a:ext cx="2093494" cy="9144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160520" y="4562856"/>
            <a:ext cx="196788" cy="914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83280" y="4700016"/>
            <a:ext cx="731520" cy="16459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l"/>
            <a:r>
              <a:rPr sz="730" b="0">
                <a:solidFill>
                  <a:srgbClr val="0F172A"/>
                </a:solidFill>
                <a:latin typeface="Calibri"/>
              </a:rPr>
              <a:t>2 потока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60520" y="4745736"/>
            <a:ext cx="1479884" cy="9144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160520" y="4864608"/>
            <a:ext cx="95651" cy="914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83280" y="5001768"/>
            <a:ext cx="731520" cy="16459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l"/>
            <a:r>
              <a:rPr sz="730" b="0">
                <a:solidFill>
                  <a:srgbClr val="0F172A"/>
                </a:solidFill>
                <a:latin typeface="Calibri"/>
              </a:rPr>
              <a:t>5 потоков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60520" y="5047488"/>
            <a:ext cx="2057400" cy="9144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160520" y="5166360"/>
            <a:ext cx="61866" cy="914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383280" y="5303520"/>
            <a:ext cx="731520" cy="16459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l"/>
            <a:r>
              <a:rPr sz="730" b="0">
                <a:solidFill>
                  <a:srgbClr val="0F172A"/>
                </a:solidFill>
                <a:latin typeface="Calibri"/>
              </a:rPr>
              <a:t>15 потоков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60520" y="5349240"/>
            <a:ext cx="4389120" cy="9144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160520" y="5468112"/>
            <a:ext cx="54864" cy="914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383280" y="5650992"/>
            <a:ext cx="164592" cy="9144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584448" y="5605272"/>
            <a:ext cx="1097280" cy="16459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l"/>
            <a:r>
              <a:rPr sz="730" b="0">
                <a:solidFill>
                  <a:srgbClr val="475569"/>
                </a:solidFill>
                <a:latin typeface="Calibri"/>
              </a:rPr>
              <a:t>до оптимизации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5650992"/>
            <a:ext cx="164592" cy="914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56048" y="5605272"/>
            <a:ext cx="1280160" cy="16459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l"/>
            <a:r>
              <a:rPr sz="730" b="0">
                <a:solidFill>
                  <a:srgbClr val="475569"/>
                </a:solidFill>
                <a:latin typeface="Calibri"/>
              </a:rPr>
              <a:t>после оптимизации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46950" y="5857240"/>
            <a:ext cx="3595370" cy="310896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910" b="1" dirty="0" err="1">
                <a:solidFill>
                  <a:srgbClr val="111827"/>
                </a:solidFill>
                <a:latin typeface="Calibri"/>
              </a:rPr>
              <a:t>Итог</a:t>
            </a:r>
            <a:r>
              <a:rPr sz="910" b="1" dirty="0">
                <a:solidFill>
                  <a:srgbClr val="111827"/>
                </a:solidFill>
                <a:latin typeface="Calibri"/>
              </a:rPr>
              <a:t>: </a:t>
            </a:r>
            <a:r>
              <a:rPr lang="ru-RU" sz="910" b="1" dirty="0">
                <a:solidFill>
                  <a:srgbClr val="111827"/>
                </a:solidFill>
                <a:latin typeface="Calibri"/>
              </a:rPr>
              <a:t>чем больше используется рабочих потоков в параллельном вычислении, тем лучше работает оптимизация</a:t>
            </a:r>
            <a:endParaRPr sz="910" b="1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 cap="flat" cmpd="sng">
            <a:solidFill>
              <a:srgbClr val="F9FA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91B1B"/>
          </a:solidFill>
          <a:ln w="12700" cap="flat" cmpd="sng">
            <a:solidFill>
              <a:srgbClr val="991B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Многопоточность и оптимизация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530352" y="841248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Замеры производительности после исключения БД из внутреннего цикла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658368" y="117043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150 000 симуляций, 5 ходов, сохранение в БД отключено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749808" y="171907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1 поток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1965960" y="1719072"/>
            <a:ext cx="5764469" cy="292608"/>
          </a:xfrm>
          <a:prstGeom prst="rect">
            <a:avLst/>
          </a:prstGeom>
          <a:solidFill>
            <a:srgbClr val="6B7280"/>
          </a:solidFill>
          <a:ln w="12700" cap="flat" cmpd="sng">
            <a:solidFill>
              <a:srgbClr val="6B72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8183880" y="170078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22.924 c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9464040" y="1700784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047857"/>
                </a:solidFill>
                <a:latin typeface="Calibri"/>
                <a:ea typeface="Calibri"/>
                <a:cs typeface="Calibri"/>
                <a:sym typeface="Calibri"/>
              </a:rPr>
              <a:t>1.00×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749808" y="246888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2 потока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1965960" y="2468880"/>
            <a:ext cx="3359254" cy="292608"/>
          </a:xfrm>
          <a:prstGeom prst="rect">
            <a:avLst/>
          </a:prstGeom>
          <a:solidFill>
            <a:srgbClr val="991B1B"/>
          </a:solidFill>
          <a:ln w="12700" cap="flat" cmpd="sng">
            <a:solidFill>
              <a:srgbClr val="991B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8183880" y="245059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13.359 c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9464040" y="2450592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047857"/>
                </a:solidFill>
                <a:latin typeface="Calibri"/>
                <a:ea typeface="Calibri"/>
                <a:cs typeface="Calibri"/>
                <a:sym typeface="Calibri"/>
              </a:rPr>
              <a:t>1.72×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749808" y="3218688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5 потоков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1965960" y="3218688"/>
            <a:ext cx="2269678" cy="292608"/>
          </a:xfrm>
          <a:prstGeom prst="rect">
            <a:avLst/>
          </a:prstGeom>
          <a:solidFill>
            <a:srgbClr val="991B1B"/>
          </a:solidFill>
          <a:ln w="12700" cap="flat" cmpd="sng">
            <a:solidFill>
              <a:srgbClr val="991B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8183880" y="32004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9.026 c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9464040" y="320040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047857"/>
                </a:solidFill>
                <a:latin typeface="Calibri"/>
                <a:ea typeface="Calibri"/>
                <a:cs typeface="Calibri"/>
                <a:sym typeface="Calibri"/>
              </a:rPr>
              <a:t>2.54×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749808" y="3968496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15 потоков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1965960" y="3968496"/>
            <a:ext cx="1838173" cy="292608"/>
          </a:xfrm>
          <a:prstGeom prst="rect">
            <a:avLst/>
          </a:prstGeom>
          <a:solidFill>
            <a:srgbClr val="991B1B"/>
          </a:solidFill>
          <a:ln w="12700" cap="flat" cmpd="sng">
            <a:solidFill>
              <a:srgbClr val="991B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1"/>
          <p:cNvSpPr/>
          <p:nvPr/>
        </p:nvSpPr>
        <p:spPr>
          <a:xfrm>
            <a:off x="8183880" y="395020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7.310 c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9464040" y="3950208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047857"/>
                </a:solidFill>
                <a:latin typeface="Calibri"/>
                <a:ea typeface="Calibri"/>
                <a:cs typeface="Calibri"/>
                <a:sym typeface="Calibri"/>
              </a:rPr>
              <a:t>3.14×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713232" y="4892040"/>
            <a:ext cx="5074920" cy="777240"/>
          </a:xfrm>
          <a:prstGeom prst="roundRect">
            <a:avLst>
              <a:gd name="adj" fmla="val 7059"/>
            </a:avLst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1"/>
          <p:cNvSpPr/>
          <p:nvPr/>
        </p:nvSpPr>
        <p:spPr>
          <a:xfrm>
            <a:off x="960120" y="512064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700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Результат: 15 </a:t>
            </a:r>
            <a:r>
              <a:rPr lang="en-US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рабочих потоков</a:t>
            </a:r>
            <a:r>
              <a:rPr lang="en-US" sz="14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сократили время с 22,9 с до 7,3 с — ускорение ≈ 3,14×.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6172200" y="4892040"/>
            <a:ext cx="5166360" cy="777240"/>
          </a:xfrm>
          <a:prstGeom prst="roundRect">
            <a:avLst>
              <a:gd name="adj" fmla="val 7059"/>
            </a:avLst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1"/>
          <p:cNvSpPr/>
          <p:nvPr/>
        </p:nvSpPr>
        <p:spPr>
          <a:xfrm>
            <a:off x="6446520" y="512064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700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До оптимизации 15 потоков работали медленнее из-за повторных запросов к SQLite.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2" tIns="0" rIns="27432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>
                <a:solidFill>
                  <a:srgbClr val="475569"/>
                </a:solidFill>
                <a:latin typeface="Calibri"/>
              </a:rPr>
              <a:t>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 cap="flat" cmpd="sng">
            <a:solidFill>
              <a:srgbClr val="F9FA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91B1B"/>
          </a:solidFill>
          <a:ln w="12700" cap="flat" cmpd="sng">
            <a:solidFill>
              <a:srgbClr val="991B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Демонстрация: web-клиент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530352" y="841248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Razor Pages: администрирование, запуск расчётов и просмотр результатов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731520" y="1417320"/>
            <a:ext cx="48920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2"/>
          <p:cNvSpPr/>
          <p:nvPr/>
        </p:nvSpPr>
        <p:spPr>
          <a:xfrm>
            <a:off x="987552" y="1618488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2"/>
          <p:cNvSpPr/>
          <p:nvPr/>
        </p:nvSpPr>
        <p:spPr>
          <a:xfrm>
            <a:off x="1060704" y="1677924"/>
            <a:ext cx="159105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Авторизация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987552" y="2112264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50"/>
              <a:buFont typeface="Calibri"/>
              <a:buNone/>
            </a:pPr>
            <a:r>
              <a:rPr lang="en-US" sz="15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вход, регистрация, роли Admin/User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6263640" y="1417320"/>
            <a:ext cx="48920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2"/>
          <p:cNvSpPr/>
          <p:nvPr/>
        </p:nvSpPr>
        <p:spPr>
          <a:xfrm>
            <a:off x="6519672" y="1618488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2"/>
          <p:cNvSpPr/>
          <p:nvPr/>
        </p:nvSpPr>
        <p:spPr>
          <a:xfrm>
            <a:off x="6592824" y="1677924"/>
            <a:ext cx="159105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Админка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6519672" y="2112264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50"/>
              <a:buFont typeface="Calibri"/>
              <a:buNone/>
            </a:pPr>
            <a:r>
              <a:rPr lang="en-US" sz="15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CRUD оружия, правил, варгира, моделей, юнитов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731520" y="3383280"/>
            <a:ext cx="48920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2"/>
          <p:cNvSpPr/>
          <p:nvPr/>
        </p:nvSpPr>
        <p:spPr>
          <a:xfrm>
            <a:off x="987552" y="3584448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1060704" y="3643884"/>
            <a:ext cx="159105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Симуляции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987552" y="4078224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50"/>
              <a:buFont typeface="Calibri"/>
              <a:buNone/>
            </a:pPr>
            <a:r>
              <a:rPr lang="en-US" sz="15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выбор юнитов, потоков, количества расчётов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6263640" y="3383280"/>
            <a:ext cx="48920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6519672" y="3584448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2"/>
          <p:cNvSpPr/>
          <p:nvPr/>
        </p:nvSpPr>
        <p:spPr>
          <a:xfrm>
            <a:off x="6592824" y="3643884"/>
            <a:ext cx="159105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Результаты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6519672" y="4078224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50"/>
              <a:buFont typeface="Calibri"/>
              <a:buNone/>
            </a:pPr>
            <a:r>
              <a:rPr lang="en-US" sz="15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сохранение, список запусков, детализация по ходам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2" tIns="0" rIns="27432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>
                <a:solidFill>
                  <a:srgbClr val="475569"/>
                </a:solidFill>
                <a:latin typeface="Calibri"/>
              </a:rPr>
              <a:t>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 cap="flat" cmpd="sng">
            <a:solidFill>
              <a:srgbClr val="F9FA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91B1B"/>
          </a:solidFill>
          <a:ln w="12700" cap="flat" cmpd="sng">
            <a:solidFill>
              <a:srgbClr val="991B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3"/>
          <p:cNvSpPr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Демонстрация: WPF-клиент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530352" y="841248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Desktop-клиент использует тот же серверный API и JWT-авторизацию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4069080" y="3986784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Запустить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6629400" y="1508760"/>
            <a:ext cx="457200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авторизация через JWT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получение списка юнитов через API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запуск одно- и многопоточного режима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вывод агрегированной статистики по ходам и оружию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6629400" y="3044952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6739128" y="3145536"/>
            <a:ext cx="43525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850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Calibri"/>
              <a:buNone/>
            </a:pPr>
            <a:r>
              <a:rPr lang="en-US" sz="1350" b="1" i="0" u="none" strike="noStrike" cap="none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WPF-</a:t>
            </a:r>
            <a:r>
              <a:rPr lang="en-US" sz="1350" b="1" i="0" u="none" strike="noStrike" cap="none" dirty="0" err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клиент</a:t>
            </a:r>
            <a:r>
              <a:rPr lang="en-US" sz="1350" b="1" i="0" u="none" strike="noStrike" cap="none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не </a:t>
            </a:r>
            <a:r>
              <a:rPr lang="en-US" sz="1350" b="1" i="0" u="none" strike="noStrike" cap="none" dirty="0" err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дублирует</a:t>
            </a:r>
            <a:r>
              <a:rPr lang="en-US" sz="1350" b="1" i="0" u="none" strike="noStrike" cap="none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1" i="0" u="none" strike="noStrike" cap="none" dirty="0" err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админку</a:t>
            </a:r>
            <a:r>
              <a:rPr lang="en-US" sz="1350" b="1" i="0" u="none" strike="noStrike" cap="none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350" b="1" i="0" u="none" strike="noStrike" cap="none" dirty="0" err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он</a:t>
            </a:r>
            <a:r>
              <a:rPr lang="en-US" sz="1350" b="1" i="0" u="none" strike="noStrike" cap="none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1" i="0" u="none" strike="noStrike" cap="none" dirty="0" err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решает</a:t>
            </a:r>
            <a:r>
              <a:rPr lang="en-US" sz="1350" b="1" i="0" u="none" strike="noStrike" cap="none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1" i="0" u="none" strike="noStrike" cap="none" dirty="0" err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пользовательскую</a:t>
            </a:r>
            <a:r>
              <a:rPr lang="en-US" sz="1350" b="1" i="0" u="none" strike="noStrike" cap="none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1" i="0" u="none" strike="noStrike" cap="none" dirty="0" err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задачу</a:t>
            </a:r>
            <a:r>
              <a:rPr lang="en-US" sz="1350" b="1" i="0" u="none" strike="noStrike" cap="none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1" i="0" u="none" strike="noStrike" cap="none" dirty="0" err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запуска</a:t>
            </a:r>
            <a:r>
              <a:rPr lang="en-US" sz="1350" b="1" i="0" u="none" strike="noStrike" cap="none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1" i="0" u="none" strike="noStrike" cap="none" dirty="0" err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расчётов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2" tIns="0" rIns="27432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>
                <a:solidFill>
                  <a:srgbClr val="475569"/>
                </a:solidFill>
                <a:latin typeface="Calibri"/>
              </a:rPr>
              <a:t>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8" name="Google Shape;39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100" y="1572768"/>
            <a:ext cx="5935950" cy="36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 cap="flat" cmpd="sng">
            <a:solidFill>
              <a:srgbClr val="F9FA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91B1B"/>
          </a:solidFill>
          <a:ln w="12700" cap="flat" cmpd="sng">
            <a:solidFill>
              <a:srgbClr val="991B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4"/>
          <p:cNvSpPr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Авторизация и разграничение доступа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530352" y="841248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Один сервер обслуживает web и desktop-клиенты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9" name="Google Shape;409;p14"/>
          <p:cNvCxnSpPr/>
          <p:nvPr/>
        </p:nvCxnSpPr>
        <p:spPr>
          <a:xfrm>
            <a:off x="2834640" y="1828800"/>
            <a:ext cx="1325880" cy="0"/>
          </a:xfrm>
          <a:prstGeom prst="straightConnector1">
            <a:avLst/>
          </a:prstGeom>
          <a:noFill/>
          <a:ln w="15225" cap="flat" cmpd="sng">
            <a:solidFill>
              <a:srgbClr val="6B728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10" name="Google Shape;410;p14"/>
          <p:cNvCxnSpPr/>
          <p:nvPr/>
        </p:nvCxnSpPr>
        <p:spPr>
          <a:xfrm>
            <a:off x="6400800" y="1828800"/>
            <a:ext cx="1280160" cy="0"/>
          </a:xfrm>
          <a:prstGeom prst="straightConnector1">
            <a:avLst/>
          </a:prstGeom>
          <a:noFill/>
          <a:ln w="15225" cap="flat" cmpd="sng">
            <a:solidFill>
              <a:srgbClr val="6B728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11" name="Google Shape;411;p14"/>
          <p:cNvCxnSpPr/>
          <p:nvPr/>
        </p:nvCxnSpPr>
        <p:spPr>
          <a:xfrm>
            <a:off x="2834640" y="3931920"/>
            <a:ext cx="1325880" cy="0"/>
          </a:xfrm>
          <a:prstGeom prst="straightConnector1">
            <a:avLst/>
          </a:prstGeom>
          <a:noFill/>
          <a:ln w="15225" cap="flat" cmpd="sng">
            <a:solidFill>
              <a:srgbClr val="6B728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12" name="Google Shape;412;p14"/>
          <p:cNvCxnSpPr/>
          <p:nvPr/>
        </p:nvCxnSpPr>
        <p:spPr>
          <a:xfrm>
            <a:off x="6400800" y="3931920"/>
            <a:ext cx="1280160" cy="0"/>
          </a:xfrm>
          <a:prstGeom prst="straightConnector1">
            <a:avLst/>
          </a:prstGeom>
          <a:noFill/>
          <a:ln w="15225" cap="flat" cmpd="sng">
            <a:solidFill>
              <a:srgbClr val="6B728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13" name="Google Shape;413;p14"/>
          <p:cNvSpPr/>
          <p:nvPr/>
        </p:nvSpPr>
        <p:spPr>
          <a:xfrm>
            <a:off x="685800" y="1463040"/>
            <a:ext cx="2148840" cy="73152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4"/>
          <p:cNvSpPr/>
          <p:nvPr/>
        </p:nvSpPr>
        <p:spPr>
          <a:xfrm>
            <a:off x="740664" y="1517904"/>
            <a:ext cx="203911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Razor Pages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Cookie Auth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4160520" y="1417320"/>
            <a:ext cx="2240280" cy="82296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4"/>
          <p:cNvSpPr/>
          <p:nvPr/>
        </p:nvSpPr>
        <p:spPr>
          <a:xfrm>
            <a:off x="4215384" y="1472184"/>
            <a:ext cx="213055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Identity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UserManager / Roles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7680960" y="1463040"/>
            <a:ext cx="2331720" cy="731520"/>
          </a:xfrm>
          <a:prstGeom prst="roundRect">
            <a:avLst>
              <a:gd name="adj" fmla="val 7500"/>
            </a:avLst>
          </a:prstGeom>
          <a:solidFill>
            <a:srgbClr val="D1FAE5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4"/>
          <p:cNvSpPr/>
          <p:nvPr/>
        </p:nvSpPr>
        <p:spPr>
          <a:xfrm>
            <a:off x="7735824" y="1517904"/>
            <a:ext cx="22219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CRUD БД + симуляции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685800" y="3566160"/>
            <a:ext cx="2148840" cy="731520"/>
          </a:xfrm>
          <a:prstGeom prst="roundRect">
            <a:avLst>
              <a:gd name="adj" fmla="val 7500"/>
            </a:avLst>
          </a:prstGeom>
          <a:solidFill>
            <a:srgbClr val="FEF3C7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4"/>
          <p:cNvSpPr/>
          <p:nvPr/>
        </p:nvSpPr>
        <p:spPr>
          <a:xfrm>
            <a:off x="740664" y="3621024"/>
            <a:ext cx="203911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WPF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JWT Bearer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4160520" y="3520440"/>
            <a:ext cx="2240280" cy="822960"/>
          </a:xfrm>
          <a:prstGeom prst="roundRect">
            <a:avLst>
              <a:gd name="adj" fmla="val 6667"/>
            </a:avLst>
          </a:prstGeom>
          <a:solidFill>
            <a:srgbClr val="EDE9FE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4"/>
          <p:cNvSpPr/>
          <p:nvPr/>
        </p:nvSpPr>
        <p:spPr>
          <a:xfrm>
            <a:off x="4215384" y="3575304"/>
            <a:ext cx="213055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AuthController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login / me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7680960" y="3566160"/>
            <a:ext cx="2331720" cy="731520"/>
          </a:xfrm>
          <a:prstGeom prst="roundRect">
            <a:avLst>
              <a:gd name="adj" fmla="val 7500"/>
            </a:avLst>
          </a:prstGeom>
          <a:solidFill>
            <a:srgbClr val="D1FAE5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4"/>
          <p:cNvSpPr/>
          <p:nvPr/>
        </p:nvSpPr>
        <p:spPr>
          <a:xfrm>
            <a:off x="7735824" y="3621024"/>
            <a:ext cx="22219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запуск симуляций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1097280" y="5166360"/>
            <a:ext cx="9601200" cy="502920"/>
          </a:xfrm>
          <a:prstGeom prst="roundRect">
            <a:avLst>
              <a:gd name="adj" fmla="val 10909"/>
            </a:avLst>
          </a:prstGeom>
          <a:solidFill>
            <a:srgbClr val="F3F4F6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4"/>
          <p:cNvSpPr/>
          <p:nvPr/>
        </p:nvSpPr>
        <p:spPr>
          <a:xfrm>
            <a:off x="1325880" y="5321808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50"/>
              <a:buFont typeface="Calibri"/>
              <a:buNone/>
            </a:pPr>
            <a:r>
              <a:rPr lang="en-US" sz="145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Роли</a:t>
            </a:r>
            <a:r>
              <a:rPr lang="en-US" sz="145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: Admin </a:t>
            </a:r>
            <a:r>
              <a:rPr lang="en-US" sz="145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управляет</a:t>
            </a:r>
            <a:r>
              <a:rPr lang="en-US" sz="145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5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справочниками</a:t>
            </a:r>
            <a:r>
              <a:rPr lang="en-US" sz="145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; User </a:t>
            </a:r>
            <a:r>
              <a:rPr lang="en-US" sz="145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запускает</a:t>
            </a:r>
            <a:r>
              <a:rPr lang="en-US" sz="145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5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симуляции</a:t>
            </a:r>
            <a:r>
              <a:rPr lang="en-US" sz="145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en-US" sz="145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смотрит</a:t>
            </a:r>
            <a:r>
              <a:rPr lang="en-US" sz="145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5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результаты</a:t>
            </a:r>
            <a:endParaRPr sz="14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2" tIns="0" rIns="27432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>
                <a:solidFill>
                  <a:srgbClr val="475569"/>
                </a:solidFill>
                <a:latin typeface="Calibri"/>
              </a:rPr>
              <a:t>15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 cap="flat" cmpd="sng">
            <a:solidFill>
              <a:srgbClr val="F9FA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5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91B1B"/>
          </a:solidFill>
          <a:ln w="12700" cap="flat" cmpd="sng">
            <a:solidFill>
              <a:srgbClr val="991B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5"/>
          <p:cNvSpPr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Итоги реализации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530352" y="841248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Что уже готово в MVP системы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822960" y="1325880"/>
            <a:ext cx="4892040" cy="475488"/>
          </a:xfrm>
          <a:prstGeom prst="roundRect">
            <a:avLst>
              <a:gd name="adj" fmla="val 15385"/>
            </a:avLst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5"/>
          <p:cNvSpPr/>
          <p:nvPr/>
        </p:nvSpPr>
        <p:spPr>
          <a:xfrm>
            <a:off x="932688" y="1426464"/>
            <a:ext cx="46725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сервер ASP.NET Core Web API и Razor Pages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6263640" y="1325880"/>
            <a:ext cx="4892040" cy="475488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5"/>
          <p:cNvSpPr/>
          <p:nvPr/>
        </p:nvSpPr>
        <p:spPr>
          <a:xfrm>
            <a:off x="6373368" y="1426464"/>
            <a:ext cx="46725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БД игровых сущностей через EF Core и SQLite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822960" y="2313432"/>
            <a:ext cx="4892040" cy="475488"/>
          </a:xfrm>
          <a:prstGeom prst="roundRect">
            <a:avLst>
              <a:gd name="adj" fmla="val 15385"/>
            </a:avLst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5"/>
          <p:cNvSpPr/>
          <p:nvPr/>
        </p:nvSpPr>
        <p:spPr>
          <a:xfrm>
            <a:off x="932688" y="2414016"/>
            <a:ext cx="46725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админский CRUD основных сущностей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6263640" y="2313432"/>
            <a:ext cx="4892040" cy="475488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5"/>
          <p:cNvSpPr/>
          <p:nvPr/>
        </p:nvSpPr>
        <p:spPr>
          <a:xfrm>
            <a:off x="6373368" y="2414016"/>
            <a:ext cx="46725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Identity, роли, JWT для desktop-клиента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822960" y="3300984"/>
            <a:ext cx="4892040" cy="475488"/>
          </a:xfrm>
          <a:prstGeom prst="roundRect">
            <a:avLst>
              <a:gd name="adj" fmla="val 15385"/>
            </a:avLst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5"/>
          <p:cNvSpPr/>
          <p:nvPr/>
        </p:nvSpPr>
        <p:spPr>
          <a:xfrm>
            <a:off x="932688" y="3401568"/>
            <a:ext cx="46725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Calibri"/>
              <a:buNone/>
            </a:pPr>
            <a:r>
              <a:rPr lang="en-US" sz="1350" b="1" i="0" u="none" strike="noStrike" cap="none" dirty="0" err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симуляционное</a:t>
            </a:r>
            <a:r>
              <a:rPr lang="en-US" sz="1350" b="1" i="0" u="none" strike="noStrike" cap="none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1" i="0" u="none" strike="noStrike" cap="none" dirty="0" err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ядро</a:t>
            </a:r>
            <a:r>
              <a:rPr lang="en-US" sz="1350" b="1" i="0" u="none" strike="noStrike" cap="none" dirty="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hit, wound, save, damage allocation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5"/>
          <p:cNvSpPr/>
          <p:nvPr/>
        </p:nvSpPr>
        <p:spPr>
          <a:xfrm>
            <a:off x="6263640" y="3300984"/>
            <a:ext cx="4892040" cy="475488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5"/>
          <p:cNvSpPr/>
          <p:nvPr/>
        </p:nvSpPr>
        <p:spPr>
          <a:xfrm>
            <a:off x="6373368" y="3401568"/>
            <a:ext cx="46725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однопоточный и многопоточный batch-режимы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5"/>
          <p:cNvSpPr/>
          <p:nvPr/>
        </p:nvSpPr>
        <p:spPr>
          <a:xfrm>
            <a:off x="822960" y="4288536"/>
            <a:ext cx="4892040" cy="475488"/>
          </a:xfrm>
          <a:prstGeom prst="roundRect">
            <a:avLst>
              <a:gd name="adj" fmla="val 15385"/>
            </a:avLst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5"/>
          <p:cNvSpPr/>
          <p:nvPr/>
        </p:nvSpPr>
        <p:spPr>
          <a:xfrm>
            <a:off x="932688" y="4389120"/>
            <a:ext cx="46725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сохранение и просмотр агрегированных результатов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6263640" y="4288536"/>
            <a:ext cx="4892040" cy="475488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5"/>
          <p:cNvSpPr/>
          <p:nvPr/>
        </p:nvSpPr>
        <p:spPr>
          <a:xfrm>
            <a:off x="6373368" y="4389120"/>
            <a:ext cx="46725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WPF-клиент для запуска расчётов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2" tIns="0" rIns="27432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>
                <a:solidFill>
                  <a:srgbClr val="475569"/>
                </a:solidFill>
                <a:latin typeface="Calibri"/>
              </a:rPr>
              <a:t>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 cap="flat" cmpd="sng">
            <a:solidFill>
              <a:srgbClr val="F9FA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91B1B"/>
          </a:solidFill>
          <a:ln w="12700" cap="flat" cmpd="sng">
            <a:solidFill>
              <a:srgbClr val="991B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6"/>
          <p:cNvSpPr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Планы развития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6"/>
          <p:cNvSpPr/>
          <p:nvPr/>
        </p:nvSpPr>
        <p:spPr>
          <a:xfrm>
            <a:off x="530352" y="841248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Что можно расширить после предзащиты и перед основной защитой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6"/>
          <p:cNvSpPr/>
          <p:nvPr/>
        </p:nvSpPr>
        <p:spPr>
          <a:xfrm>
            <a:off x="822960" y="1234440"/>
            <a:ext cx="10515600" cy="603504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6"/>
          <p:cNvSpPr/>
          <p:nvPr/>
        </p:nvSpPr>
        <p:spPr>
          <a:xfrm>
            <a:off x="1051560" y="1380744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DE9FE"/>
          </a:solidFill>
          <a:ln w="12700" cap="flat" cmpd="sng">
            <a:solidFill>
              <a:srgbClr val="EDE9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6"/>
          <p:cNvSpPr/>
          <p:nvPr/>
        </p:nvSpPr>
        <p:spPr>
          <a:xfrm>
            <a:off x="1124712" y="1440180"/>
            <a:ext cx="195681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Настройки симуляции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6"/>
          <p:cNvSpPr/>
          <p:nvPr/>
        </p:nvSpPr>
        <p:spPr>
          <a:xfrm>
            <a:off x="3429000" y="1399032"/>
            <a:ext cx="75895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80"/>
              <a:buFont typeface="Calibri"/>
              <a:buNone/>
            </a:pPr>
            <a:r>
              <a:rPr lang="en-US" sz="138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+1 к BS/WS, AP, Save, </a:t>
            </a:r>
            <a:r>
              <a:rPr lang="en-US" sz="138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дистанция</a:t>
            </a:r>
            <a:r>
              <a:rPr lang="en-US" sz="138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ru-RU" sz="138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вступление</a:t>
            </a:r>
            <a:r>
              <a:rPr lang="en-US" sz="138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в </a:t>
            </a:r>
            <a:r>
              <a:rPr lang="en-US" sz="138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ближний</a:t>
            </a:r>
            <a:r>
              <a:rPr lang="en-US" sz="138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8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бой</a:t>
            </a:r>
            <a:endParaRPr sz="138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6"/>
          <p:cNvSpPr/>
          <p:nvPr/>
        </p:nvSpPr>
        <p:spPr>
          <a:xfrm>
            <a:off x="822960" y="2103120"/>
            <a:ext cx="105156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6"/>
          <p:cNvSpPr/>
          <p:nvPr/>
        </p:nvSpPr>
        <p:spPr>
          <a:xfrm>
            <a:off x="1051560" y="2249424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6"/>
          <p:cNvSpPr/>
          <p:nvPr/>
        </p:nvSpPr>
        <p:spPr>
          <a:xfrm>
            <a:off x="1124712" y="2308860"/>
            <a:ext cx="195681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Loadout редактор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3429000" y="2267712"/>
            <a:ext cx="75895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80"/>
              <a:buFont typeface="Calibri"/>
              <a:buNone/>
            </a:pPr>
            <a:r>
              <a:rPr lang="en-US" sz="138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фактическое</a:t>
            </a:r>
            <a:r>
              <a:rPr lang="en-US" sz="138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8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количество</a:t>
            </a:r>
            <a:r>
              <a:rPr lang="en-US" sz="138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8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моделей</a:t>
            </a:r>
            <a:r>
              <a:rPr lang="en-US" sz="138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en-US" sz="138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выбор</a:t>
            </a:r>
            <a:r>
              <a:rPr lang="en-US" sz="138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8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специального</a:t>
            </a:r>
            <a:r>
              <a:rPr lang="en-US" sz="138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8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оружия</a:t>
            </a:r>
            <a:endParaRPr sz="138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6"/>
          <p:cNvSpPr/>
          <p:nvPr/>
        </p:nvSpPr>
        <p:spPr>
          <a:xfrm>
            <a:off x="822960" y="2971800"/>
            <a:ext cx="10515600" cy="603504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6"/>
          <p:cNvSpPr/>
          <p:nvPr/>
        </p:nvSpPr>
        <p:spPr>
          <a:xfrm>
            <a:off x="1051560" y="3118104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DE9FE"/>
          </a:solidFill>
          <a:ln w="12700" cap="flat" cmpd="sng">
            <a:solidFill>
              <a:srgbClr val="EDE9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6"/>
          <p:cNvSpPr/>
          <p:nvPr/>
        </p:nvSpPr>
        <p:spPr>
          <a:xfrm>
            <a:off x="1124712" y="3177540"/>
            <a:ext cx="195681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Массовые запуски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6"/>
          <p:cNvSpPr/>
          <p:nvPr/>
        </p:nvSpPr>
        <p:spPr>
          <a:xfrm>
            <a:off x="3429000" y="3136392"/>
            <a:ext cx="75895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80"/>
              <a:buFont typeface="Calibri"/>
              <a:buNone/>
            </a:pPr>
            <a:r>
              <a:rPr lang="en-US" sz="138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сравнение</a:t>
            </a:r>
            <a:r>
              <a:rPr lang="en-US" sz="138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8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одного</a:t>
            </a:r>
            <a:r>
              <a:rPr lang="en-US" sz="138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8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юнита</a:t>
            </a:r>
            <a:r>
              <a:rPr lang="en-US" sz="138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8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со</a:t>
            </a:r>
            <a:r>
              <a:rPr lang="en-US" sz="138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8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всеми</a:t>
            </a:r>
            <a:r>
              <a:rPr lang="en-US" sz="138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8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юнитами</a:t>
            </a:r>
            <a:r>
              <a:rPr lang="en-US" sz="138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8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по</a:t>
            </a:r>
            <a:r>
              <a:rPr lang="en-US" sz="138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8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ключевым</a:t>
            </a:r>
            <a:r>
              <a:rPr lang="en-US" sz="138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8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словам</a:t>
            </a:r>
            <a:endParaRPr sz="138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6"/>
          <p:cNvSpPr/>
          <p:nvPr/>
        </p:nvSpPr>
        <p:spPr>
          <a:xfrm>
            <a:off x="822960" y="3840480"/>
            <a:ext cx="105156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6"/>
          <p:cNvSpPr/>
          <p:nvPr/>
        </p:nvSpPr>
        <p:spPr>
          <a:xfrm>
            <a:off x="1051560" y="3986784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6"/>
          <p:cNvSpPr/>
          <p:nvPr/>
        </p:nvSpPr>
        <p:spPr>
          <a:xfrm>
            <a:off x="1124712" y="4046220"/>
            <a:ext cx="195681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Расчёт до сходимости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6"/>
          <p:cNvSpPr/>
          <p:nvPr/>
        </p:nvSpPr>
        <p:spPr>
          <a:xfrm>
            <a:off x="3429000" y="4005072"/>
            <a:ext cx="75895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80"/>
              <a:buFont typeface="Calibri"/>
              <a:buNone/>
            </a:pPr>
            <a:r>
              <a:rPr lang="en-US" sz="138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остановка при стабилизации среднего результата</a:t>
            </a:r>
            <a:endParaRPr sz="13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6"/>
          <p:cNvSpPr/>
          <p:nvPr/>
        </p:nvSpPr>
        <p:spPr>
          <a:xfrm>
            <a:off x="822960" y="4709160"/>
            <a:ext cx="10515600" cy="603504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6"/>
          <p:cNvSpPr/>
          <p:nvPr/>
        </p:nvSpPr>
        <p:spPr>
          <a:xfrm>
            <a:off x="1051560" y="4855464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DE9FE"/>
          </a:solidFill>
          <a:ln w="12700" cap="flat" cmpd="sng">
            <a:solidFill>
              <a:srgbClr val="EDE9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6"/>
          <p:cNvSpPr/>
          <p:nvPr/>
        </p:nvSpPr>
        <p:spPr>
          <a:xfrm>
            <a:off x="1124712" y="4914900"/>
            <a:ext cx="195681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Визуализация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6"/>
          <p:cNvSpPr/>
          <p:nvPr/>
        </p:nvSpPr>
        <p:spPr>
          <a:xfrm>
            <a:off x="3429000" y="4873752"/>
            <a:ext cx="75895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80"/>
              <a:buFont typeface="Calibri"/>
              <a:buNone/>
            </a:pPr>
            <a:r>
              <a:rPr lang="en-US" sz="138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графики, экспорт отчёта, сравнение запусков</a:t>
            </a:r>
            <a:endParaRPr sz="13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6"/>
          <p:cNvSpPr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2" tIns="0" rIns="27432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sz="900" b="0">
                <a:solidFill>
                  <a:srgbClr val="475569"/>
                </a:solidFill>
                <a:latin typeface="Calibri"/>
              </a:rPr>
              <a:t>17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17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91B1B"/>
          </a:solidFill>
          <a:ln w="12700" cap="flat" cmpd="sng">
            <a:solidFill>
              <a:srgbClr val="991B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7"/>
          <p:cNvSpPr/>
          <p:nvPr/>
        </p:nvSpPr>
        <p:spPr>
          <a:xfrm>
            <a:off x="749808" y="109728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Контакты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7"/>
          <p:cNvSpPr/>
          <p:nvPr/>
        </p:nvSpPr>
        <p:spPr>
          <a:xfrm>
            <a:off x="786384" y="2011680"/>
            <a:ext cx="67665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2100"/>
              <a:buFont typeface="Calibri"/>
              <a:buNone/>
            </a:pPr>
            <a:r>
              <a:rPr lang="en-US" sz="2100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Большаков </a:t>
            </a:r>
            <a:r>
              <a:rPr lang="en-US" sz="2100" b="0" i="0" u="none" strike="noStrike" cap="non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Никита Андреевич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Email: bolnick09rus@gmail.com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GitHub: </a:t>
            </a:r>
            <a:r>
              <a:rPr lang="en-US" sz="2100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https://github.com/BolNick09/StatHammer.git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7"/>
          <p:cNvSpPr/>
          <p:nvPr/>
        </p:nvSpPr>
        <p:spPr>
          <a:xfrm>
            <a:off x="786384" y="530352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1182</Words>
  <Application>Microsoft Office PowerPoint</Application>
  <PresentationFormat>Широкоэкранный</PresentationFormat>
  <Paragraphs>313</Paragraphs>
  <Slides>18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StatHammer</dc:creator>
  <cp:lastModifiedBy>Nikita Bol</cp:lastModifiedBy>
  <cp:revision>17</cp:revision>
  <dcterms:created xsi:type="dcterms:W3CDTF">2026-06-15T18:18:18Z</dcterms:created>
  <dcterms:modified xsi:type="dcterms:W3CDTF">2026-07-02T10:30:20Z</dcterms:modified>
</cp:coreProperties>
</file>